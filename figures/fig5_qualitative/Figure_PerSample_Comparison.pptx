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image" Target="../media/image-2-23.png"/><Relationship Id="rId24" Type="http://schemas.openxmlformats.org/officeDocument/2006/relationships/image" Target="../media/image-2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image" Target="../media/image-4-22.png"/><Relationship Id="rId23" Type="http://schemas.openxmlformats.org/officeDocument/2006/relationships/image" Target="../media/image-4-23.png"/><Relationship Id="rId24" Type="http://schemas.openxmlformats.org/officeDocument/2006/relationships/image" Target="../media/image-4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image" Target="../media/image-5-21.png"/><Relationship Id="rId22" Type="http://schemas.openxmlformats.org/officeDocument/2006/relationships/image" Target="../media/image-5-22.png"/><Relationship Id="rId23" Type="http://schemas.openxmlformats.org/officeDocument/2006/relationships/image" Target="../media/image-5-23.png"/><Relationship Id="rId24" Type="http://schemas.openxmlformats.org/officeDocument/2006/relationships/image" Target="../media/image-5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731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Sample: 1-19-716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301752"/>
            <a:ext cx="1463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920240" y="301752"/>
            <a:ext cx="1463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Skel R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3474720" y="301752"/>
            <a:ext cx="1463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Skel B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5029200" y="301752"/>
            <a:ext cx="1463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R+B Combined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8288" y="969264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</a:t>
            </a:r>
            <a:endParaRPr lang="en-US" sz="600" dirty="0"/>
          </a:p>
        </p:txBody>
      </p:sp>
      <p:pic>
        <p:nvPicPr>
          <p:cNvPr id="8" name="Image 0" descr="C:\Users\seub1\Desktop\[Paper] Diffusion virtual staining paper\analysis_output\paper_panels_depth\per_sample\1-19-716_g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57200"/>
            <a:ext cx="1463040" cy="1207008"/>
          </a:xfrm>
          <a:prstGeom prst="rect">
            <a:avLst/>
          </a:prstGeom>
        </p:spPr>
      </p:pic>
      <p:pic>
        <p:nvPicPr>
          <p:cNvPr id="9" name="Image 1" descr="C:\Users\seub1\Desktop\[Paper] Diffusion virtual staining paper\analysis_output\paper_panels_depth\per_sample\1-19-716_gt_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457200"/>
            <a:ext cx="1463040" cy="1207008"/>
          </a:xfrm>
          <a:prstGeom prst="rect">
            <a:avLst/>
          </a:prstGeom>
        </p:spPr>
      </p:pic>
      <p:pic>
        <p:nvPicPr>
          <p:cNvPr id="10" name="Image 2" descr="C:\Users\seub1\Desktop\[Paper] Diffusion virtual staining paper\analysis_output\paper_panels_depth\per_sample\1-19-716_gt_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457200"/>
            <a:ext cx="1463040" cy="1207008"/>
          </a:xfrm>
          <a:prstGeom prst="rect">
            <a:avLst/>
          </a:prstGeom>
        </p:spPr>
      </p:pic>
      <p:pic>
        <p:nvPicPr>
          <p:cNvPr id="11" name="Image 3" descr="C:\Users\seub1\Desktop\[Paper] Diffusion virtual staining paper\analysis_output\paper_panels_depth\per_sample\1-19-716_gt_com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457200"/>
            <a:ext cx="1463040" cy="120700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510528" y="64008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R: JN=23 EP=17(+2c)</a:t>
            </a:r>
            <a:endParaRPr lang="en-US" sz="450" dirty="0"/>
          </a:p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B: JN=15 EP=11(+2c)</a:t>
            </a:r>
            <a:endParaRPr lang="en-US" sz="450" dirty="0"/>
          </a:p>
        </p:txBody>
      </p:sp>
      <p:sp>
        <p:nvSpPr>
          <p:cNvPr id="13" name="Text 7"/>
          <p:cNvSpPr/>
          <p:nvPr/>
        </p:nvSpPr>
        <p:spPr>
          <a:xfrm>
            <a:off x="18288" y="235915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PBBDM</a:t>
            </a:r>
            <a:endParaRPr lang="en-US" sz="600" dirty="0"/>
          </a:p>
        </p:txBody>
      </p:sp>
      <p:pic>
        <p:nvPicPr>
          <p:cNvPr id="14" name="Image 4" descr="C:\Users\seub1\Desktop\[Paper] Diffusion virtual staining paper\analysis_output\paper_panels_depth\per_sample\1-19-716_PBBD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1847088"/>
            <a:ext cx="1463040" cy="1207008"/>
          </a:xfrm>
          <a:prstGeom prst="rect">
            <a:avLst/>
          </a:prstGeom>
        </p:spPr>
      </p:pic>
      <p:pic>
        <p:nvPicPr>
          <p:cNvPr id="15" name="Image 5" descr="C:\Users\seub1\Desktop\[Paper] Diffusion virtual staining paper\analysis_output\paper_panels_depth\per_sample\1-19-716_PBBDM_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0240" y="1847088"/>
            <a:ext cx="1463040" cy="1207008"/>
          </a:xfrm>
          <a:prstGeom prst="rect">
            <a:avLst/>
          </a:prstGeom>
        </p:spPr>
      </p:pic>
      <p:pic>
        <p:nvPicPr>
          <p:cNvPr id="16" name="Image 6" descr="C:\Users\seub1\Desktop\[Paper] Diffusion virtual staining paper\analysis_output\paper_panels_depth\per_sample\1-19-716_PBBDM_b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0" y="1847088"/>
            <a:ext cx="1463040" cy="1207008"/>
          </a:xfrm>
          <a:prstGeom prst="rect">
            <a:avLst/>
          </a:prstGeom>
        </p:spPr>
      </p:pic>
      <p:pic>
        <p:nvPicPr>
          <p:cNvPr id="17" name="Image 7" descr="C:\Users\seub1\Desktop\[Paper] Diffusion virtual staining paper\analysis_output\paper_panels_depth\per_sample\1-19-716_PBBDM_comb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1847088"/>
            <a:ext cx="1463040" cy="1207008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6510528" y="2029968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R: JN=11 EP=8(+5c)</a:t>
            </a:r>
            <a:endParaRPr lang="en-US" sz="450" dirty="0"/>
          </a:p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B: JN=15 EP=7(+4c)</a:t>
            </a:r>
            <a:endParaRPr lang="en-US" sz="450" dirty="0"/>
          </a:p>
        </p:txBody>
      </p:sp>
      <p:sp>
        <p:nvSpPr>
          <p:cNvPr id="19" name="Text 9"/>
          <p:cNvSpPr/>
          <p:nvPr/>
        </p:nvSpPr>
        <p:spPr>
          <a:xfrm>
            <a:off x="18288" y="3749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LBBDM</a:t>
            </a:r>
            <a:endParaRPr lang="en-US" sz="600" dirty="0"/>
          </a:p>
        </p:txBody>
      </p:sp>
      <p:pic>
        <p:nvPicPr>
          <p:cNvPr id="20" name="Image 8" descr="C:\Users\seub1\Desktop\[Paper] Diffusion virtual staining paper\analysis_output\paper_panels_depth\per_sample\1-19-716_LBBDM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5760" y="3236976"/>
            <a:ext cx="1463040" cy="1207008"/>
          </a:xfrm>
          <a:prstGeom prst="rect">
            <a:avLst/>
          </a:prstGeom>
        </p:spPr>
      </p:pic>
      <p:pic>
        <p:nvPicPr>
          <p:cNvPr id="21" name="Image 9" descr="C:\Users\seub1\Desktop\[Paper] Diffusion virtual staining paper\analysis_output\paper_panels_depth\per_sample\1-19-716_LBBDM_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20240" y="3236976"/>
            <a:ext cx="1463040" cy="1207008"/>
          </a:xfrm>
          <a:prstGeom prst="rect">
            <a:avLst/>
          </a:prstGeom>
        </p:spPr>
      </p:pic>
      <p:pic>
        <p:nvPicPr>
          <p:cNvPr id="22" name="Image 10" descr="C:\Users\seub1\Desktop\[Paper] Diffusion virtual staining paper\analysis_output\paper_panels_depth\per_sample\1-19-716_LBBDM_b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74720" y="3236976"/>
            <a:ext cx="1463040" cy="1207008"/>
          </a:xfrm>
          <a:prstGeom prst="rect">
            <a:avLst/>
          </a:prstGeom>
        </p:spPr>
      </p:pic>
      <p:pic>
        <p:nvPicPr>
          <p:cNvPr id="23" name="Image 11" descr="C:\Users\seub1\Desktop\[Paper] Diffusion virtual staining paper\analysis_output\paper_panels_depth\per_sample\1-19-716_LBBDM_comb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29200" y="3236976"/>
            <a:ext cx="1463040" cy="1207008"/>
          </a:xfrm>
          <a:prstGeom prst="rect">
            <a:avLst/>
          </a:prstGeom>
        </p:spPr>
      </p:pic>
      <p:sp>
        <p:nvSpPr>
          <p:cNvPr id="24" name="Text 10"/>
          <p:cNvSpPr/>
          <p:nvPr/>
        </p:nvSpPr>
        <p:spPr>
          <a:xfrm>
            <a:off x="6510528" y="3419856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R: JN=15 EP=14(+1c)</a:t>
            </a:r>
            <a:endParaRPr lang="en-US" sz="450" dirty="0"/>
          </a:p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B: JN=13 EP=8(+1c)</a:t>
            </a:r>
            <a:endParaRPr lang="en-US" sz="450" dirty="0"/>
          </a:p>
        </p:txBody>
      </p:sp>
      <p:sp>
        <p:nvSpPr>
          <p:cNvPr id="25" name="Text 11"/>
          <p:cNvSpPr/>
          <p:nvPr/>
        </p:nvSpPr>
        <p:spPr>
          <a:xfrm>
            <a:off x="18288" y="513892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LSGAN</a:t>
            </a:r>
            <a:endParaRPr lang="en-US" sz="600" dirty="0"/>
          </a:p>
        </p:txBody>
      </p:sp>
      <p:pic>
        <p:nvPicPr>
          <p:cNvPr id="26" name="Image 12" descr="C:\Users\seub1\Desktop\[Paper] Diffusion virtual staining paper\analysis_output\paper_panels_depth\per_sample\1-19-716_LSGAN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5760" y="4626864"/>
            <a:ext cx="1463040" cy="1207008"/>
          </a:xfrm>
          <a:prstGeom prst="rect">
            <a:avLst/>
          </a:prstGeom>
        </p:spPr>
      </p:pic>
      <p:pic>
        <p:nvPicPr>
          <p:cNvPr id="27" name="Image 13" descr="C:\Users\seub1\Desktop\[Paper] Diffusion virtual staining paper\analysis_output\paper_panels_depth\per_sample\1-19-716_LSGAN_r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20240" y="4626864"/>
            <a:ext cx="1463040" cy="1207008"/>
          </a:xfrm>
          <a:prstGeom prst="rect">
            <a:avLst/>
          </a:prstGeom>
        </p:spPr>
      </p:pic>
      <p:pic>
        <p:nvPicPr>
          <p:cNvPr id="28" name="Image 14" descr="C:\Users\seub1\Desktop\[Paper] Diffusion virtual staining paper\analysis_output\paper_panels_depth\per_sample\1-19-716_LSGAN_b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74720" y="4626864"/>
            <a:ext cx="1463040" cy="1207008"/>
          </a:xfrm>
          <a:prstGeom prst="rect">
            <a:avLst/>
          </a:prstGeom>
        </p:spPr>
      </p:pic>
      <p:pic>
        <p:nvPicPr>
          <p:cNvPr id="29" name="Image 15" descr="C:\Users\seub1\Desktop\[Paper] Diffusion virtual staining paper\analysis_output\paper_panels_depth\per_sample\1-19-716_LSGAN_comb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29200" y="4626864"/>
            <a:ext cx="1463040" cy="1207008"/>
          </a:xfrm>
          <a:prstGeom prst="rect">
            <a:avLst/>
          </a:prstGeom>
        </p:spPr>
      </p:pic>
      <p:sp>
        <p:nvSpPr>
          <p:cNvPr id="30" name="Text 12"/>
          <p:cNvSpPr/>
          <p:nvPr/>
        </p:nvSpPr>
        <p:spPr>
          <a:xfrm>
            <a:off x="6510528" y="4809744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R: JN=12 EP=18(+3c)</a:t>
            </a:r>
            <a:endParaRPr lang="en-US" sz="450" dirty="0"/>
          </a:p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B: JN=17 EP=9(+3c)</a:t>
            </a:r>
            <a:endParaRPr lang="en-US" sz="450" dirty="0"/>
          </a:p>
        </p:txBody>
      </p:sp>
      <p:sp>
        <p:nvSpPr>
          <p:cNvPr id="31" name="Text 13"/>
          <p:cNvSpPr/>
          <p:nvPr/>
        </p:nvSpPr>
        <p:spPr>
          <a:xfrm>
            <a:off x="18288" y="6528816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Pix2pix</a:t>
            </a:r>
            <a:endParaRPr lang="en-US" sz="600" dirty="0"/>
          </a:p>
        </p:txBody>
      </p:sp>
      <p:pic>
        <p:nvPicPr>
          <p:cNvPr id="32" name="Image 16" descr="C:\Users\seub1\Desktop\[Paper] Diffusion virtual staining paper\analysis_output\paper_panels_depth\per_sample\1-19-716_Pix2pix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65760" y="6016752"/>
            <a:ext cx="1463040" cy="1207008"/>
          </a:xfrm>
          <a:prstGeom prst="rect">
            <a:avLst/>
          </a:prstGeom>
        </p:spPr>
      </p:pic>
      <p:pic>
        <p:nvPicPr>
          <p:cNvPr id="33" name="Image 17" descr="C:\Users\seub1\Desktop\[Paper] Diffusion virtual staining paper\analysis_output\paper_panels_depth\per_sample\1-19-716_Pix2pix_r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20240" y="6016752"/>
            <a:ext cx="1463040" cy="1207008"/>
          </a:xfrm>
          <a:prstGeom prst="rect">
            <a:avLst/>
          </a:prstGeom>
        </p:spPr>
      </p:pic>
      <p:pic>
        <p:nvPicPr>
          <p:cNvPr id="34" name="Image 18" descr="C:\Users\seub1\Desktop\[Paper] Diffusion virtual staining paper\analysis_output\paper_panels_depth\per_sample\1-19-716_Pix2pix_b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474720" y="6016752"/>
            <a:ext cx="1463040" cy="1207008"/>
          </a:xfrm>
          <a:prstGeom prst="rect">
            <a:avLst/>
          </a:prstGeom>
        </p:spPr>
      </p:pic>
      <p:pic>
        <p:nvPicPr>
          <p:cNvPr id="35" name="Image 19" descr="C:\Users\seub1\Desktop\[Paper] Diffusion virtual staining paper\analysis_output\paper_panels_depth\per_sample\1-19-716_Pix2pix_comb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029200" y="6016752"/>
            <a:ext cx="1463040" cy="1207008"/>
          </a:xfrm>
          <a:prstGeom prst="rect">
            <a:avLst/>
          </a:prstGeom>
        </p:spPr>
      </p:pic>
      <p:sp>
        <p:nvSpPr>
          <p:cNvPr id="36" name="Text 14"/>
          <p:cNvSpPr/>
          <p:nvPr/>
        </p:nvSpPr>
        <p:spPr>
          <a:xfrm>
            <a:off x="6510528" y="6199632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R: JN=13 EP=20(+2c)</a:t>
            </a:r>
            <a:endParaRPr lang="en-US" sz="450" dirty="0"/>
          </a:p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B: JN=13 EP=9(+3c)</a:t>
            </a:r>
            <a:endParaRPr lang="en-US" sz="450" dirty="0"/>
          </a:p>
        </p:txBody>
      </p:sp>
      <p:sp>
        <p:nvSpPr>
          <p:cNvPr id="37" name="Text 15"/>
          <p:cNvSpPr/>
          <p:nvPr/>
        </p:nvSpPr>
        <p:spPr>
          <a:xfrm>
            <a:off x="18288" y="7918704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WGANGP</a:t>
            </a:r>
            <a:endParaRPr lang="en-US" sz="600" dirty="0"/>
          </a:p>
        </p:txBody>
      </p:sp>
      <p:pic>
        <p:nvPicPr>
          <p:cNvPr id="38" name="Image 20" descr="C:\Users\seub1\Desktop\[Paper] Diffusion virtual staining paper\analysis_output\paper_panels_depth\per_sample\1-19-716_WGANGP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65760" y="7406640"/>
            <a:ext cx="1463040" cy="1207008"/>
          </a:xfrm>
          <a:prstGeom prst="rect">
            <a:avLst/>
          </a:prstGeom>
        </p:spPr>
      </p:pic>
      <p:pic>
        <p:nvPicPr>
          <p:cNvPr id="39" name="Image 21" descr="C:\Users\seub1\Desktop\[Paper] Diffusion virtual staining paper\analysis_output\paper_panels_depth\per_sample\1-19-716_WGANGP_r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920240" y="7406640"/>
            <a:ext cx="1463040" cy="1207008"/>
          </a:xfrm>
          <a:prstGeom prst="rect">
            <a:avLst/>
          </a:prstGeom>
        </p:spPr>
      </p:pic>
      <p:pic>
        <p:nvPicPr>
          <p:cNvPr id="40" name="Image 22" descr="C:\Users\seub1\Desktop\[Paper] Diffusion virtual staining paper\analysis_output\paper_panels_depth\per_sample\1-19-716_WGANGP_b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474720" y="7406640"/>
            <a:ext cx="1463040" cy="1207008"/>
          </a:xfrm>
          <a:prstGeom prst="rect">
            <a:avLst/>
          </a:prstGeom>
        </p:spPr>
      </p:pic>
      <p:pic>
        <p:nvPicPr>
          <p:cNvPr id="41" name="Image 23" descr="C:\Users\seub1\Desktop\[Paper] Diffusion virtual staining paper\analysis_output\paper_panels_depth\per_sample\1-19-716_WGANGP_comb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029200" y="7406640"/>
            <a:ext cx="1463040" cy="1207008"/>
          </a:xfrm>
          <a:prstGeom prst="rect">
            <a:avLst/>
          </a:prstGeom>
        </p:spPr>
      </p:pic>
      <p:sp>
        <p:nvSpPr>
          <p:cNvPr id="42" name="Text 16"/>
          <p:cNvSpPr/>
          <p:nvPr/>
        </p:nvSpPr>
        <p:spPr>
          <a:xfrm>
            <a:off x="6510528" y="758952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R: JN=7 EP=6(+5c)</a:t>
            </a:r>
            <a:endParaRPr lang="en-US" sz="450" dirty="0"/>
          </a:p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B: JN=18 EP=10(+3c)</a:t>
            </a:r>
            <a:endParaRPr lang="en-US" sz="450" dirty="0"/>
          </a:p>
        </p:txBody>
      </p:sp>
      <p:sp>
        <p:nvSpPr>
          <p:cNvPr id="43" name="Text 17"/>
          <p:cNvSpPr/>
          <p:nvPr/>
        </p:nvSpPr>
        <p:spPr>
          <a:xfrm>
            <a:off x="182880" y="8823960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Magenta </a:t>
            </a:r>
            <a:pPr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JN   </a:t>
            </a:r>
            <a:pPr indent="0" marL="0">
              <a:buNone/>
            </a:pPr>
            <a:r>
              <a:rPr lang="en-US" sz="550" b="1" dirty="0">
                <a:solidFill>
                  <a:srgbClr val="CC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 </a:t>
            </a:r>
            <a:pPr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Real EP   </a:t>
            </a:r>
            <a:pPr indent="0" marL="0">
              <a:buNone/>
            </a:pPr>
            <a:r>
              <a:rPr lang="en-US" sz="550" b="1" dirty="0">
                <a:solidFill>
                  <a:srgbClr val="00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Cyan </a:t>
            </a:r>
            <a:pPr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Connected EP (excluded from count)</a:t>
            </a:r>
            <a:endParaRPr lang="en-US" sz="550" dirty="0"/>
          </a:p>
        </p:txBody>
      </p:sp>
      <p:sp>
        <p:nvSpPr>
          <p:cNvPr id="44" name="Shape 18"/>
          <p:cNvSpPr/>
          <p:nvPr/>
        </p:nvSpPr>
        <p:spPr>
          <a:xfrm>
            <a:off x="320040" y="411480"/>
            <a:ext cx="6217920" cy="1280160"/>
          </a:xfrm>
          <a:prstGeom prst="rect">
            <a:avLst/>
          </a:prstGeom>
          <a:solidFill>
            <a:srgbClr val="27AE60">
              <a:alpha val="5000"/>
            </a:srgbClr>
          </a:solidFill>
          <a:ln w="19050">
            <a:solidFill>
              <a:srgbClr val="27AE60"/>
            </a:solidFill>
            <a:prstDash val="dash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731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Sample: 9-15-512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301752"/>
            <a:ext cx="1463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920240" y="301752"/>
            <a:ext cx="1463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Skel R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3474720" y="301752"/>
            <a:ext cx="1463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Skel B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5029200" y="301752"/>
            <a:ext cx="1463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R+B Combined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8288" y="969264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</a:t>
            </a:r>
            <a:endParaRPr lang="en-US" sz="600" dirty="0"/>
          </a:p>
        </p:txBody>
      </p:sp>
      <p:pic>
        <p:nvPicPr>
          <p:cNvPr id="8" name="Image 0" descr="C:\Users\seub1\Desktop\[Paper] Diffusion virtual staining paper\analysis_output\paper_panels_depth\per_sample\9-15-512_g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57200"/>
            <a:ext cx="1463040" cy="1207008"/>
          </a:xfrm>
          <a:prstGeom prst="rect">
            <a:avLst/>
          </a:prstGeom>
        </p:spPr>
      </p:pic>
      <p:pic>
        <p:nvPicPr>
          <p:cNvPr id="9" name="Image 1" descr="C:\Users\seub1\Desktop\[Paper] Diffusion virtual staining paper\analysis_output\paper_panels_depth\per_sample\9-15-512_gt_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457200"/>
            <a:ext cx="1463040" cy="1207008"/>
          </a:xfrm>
          <a:prstGeom prst="rect">
            <a:avLst/>
          </a:prstGeom>
        </p:spPr>
      </p:pic>
      <p:pic>
        <p:nvPicPr>
          <p:cNvPr id="10" name="Image 2" descr="C:\Users\seub1\Desktop\[Paper] Diffusion virtual staining paper\analysis_output\paper_panels_depth\per_sample\9-15-512_gt_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457200"/>
            <a:ext cx="1463040" cy="1207008"/>
          </a:xfrm>
          <a:prstGeom prst="rect">
            <a:avLst/>
          </a:prstGeom>
        </p:spPr>
      </p:pic>
      <p:pic>
        <p:nvPicPr>
          <p:cNvPr id="11" name="Image 3" descr="C:\Users\seub1\Desktop\[Paper] Diffusion virtual staining paper\analysis_output\paper_panels_depth\per_sample\9-15-512_gt_com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457200"/>
            <a:ext cx="1463040" cy="120700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510528" y="64008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R: JN=5 EP=8(+6c)</a:t>
            </a:r>
            <a:endParaRPr lang="en-US" sz="450" dirty="0"/>
          </a:p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B: JN=6 EP=4(+4c)</a:t>
            </a:r>
            <a:endParaRPr lang="en-US" sz="450" dirty="0"/>
          </a:p>
        </p:txBody>
      </p:sp>
      <p:sp>
        <p:nvSpPr>
          <p:cNvPr id="13" name="Text 7"/>
          <p:cNvSpPr/>
          <p:nvPr/>
        </p:nvSpPr>
        <p:spPr>
          <a:xfrm>
            <a:off x="18288" y="235915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PBBDM</a:t>
            </a:r>
            <a:endParaRPr lang="en-US" sz="600" dirty="0"/>
          </a:p>
        </p:txBody>
      </p:sp>
      <p:pic>
        <p:nvPicPr>
          <p:cNvPr id="14" name="Image 4" descr="C:\Users\seub1\Desktop\[Paper] Diffusion virtual staining paper\analysis_output\paper_panels_depth\per_sample\9-15-512_PBBD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1847088"/>
            <a:ext cx="1463040" cy="1207008"/>
          </a:xfrm>
          <a:prstGeom prst="rect">
            <a:avLst/>
          </a:prstGeom>
        </p:spPr>
      </p:pic>
      <p:pic>
        <p:nvPicPr>
          <p:cNvPr id="15" name="Image 5" descr="C:\Users\seub1\Desktop\[Paper] Diffusion virtual staining paper\analysis_output\paper_panels_depth\per_sample\9-15-512_PBBDM_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0240" y="1847088"/>
            <a:ext cx="1463040" cy="1207008"/>
          </a:xfrm>
          <a:prstGeom prst="rect">
            <a:avLst/>
          </a:prstGeom>
        </p:spPr>
      </p:pic>
      <p:pic>
        <p:nvPicPr>
          <p:cNvPr id="16" name="Image 6" descr="C:\Users\seub1\Desktop\[Paper] Diffusion virtual staining paper\analysis_output\paper_panels_depth\per_sample\9-15-512_PBBDM_b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0" y="1847088"/>
            <a:ext cx="1463040" cy="1207008"/>
          </a:xfrm>
          <a:prstGeom prst="rect">
            <a:avLst/>
          </a:prstGeom>
        </p:spPr>
      </p:pic>
      <p:pic>
        <p:nvPicPr>
          <p:cNvPr id="17" name="Image 7" descr="C:\Users\seub1\Desktop\[Paper] Diffusion virtual staining paper\analysis_output\paper_panels_depth\per_sample\9-15-512_PBBDM_comb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1847088"/>
            <a:ext cx="1463040" cy="1207008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6510528" y="2029968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R: JN=2 EP=5(+1c)</a:t>
            </a:r>
            <a:endParaRPr lang="en-US" sz="450" dirty="0"/>
          </a:p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B: JN=2 EP=3(+1c)</a:t>
            </a:r>
            <a:endParaRPr lang="en-US" sz="450" dirty="0"/>
          </a:p>
        </p:txBody>
      </p:sp>
      <p:sp>
        <p:nvSpPr>
          <p:cNvPr id="19" name="Text 9"/>
          <p:cNvSpPr/>
          <p:nvPr/>
        </p:nvSpPr>
        <p:spPr>
          <a:xfrm>
            <a:off x="18288" y="3749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LBBDM</a:t>
            </a:r>
            <a:endParaRPr lang="en-US" sz="600" dirty="0"/>
          </a:p>
        </p:txBody>
      </p:sp>
      <p:pic>
        <p:nvPicPr>
          <p:cNvPr id="20" name="Image 8" descr="C:\Users\seub1\Desktop\[Paper] Diffusion virtual staining paper\analysis_output\paper_panels_depth\per_sample\9-15-512_LBBDM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5760" y="3236976"/>
            <a:ext cx="1463040" cy="1207008"/>
          </a:xfrm>
          <a:prstGeom prst="rect">
            <a:avLst/>
          </a:prstGeom>
        </p:spPr>
      </p:pic>
      <p:pic>
        <p:nvPicPr>
          <p:cNvPr id="21" name="Image 9" descr="C:\Users\seub1\Desktop\[Paper] Diffusion virtual staining paper\analysis_output\paper_panels_depth\per_sample\9-15-512_LBBDM_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20240" y="3236976"/>
            <a:ext cx="1463040" cy="1207008"/>
          </a:xfrm>
          <a:prstGeom prst="rect">
            <a:avLst/>
          </a:prstGeom>
        </p:spPr>
      </p:pic>
      <p:pic>
        <p:nvPicPr>
          <p:cNvPr id="22" name="Image 10" descr="C:\Users\seub1\Desktop\[Paper] Diffusion virtual staining paper\analysis_output\paper_panels_depth\per_sample\9-15-512_LBBDM_b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74720" y="3236976"/>
            <a:ext cx="1463040" cy="1207008"/>
          </a:xfrm>
          <a:prstGeom prst="rect">
            <a:avLst/>
          </a:prstGeom>
        </p:spPr>
      </p:pic>
      <p:pic>
        <p:nvPicPr>
          <p:cNvPr id="23" name="Image 11" descr="C:\Users\seub1\Desktop\[Paper] Diffusion virtual staining paper\analysis_output\paper_panels_depth\per_sample\9-15-512_LBBDM_comb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29200" y="3236976"/>
            <a:ext cx="1463040" cy="1207008"/>
          </a:xfrm>
          <a:prstGeom prst="rect">
            <a:avLst/>
          </a:prstGeom>
        </p:spPr>
      </p:pic>
      <p:sp>
        <p:nvSpPr>
          <p:cNvPr id="24" name="Text 10"/>
          <p:cNvSpPr/>
          <p:nvPr/>
        </p:nvSpPr>
        <p:spPr>
          <a:xfrm>
            <a:off x="6510528" y="3419856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R: JN=2 EP=5(+1c)</a:t>
            </a:r>
            <a:endParaRPr lang="en-US" sz="450" dirty="0"/>
          </a:p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B: JN=3 EP=4(+1c)</a:t>
            </a:r>
            <a:endParaRPr lang="en-US" sz="450" dirty="0"/>
          </a:p>
        </p:txBody>
      </p:sp>
      <p:sp>
        <p:nvSpPr>
          <p:cNvPr id="25" name="Text 11"/>
          <p:cNvSpPr/>
          <p:nvPr/>
        </p:nvSpPr>
        <p:spPr>
          <a:xfrm>
            <a:off x="18288" y="513892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LSGAN</a:t>
            </a:r>
            <a:endParaRPr lang="en-US" sz="600" dirty="0"/>
          </a:p>
        </p:txBody>
      </p:sp>
      <p:pic>
        <p:nvPicPr>
          <p:cNvPr id="26" name="Image 12" descr="C:\Users\seub1\Desktop\[Paper] Diffusion virtual staining paper\analysis_output\paper_panels_depth\per_sample\9-15-512_LSGAN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5760" y="4626864"/>
            <a:ext cx="1463040" cy="1207008"/>
          </a:xfrm>
          <a:prstGeom prst="rect">
            <a:avLst/>
          </a:prstGeom>
        </p:spPr>
      </p:pic>
      <p:pic>
        <p:nvPicPr>
          <p:cNvPr id="27" name="Image 13" descr="C:\Users\seub1\Desktop\[Paper] Diffusion virtual staining paper\analysis_output\paper_panels_depth\per_sample\9-15-512_LSGAN_r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20240" y="4626864"/>
            <a:ext cx="1463040" cy="1207008"/>
          </a:xfrm>
          <a:prstGeom prst="rect">
            <a:avLst/>
          </a:prstGeom>
        </p:spPr>
      </p:pic>
      <p:pic>
        <p:nvPicPr>
          <p:cNvPr id="28" name="Image 14" descr="C:\Users\seub1\Desktop\[Paper] Diffusion virtual staining paper\analysis_output\paper_panels_depth\per_sample\9-15-512_LSGAN_b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74720" y="4626864"/>
            <a:ext cx="1463040" cy="1207008"/>
          </a:xfrm>
          <a:prstGeom prst="rect">
            <a:avLst/>
          </a:prstGeom>
        </p:spPr>
      </p:pic>
      <p:pic>
        <p:nvPicPr>
          <p:cNvPr id="29" name="Image 15" descr="C:\Users\seub1\Desktop\[Paper] Diffusion virtual staining paper\analysis_output\paper_panels_depth\per_sample\9-15-512_LSGAN_comb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29200" y="4626864"/>
            <a:ext cx="1463040" cy="1207008"/>
          </a:xfrm>
          <a:prstGeom prst="rect">
            <a:avLst/>
          </a:prstGeom>
        </p:spPr>
      </p:pic>
      <p:sp>
        <p:nvSpPr>
          <p:cNvPr id="30" name="Text 12"/>
          <p:cNvSpPr/>
          <p:nvPr/>
        </p:nvSpPr>
        <p:spPr>
          <a:xfrm>
            <a:off x="6510528" y="4809744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R: JN=5 EP=5(+2c)</a:t>
            </a:r>
            <a:endParaRPr lang="en-US" sz="450" dirty="0"/>
          </a:p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B: JN=3 EP=9(+2c)</a:t>
            </a:r>
            <a:endParaRPr lang="en-US" sz="450" dirty="0"/>
          </a:p>
        </p:txBody>
      </p:sp>
      <p:sp>
        <p:nvSpPr>
          <p:cNvPr id="31" name="Text 13"/>
          <p:cNvSpPr/>
          <p:nvPr/>
        </p:nvSpPr>
        <p:spPr>
          <a:xfrm>
            <a:off x="18288" y="6528816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Pix2pix</a:t>
            </a:r>
            <a:endParaRPr lang="en-US" sz="600" dirty="0"/>
          </a:p>
        </p:txBody>
      </p:sp>
      <p:pic>
        <p:nvPicPr>
          <p:cNvPr id="32" name="Image 16" descr="C:\Users\seub1\Desktop\[Paper] Diffusion virtual staining paper\analysis_output\paper_panels_depth\per_sample\9-15-512_Pix2pix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65760" y="6016752"/>
            <a:ext cx="1463040" cy="1207008"/>
          </a:xfrm>
          <a:prstGeom prst="rect">
            <a:avLst/>
          </a:prstGeom>
        </p:spPr>
      </p:pic>
      <p:pic>
        <p:nvPicPr>
          <p:cNvPr id="33" name="Image 17" descr="C:\Users\seub1\Desktop\[Paper] Diffusion virtual staining paper\analysis_output\paper_panels_depth\per_sample\9-15-512_Pix2pix_r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20240" y="6016752"/>
            <a:ext cx="1463040" cy="1207008"/>
          </a:xfrm>
          <a:prstGeom prst="rect">
            <a:avLst/>
          </a:prstGeom>
        </p:spPr>
      </p:pic>
      <p:pic>
        <p:nvPicPr>
          <p:cNvPr id="34" name="Image 18" descr="C:\Users\seub1\Desktop\[Paper] Diffusion virtual staining paper\analysis_output\paper_panels_depth\per_sample\9-15-512_Pix2pix_b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474720" y="6016752"/>
            <a:ext cx="1463040" cy="1207008"/>
          </a:xfrm>
          <a:prstGeom prst="rect">
            <a:avLst/>
          </a:prstGeom>
        </p:spPr>
      </p:pic>
      <p:pic>
        <p:nvPicPr>
          <p:cNvPr id="35" name="Image 19" descr="C:\Users\seub1\Desktop\[Paper] Diffusion virtual staining paper\analysis_output\paper_panels_depth\per_sample\9-15-512_Pix2pix_comb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029200" y="6016752"/>
            <a:ext cx="1463040" cy="1207008"/>
          </a:xfrm>
          <a:prstGeom prst="rect">
            <a:avLst/>
          </a:prstGeom>
        </p:spPr>
      </p:pic>
      <p:sp>
        <p:nvSpPr>
          <p:cNvPr id="36" name="Text 14"/>
          <p:cNvSpPr/>
          <p:nvPr/>
        </p:nvSpPr>
        <p:spPr>
          <a:xfrm>
            <a:off x="6510528" y="6199632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R: JN=10 EP=7(+0c)</a:t>
            </a:r>
            <a:endParaRPr lang="en-US" sz="450" dirty="0"/>
          </a:p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B: JN=1 EP=3(+0c)</a:t>
            </a:r>
            <a:endParaRPr lang="en-US" sz="450" dirty="0"/>
          </a:p>
        </p:txBody>
      </p:sp>
      <p:sp>
        <p:nvSpPr>
          <p:cNvPr id="37" name="Text 15"/>
          <p:cNvSpPr/>
          <p:nvPr/>
        </p:nvSpPr>
        <p:spPr>
          <a:xfrm>
            <a:off x="18288" y="7918704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WGANGP</a:t>
            </a:r>
            <a:endParaRPr lang="en-US" sz="600" dirty="0"/>
          </a:p>
        </p:txBody>
      </p:sp>
      <p:pic>
        <p:nvPicPr>
          <p:cNvPr id="38" name="Image 20" descr="C:\Users\seub1\Desktop\[Paper] Diffusion virtual staining paper\analysis_output\paper_panels_depth\per_sample\9-15-512_WGANGP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65760" y="7406640"/>
            <a:ext cx="1463040" cy="1207008"/>
          </a:xfrm>
          <a:prstGeom prst="rect">
            <a:avLst/>
          </a:prstGeom>
        </p:spPr>
      </p:pic>
      <p:pic>
        <p:nvPicPr>
          <p:cNvPr id="39" name="Image 21" descr="C:\Users\seub1\Desktop\[Paper] Diffusion virtual staining paper\analysis_output\paper_panels_depth\per_sample\9-15-512_WGANGP_r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920240" y="7406640"/>
            <a:ext cx="1463040" cy="1207008"/>
          </a:xfrm>
          <a:prstGeom prst="rect">
            <a:avLst/>
          </a:prstGeom>
        </p:spPr>
      </p:pic>
      <p:pic>
        <p:nvPicPr>
          <p:cNvPr id="40" name="Image 22" descr="C:\Users\seub1\Desktop\[Paper] Diffusion virtual staining paper\analysis_output\paper_panels_depth\per_sample\9-15-512_WGANGP_b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474720" y="7406640"/>
            <a:ext cx="1463040" cy="1207008"/>
          </a:xfrm>
          <a:prstGeom prst="rect">
            <a:avLst/>
          </a:prstGeom>
        </p:spPr>
      </p:pic>
      <p:pic>
        <p:nvPicPr>
          <p:cNvPr id="41" name="Image 23" descr="C:\Users\seub1\Desktop\[Paper] Diffusion virtual staining paper\analysis_output\paper_panels_depth\per_sample\9-15-512_WGANGP_comb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029200" y="7406640"/>
            <a:ext cx="1463040" cy="1207008"/>
          </a:xfrm>
          <a:prstGeom prst="rect">
            <a:avLst/>
          </a:prstGeom>
        </p:spPr>
      </p:pic>
      <p:sp>
        <p:nvSpPr>
          <p:cNvPr id="42" name="Text 16"/>
          <p:cNvSpPr/>
          <p:nvPr/>
        </p:nvSpPr>
        <p:spPr>
          <a:xfrm>
            <a:off x="6510528" y="758952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R: JN=4 EP=3(+1c)</a:t>
            </a:r>
            <a:endParaRPr lang="en-US" sz="450" dirty="0"/>
          </a:p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B: JN=3 EP=4(+1c)</a:t>
            </a:r>
            <a:endParaRPr lang="en-US" sz="450" dirty="0"/>
          </a:p>
        </p:txBody>
      </p:sp>
      <p:sp>
        <p:nvSpPr>
          <p:cNvPr id="43" name="Text 17"/>
          <p:cNvSpPr/>
          <p:nvPr/>
        </p:nvSpPr>
        <p:spPr>
          <a:xfrm>
            <a:off x="182880" y="8823960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Magenta </a:t>
            </a:r>
            <a:pPr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JN   </a:t>
            </a:r>
            <a:pPr indent="0" marL="0">
              <a:buNone/>
            </a:pPr>
            <a:r>
              <a:rPr lang="en-US" sz="550" b="1" dirty="0">
                <a:solidFill>
                  <a:srgbClr val="CC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 </a:t>
            </a:r>
            <a:pPr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Real EP   </a:t>
            </a:r>
            <a:pPr indent="0" marL="0">
              <a:buNone/>
            </a:pPr>
            <a:r>
              <a:rPr lang="en-US" sz="550" b="1" dirty="0">
                <a:solidFill>
                  <a:srgbClr val="00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Cyan </a:t>
            </a:r>
            <a:pPr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Connected EP (excluded from count)</a:t>
            </a:r>
            <a:endParaRPr lang="en-US" sz="550" dirty="0"/>
          </a:p>
        </p:txBody>
      </p:sp>
      <p:sp>
        <p:nvSpPr>
          <p:cNvPr id="44" name="Shape 18"/>
          <p:cNvSpPr/>
          <p:nvPr/>
        </p:nvSpPr>
        <p:spPr>
          <a:xfrm>
            <a:off x="320040" y="411480"/>
            <a:ext cx="6217920" cy="1280160"/>
          </a:xfrm>
          <a:prstGeom prst="rect">
            <a:avLst/>
          </a:prstGeom>
          <a:solidFill>
            <a:srgbClr val="27AE60">
              <a:alpha val="5000"/>
            </a:srgbClr>
          </a:solidFill>
          <a:ln w="19050">
            <a:solidFill>
              <a:srgbClr val="27AE60"/>
            </a:solidFill>
            <a:prstDash val="dash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731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Sample: 16-18-716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301752"/>
            <a:ext cx="1463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920240" y="301752"/>
            <a:ext cx="1463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Skel R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3474720" y="301752"/>
            <a:ext cx="1463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Skel B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5029200" y="301752"/>
            <a:ext cx="1463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R+B Combined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8288" y="969264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</a:t>
            </a:r>
            <a:endParaRPr lang="en-US" sz="600" dirty="0"/>
          </a:p>
        </p:txBody>
      </p:sp>
      <p:pic>
        <p:nvPicPr>
          <p:cNvPr id="8" name="Image 0" descr="C:\Users\seub1\Desktop\[Paper] Diffusion virtual staining paper\analysis_output\paper_panels_depth\per_sample\16-18-716_g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57200"/>
            <a:ext cx="1463040" cy="1207008"/>
          </a:xfrm>
          <a:prstGeom prst="rect">
            <a:avLst/>
          </a:prstGeom>
        </p:spPr>
      </p:pic>
      <p:pic>
        <p:nvPicPr>
          <p:cNvPr id="9" name="Image 1" descr="C:\Users\seub1\Desktop\[Paper] Diffusion virtual staining paper\analysis_output\paper_panels_depth\per_sample\16-18-716_gt_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457200"/>
            <a:ext cx="1463040" cy="1207008"/>
          </a:xfrm>
          <a:prstGeom prst="rect">
            <a:avLst/>
          </a:prstGeom>
        </p:spPr>
      </p:pic>
      <p:pic>
        <p:nvPicPr>
          <p:cNvPr id="10" name="Image 2" descr="C:\Users\seub1\Desktop\[Paper] Diffusion virtual staining paper\analysis_output\paper_panels_depth\per_sample\16-18-716_gt_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457200"/>
            <a:ext cx="1463040" cy="1207008"/>
          </a:xfrm>
          <a:prstGeom prst="rect">
            <a:avLst/>
          </a:prstGeom>
        </p:spPr>
      </p:pic>
      <p:pic>
        <p:nvPicPr>
          <p:cNvPr id="11" name="Image 3" descr="C:\Users\seub1\Desktop\[Paper] Diffusion virtual staining paper\analysis_output\paper_panels_depth\per_sample\16-18-716_gt_com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457200"/>
            <a:ext cx="1463040" cy="120700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510528" y="64008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R: JN=11 EP=7(+4c)</a:t>
            </a:r>
            <a:endParaRPr lang="en-US" sz="450" dirty="0"/>
          </a:p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B: JN=28 EP=11(+2c)</a:t>
            </a:r>
            <a:endParaRPr lang="en-US" sz="450" dirty="0"/>
          </a:p>
        </p:txBody>
      </p:sp>
      <p:sp>
        <p:nvSpPr>
          <p:cNvPr id="13" name="Text 7"/>
          <p:cNvSpPr/>
          <p:nvPr/>
        </p:nvSpPr>
        <p:spPr>
          <a:xfrm>
            <a:off x="18288" y="235915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PBBDM</a:t>
            </a:r>
            <a:endParaRPr lang="en-US" sz="600" dirty="0"/>
          </a:p>
        </p:txBody>
      </p:sp>
      <p:pic>
        <p:nvPicPr>
          <p:cNvPr id="14" name="Image 4" descr="C:\Users\seub1\Desktop\[Paper] Diffusion virtual staining paper\analysis_output\paper_panels_depth\per_sample\16-18-716_PBBD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1847088"/>
            <a:ext cx="1463040" cy="1207008"/>
          </a:xfrm>
          <a:prstGeom prst="rect">
            <a:avLst/>
          </a:prstGeom>
        </p:spPr>
      </p:pic>
      <p:pic>
        <p:nvPicPr>
          <p:cNvPr id="15" name="Image 5" descr="C:\Users\seub1\Desktop\[Paper] Diffusion virtual staining paper\analysis_output\paper_panels_depth\per_sample\16-18-716_PBBDM_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0240" y="1847088"/>
            <a:ext cx="1463040" cy="1207008"/>
          </a:xfrm>
          <a:prstGeom prst="rect">
            <a:avLst/>
          </a:prstGeom>
        </p:spPr>
      </p:pic>
      <p:pic>
        <p:nvPicPr>
          <p:cNvPr id="16" name="Image 6" descr="C:\Users\seub1\Desktop\[Paper] Diffusion virtual staining paper\analysis_output\paper_panels_depth\per_sample\16-18-716_PBBDM_b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0" y="1847088"/>
            <a:ext cx="1463040" cy="1207008"/>
          </a:xfrm>
          <a:prstGeom prst="rect">
            <a:avLst/>
          </a:prstGeom>
        </p:spPr>
      </p:pic>
      <p:pic>
        <p:nvPicPr>
          <p:cNvPr id="17" name="Image 7" descr="C:\Users\seub1\Desktop\[Paper] Diffusion virtual staining paper\analysis_output\paper_panels_depth\per_sample\16-18-716_PBBDM_comb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1847088"/>
            <a:ext cx="1463040" cy="1207008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6510528" y="2029968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R: JN=31 EP=9(+1c)</a:t>
            </a:r>
            <a:endParaRPr lang="en-US" sz="450" dirty="0"/>
          </a:p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B: JN=24 EP=14(+1c)</a:t>
            </a:r>
            <a:endParaRPr lang="en-US" sz="450" dirty="0"/>
          </a:p>
        </p:txBody>
      </p:sp>
      <p:sp>
        <p:nvSpPr>
          <p:cNvPr id="19" name="Text 9"/>
          <p:cNvSpPr/>
          <p:nvPr/>
        </p:nvSpPr>
        <p:spPr>
          <a:xfrm>
            <a:off x="18288" y="3749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LBBDM</a:t>
            </a:r>
            <a:endParaRPr lang="en-US" sz="600" dirty="0"/>
          </a:p>
        </p:txBody>
      </p:sp>
      <p:pic>
        <p:nvPicPr>
          <p:cNvPr id="20" name="Image 8" descr="C:\Users\seub1\Desktop\[Paper] Diffusion virtual staining paper\analysis_output\paper_panels_depth\per_sample\16-18-716_LBBDM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5760" y="3236976"/>
            <a:ext cx="1463040" cy="1207008"/>
          </a:xfrm>
          <a:prstGeom prst="rect">
            <a:avLst/>
          </a:prstGeom>
        </p:spPr>
      </p:pic>
      <p:pic>
        <p:nvPicPr>
          <p:cNvPr id="21" name="Image 9" descr="C:\Users\seub1\Desktop\[Paper] Diffusion virtual staining paper\analysis_output\paper_panels_depth\per_sample\16-18-716_LBBDM_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20240" y="3236976"/>
            <a:ext cx="1463040" cy="1207008"/>
          </a:xfrm>
          <a:prstGeom prst="rect">
            <a:avLst/>
          </a:prstGeom>
        </p:spPr>
      </p:pic>
      <p:pic>
        <p:nvPicPr>
          <p:cNvPr id="22" name="Image 10" descr="C:\Users\seub1\Desktop\[Paper] Diffusion virtual staining paper\analysis_output\paper_panels_depth\per_sample\16-18-716_LBBDM_b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74720" y="3236976"/>
            <a:ext cx="1463040" cy="1207008"/>
          </a:xfrm>
          <a:prstGeom prst="rect">
            <a:avLst/>
          </a:prstGeom>
        </p:spPr>
      </p:pic>
      <p:pic>
        <p:nvPicPr>
          <p:cNvPr id="23" name="Image 11" descr="C:\Users\seub1\Desktop\[Paper] Diffusion virtual staining paper\analysis_output\paper_panels_depth\per_sample\16-18-716_LBBDM_comb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29200" y="3236976"/>
            <a:ext cx="1463040" cy="1207008"/>
          </a:xfrm>
          <a:prstGeom prst="rect">
            <a:avLst/>
          </a:prstGeom>
        </p:spPr>
      </p:pic>
      <p:sp>
        <p:nvSpPr>
          <p:cNvPr id="24" name="Text 10"/>
          <p:cNvSpPr/>
          <p:nvPr/>
        </p:nvSpPr>
        <p:spPr>
          <a:xfrm>
            <a:off x="6510528" y="3419856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R: JN=11 EP=6(+2c)</a:t>
            </a:r>
            <a:endParaRPr lang="en-US" sz="450" dirty="0"/>
          </a:p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B: JN=18 EP=7(+2c)</a:t>
            </a:r>
            <a:endParaRPr lang="en-US" sz="450" dirty="0"/>
          </a:p>
        </p:txBody>
      </p:sp>
      <p:sp>
        <p:nvSpPr>
          <p:cNvPr id="25" name="Text 11"/>
          <p:cNvSpPr/>
          <p:nvPr/>
        </p:nvSpPr>
        <p:spPr>
          <a:xfrm>
            <a:off x="18288" y="513892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LSGAN</a:t>
            </a:r>
            <a:endParaRPr lang="en-US" sz="600" dirty="0"/>
          </a:p>
        </p:txBody>
      </p:sp>
      <p:pic>
        <p:nvPicPr>
          <p:cNvPr id="26" name="Image 12" descr="C:\Users\seub1\Desktop\[Paper] Diffusion virtual staining paper\analysis_output\paper_panels_depth\per_sample\16-18-716_LSGAN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5760" y="4626864"/>
            <a:ext cx="1463040" cy="1207008"/>
          </a:xfrm>
          <a:prstGeom prst="rect">
            <a:avLst/>
          </a:prstGeom>
        </p:spPr>
      </p:pic>
      <p:pic>
        <p:nvPicPr>
          <p:cNvPr id="27" name="Image 13" descr="C:\Users\seub1\Desktop\[Paper] Diffusion virtual staining paper\analysis_output\paper_panels_depth\per_sample\16-18-716_LSGAN_r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20240" y="4626864"/>
            <a:ext cx="1463040" cy="1207008"/>
          </a:xfrm>
          <a:prstGeom prst="rect">
            <a:avLst/>
          </a:prstGeom>
        </p:spPr>
      </p:pic>
      <p:pic>
        <p:nvPicPr>
          <p:cNvPr id="28" name="Image 14" descr="C:\Users\seub1\Desktop\[Paper] Diffusion virtual staining paper\analysis_output\paper_panels_depth\per_sample\16-18-716_LSGAN_b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74720" y="4626864"/>
            <a:ext cx="1463040" cy="1207008"/>
          </a:xfrm>
          <a:prstGeom prst="rect">
            <a:avLst/>
          </a:prstGeom>
        </p:spPr>
      </p:pic>
      <p:pic>
        <p:nvPicPr>
          <p:cNvPr id="29" name="Image 15" descr="C:\Users\seub1\Desktop\[Paper] Diffusion virtual staining paper\analysis_output\paper_panels_depth\per_sample\16-18-716_LSGAN_comb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29200" y="4626864"/>
            <a:ext cx="1463040" cy="1207008"/>
          </a:xfrm>
          <a:prstGeom prst="rect">
            <a:avLst/>
          </a:prstGeom>
        </p:spPr>
      </p:pic>
      <p:sp>
        <p:nvSpPr>
          <p:cNvPr id="30" name="Text 12"/>
          <p:cNvSpPr/>
          <p:nvPr/>
        </p:nvSpPr>
        <p:spPr>
          <a:xfrm>
            <a:off x="6510528" y="4809744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R: JN=4 EP=5(+3c)</a:t>
            </a:r>
            <a:endParaRPr lang="en-US" sz="450" dirty="0"/>
          </a:p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B: JN=24 EP=17(+3c)</a:t>
            </a:r>
            <a:endParaRPr lang="en-US" sz="450" dirty="0"/>
          </a:p>
        </p:txBody>
      </p:sp>
      <p:sp>
        <p:nvSpPr>
          <p:cNvPr id="31" name="Text 13"/>
          <p:cNvSpPr/>
          <p:nvPr/>
        </p:nvSpPr>
        <p:spPr>
          <a:xfrm>
            <a:off x="18288" y="6528816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Pix2pix</a:t>
            </a:r>
            <a:endParaRPr lang="en-US" sz="600" dirty="0"/>
          </a:p>
        </p:txBody>
      </p:sp>
      <p:pic>
        <p:nvPicPr>
          <p:cNvPr id="32" name="Image 16" descr="C:\Users\seub1\Desktop\[Paper] Diffusion virtual staining paper\analysis_output\paper_panels_depth\per_sample\16-18-716_Pix2pix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65760" y="6016752"/>
            <a:ext cx="1463040" cy="1207008"/>
          </a:xfrm>
          <a:prstGeom prst="rect">
            <a:avLst/>
          </a:prstGeom>
        </p:spPr>
      </p:pic>
      <p:pic>
        <p:nvPicPr>
          <p:cNvPr id="33" name="Image 17" descr="C:\Users\seub1\Desktop\[Paper] Diffusion virtual staining paper\analysis_output\paper_panels_depth\per_sample\16-18-716_Pix2pix_r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20240" y="6016752"/>
            <a:ext cx="1463040" cy="1207008"/>
          </a:xfrm>
          <a:prstGeom prst="rect">
            <a:avLst/>
          </a:prstGeom>
        </p:spPr>
      </p:pic>
      <p:pic>
        <p:nvPicPr>
          <p:cNvPr id="34" name="Image 18" descr="C:\Users\seub1\Desktop\[Paper] Diffusion virtual staining paper\analysis_output\paper_panels_depth\per_sample\16-18-716_Pix2pix_b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474720" y="6016752"/>
            <a:ext cx="1463040" cy="1207008"/>
          </a:xfrm>
          <a:prstGeom prst="rect">
            <a:avLst/>
          </a:prstGeom>
        </p:spPr>
      </p:pic>
      <p:pic>
        <p:nvPicPr>
          <p:cNvPr id="35" name="Image 19" descr="C:\Users\seub1\Desktop\[Paper] Diffusion virtual staining paper\analysis_output\paper_panels_depth\per_sample\16-18-716_Pix2pix_comb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029200" y="6016752"/>
            <a:ext cx="1463040" cy="1207008"/>
          </a:xfrm>
          <a:prstGeom prst="rect">
            <a:avLst/>
          </a:prstGeom>
        </p:spPr>
      </p:pic>
      <p:sp>
        <p:nvSpPr>
          <p:cNvPr id="36" name="Text 14"/>
          <p:cNvSpPr/>
          <p:nvPr/>
        </p:nvSpPr>
        <p:spPr>
          <a:xfrm>
            <a:off x="6510528" y="6199632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R: JN=23 EP=5(+4c)</a:t>
            </a:r>
            <a:endParaRPr lang="en-US" sz="450" dirty="0"/>
          </a:p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B: JN=17 EP=8(+4c)</a:t>
            </a:r>
            <a:endParaRPr lang="en-US" sz="450" dirty="0"/>
          </a:p>
        </p:txBody>
      </p:sp>
      <p:sp>
        <p:nvSpPr>
          <p:cNvPr id="37" name="Text 15"/>
          <p:cNvSpPr/>
          <p:nvPr/>
        </p:nvSpPr>
        <p:spPr>
          <a:xfrm>
            <a:off x="18288" y="7918704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WGANGP</a:t>
            </a:r>
            <a:endParaRPr lang="en-US" sz="600" dirty="0"/>
          </a:p>
        </p:txBody>
      </p:sp>
      <p:pic>
        <p:nvPicPr>
          <p:cNvPr id="38" name="Image 20" descr="C:\Users\seub1\Desktop\[Paper] Diffusion virtual staining paper\analysis_output\paper_panels_depth\per_sample\16-18-716_WGANGP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65760" y="7406640"/>
            <a:ext cx="1463040" cy="1207008"/>
          </a:xfrm>
          <a:prstGeom prst="rect">
            <a:avLst/>
          </a:prstGeom>
        </p:spPr>
      </p:pic>
      <p:pic>
        <p:nvPicPr>
          <p:cNvPr id="39" name="Image 21" descr="C:\Users\seub1\Desktop\[Paper] Diffusion virtual staining paper\analysis_output\paper_panels_depth\per_sample\16-18-716_WGANGP_r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920240" y="7406640"/>
            <a:ext cx="1463040" cy="1207008"/>
          </a:xfrm>
          <a:prstGeom prst="rect">
            <a:avLst/>
          </a:prstGeom>
        </p:spPr>
      </p:pic>
      <p:pic>
        <p:nvPicPr>
          <p:cNvPr id="40" name="Image 22" descr="C:\Users\seub1\Desktop\[Paper] Diffusion virtual staining paper\analysis_output\paper_panels_depth\per_sample\16-18-716_WGANGP_b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474720" y="7406640"/>
            <a:ext cx="1463040" cy="1207008"/>
          </a:xfrm>
          <a:prstGeom prst="rect">
            <a:avLst/>
          </a:prstGeom>
        </p:spPr>
      </p:pic>
      <p:pic>
        <p:nvPicPr>
          <p:cNvPr id="41" name="Image 23" descr="C:\Users\seub1\Desktop\[Paper] Diffusion virtual staining paper\analysis_output\paper_panels_depth\per_sample\16-18-716_WGANGP_comb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029200" y="7406640"/>
            <a:ext cx="1463040" cy="1207008"/>
          </a:xfrm>
          <a:prstGeom prst="rect">
            <a:avLst/>
          </a:prstGeom>
        </p:spPr>
      </p:pic>
      <p:sp>
        <p:nvSpPr>
          <p:cNvPr id="42" name="Text 16"/>
          <p:cNvSpPr/>
          <p:nvPr/>
        </p:nvSpPr>
        <p:spPr>
          <a:xfrm>
            <a:off x="6510528" y="758952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R: JN=12 EP=6(+0c)</a:t>
            </a:r>
            <a:endParaRPr lang="en-US" sz="450" dirty="0"/>
          </a:p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B: JN=15 EP=14(+0c)</a:t>
            </a:r>
            <a:endParaRPr lang="en-US" sz="450" dirty="0"/>
          </a:p>
        </p:txBody>
      </p:sp>
      <p:sp>
        <p:nvSpPr>
          <p:cNvPr id="43" name="Text 17"/>
          <p:cNvSpPr/>
          <p:nvPr/>
        </p:nvSpPr>
        <p:spPr>
          <a:xfrm>
            <a:off x="182880" y="8823960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Magenta </a:t>
            </a:r>
            <a:pPr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JN   </a:t>
            </a:r>
            <a:pPr indent="0" marL="0">
              <a:buNone/>
            </a:pPr>
            <a:r>
              <a:rPr lang="en-US" sz="550" b="1" dirty="0">
                <a:solidFill>
                  <a:srgbClr val="CC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 </a:t>
            </a:r>
            <a:pPr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Real EP   </a:t>
            </a:r>
            <a:pPr indent="0" marL="0">
              <a:buNone/>
            </a:pPr>
            <a:r>
              <a:rPr lang="en-US" sz="550" b="1" dirty="0">
                <a:solidFill>
                  <a:srgbClr val="00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Cyan </a:t>
            </a:r>
            <a:pPr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Connected EP (excluded from count)</a:t>
            </a:r>
            <a:endParaRPr lang="en-US" sz="550" dirty="0"/>
          </a:p>
        </p:txBody>
      </p:sp>
      <p:sp>
        <p:nvSpPr>
          <p:cNvPr id="44" name="Shape 18"/>
          <p:cNvSpPr/>
          <p:nvPr/>
        </p:nvSpPr>
        <p:spPr>
          <a:xfrm>
            <a:off x="320040" y="411480"/>
            <a:ext cx="6217920" cy="1280160"/>
          </a:xfrm>
          <a:prstGeom prst="rect">
            <a:avLst/>
          </a:prstGeom>
          <a:solidFill>
            <a:srgbClr val="27AE60">
              <a:alpha val="5000"/>
            </a:srgbClr>
          </a:solidFill>
          <a:ln w="19050">
            <a:solidFill>
              <a:srgbClr val="27AE60"/>
            </a:solidFill>
            <a:prstDash val="dash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731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Sample: 18-19-512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301752"/>
            <a:ext cx="1463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920240" y="301752"/>
            <a:ext cx="1463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Skel R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3474720" y="301752"/>
            <a:ext cx="1463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Skel B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5029200" y="301752"/>
            <a:ext cx="1463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R+B Combined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8288" y="969264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</a:t>
            </a:r>
            <a:endParaRPr lang="en-US" sz="600" dirty="0"/>
          </a:p>
        </p:txBody>
      </p:sp>
      <p:pic>
        <p:nvPicPr>
          <p:cNvPr id="8" name="Image 0" descr="C:\Users\seub1\Desktop\[Paper] Diffusion virtual staining paper\analysis_output\paper_panels_depth\per_sample\18-19-512_g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57200"/>
            <a:ext cx="1463040" cy="1207008"/>
          </a:xfrm>
          <a:prstGeom prst="rect">
            <a:avLst/>
          </a:prstGeom>
        </p:spPr>
      </p:pic>
      <p:pic>
        <p:nvPicPr>
          <p:cNvPr id="9" name="Image 1" descr="C:\Users\seub1\Desktop\[Paper] Diffusion virtual staining paper\analysis_output\paper_panels_depth\per_sample\18-19-512_gt_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457200"/>
            <a:ext cx="1463040" cy="1207008"/>
          </a:xfrm>
          <a:prstGeom prst="rect">
            <a:avLst/>
          </a:prstGeom>
        </p:spPr>
      </p:pic>
      <p:pic>
        <p:nvPicPr>
          <p:cNvPr id="10" name="Image 2" descr="C:\Users\seub1\Desktop\[Paper] Diffusion virtual staining paper\analysis_output\paper_panels_depth\per_sample\18-19-512_gt_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457200"/>
            <a:ext cx="1463040" cy="1207008"/>
          </a:xfrm>
          <a:prstGeom prst="rect">
            <a:avLst/>
          </a:prstGeom>
        </p:spPr>
      </p:pic>
      <p:pic>
        <p:nvPicPr>
          <p:cNvPr id="11" name="Image 3" descr="C:\Users\seub1\Desktop\[Paper] Diffusion virtual staining paper\analysis_output\paper_panels_depth\per_sample\18-19-512_gt_com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457200"/>
            <a:ext cx="1463040" cy="120700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510528" y="64008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R: JN=18 EP=12(+4c)</a:t>
            </a:r>
            <a:endParaRPr lang="en-US" sz="450" dirty="0"/>
          </a:p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B: JN=23 EP=18(+4c)</a:t>
            </a:r>
            <a:endParaRPr lang="en-US" sz="450" dirty="0"/>
          </a:p>
        </p:txBody>
      </p:sp>
      <p:sp>
        <p:nvSpPr>
          <p:cNvPr id="13" name="Text 7"/>
          <p:cNvSpPr/>
          <p:nvPr/>
        </p:nvSpPr>
        <p:spPr>
          <a:xfrm>
            <a:off x="18288" y="235915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PBBDM</a:t>
            </a:r>
            <a:endParaRPr lang="en-US" sz="600" dirty="0"/>
          </a:p>
        </p:txBody>
      </p:sp>
      <p:pic>
        <p:nvPicPr>
          <p:cNvPr id="14" name="Image 4" descr="C:\Users\seub1\Desktop\[Paper] Diffusion virtual staining paper\analysis_output\paper_panels_depth\per_sample\18-19-512_PBBD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1847088"/>
            <a:ext cx="1463040" cy="1207008"/>
          </a:xfrm>
          <a:prstGeom prst="rect">
            <a:avLst/>
          </a:prstGeom>
        </p:spPr>
      </p:pic>
      <p:pic>
        <p:nvPicPr>
          <p:cNvPr id="15" name="Image 5" descr="C:\Users\seub1\Desktop\[Paper] Diffusion virtual staining paper\analysis_output\paper_panels_depth\per_sample\18-19-512_PBBDM_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0240" y="1847088"/>
            <a:ext cx="1463040" cy="1207008"/>
          </a:xfrm>
          <a:prstGeom prst="rect">
            <a:avLst/>
          </a:prstGeom>
        </p:spPr>
      </p:pic>
      <p:pic>
        <p:nvPicPr>
          <p:cNvPr id="16" name="Image 6" descr="C:\Users\seub1\Desktop\[Paper] Diffusion virtual staining paper\analysis_output\paper_panels_depth\per_sample\18-19-512_PBBDM_b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0" y="1847088"/>
            <a:ext cx="1463040" cy="1207008"/>
          </a:xfrm>
          <a:prstGeom prst="rect">
            <a:avLst/>
          </a:prstGeom>
        </p:spPr>
      </p:pic>
      <p:pic>
        <p:nvPicPr>
          <p:cNvPr id="17" name="Image 7" descr="C:\Users\seub1\Desktop\[Paper] Diffusion virtual staining paper\analysis_output\paper_panels_depth\per_sample\18-19-512_PBBDM_comb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1847088"/>
            <a:ext cx="1463040" cy="1207008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6510528" y="2029968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R: JN=20 EP=11(+2c)</a:t>
            </a:r>
            <a:endParaRPr lang="en-US" sz="450" dirty="0"/>
          </a:p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B: JN=19 EP=13(+2c)</a:t>
            </a:r>
            <a:endParaRPr lang="en-US" sz="450" dirty="0"/>
          </a:p>
        </p:txBody>
      </p:sp>
      <p:sp>
        <p:nvSpPr>
          <p:cNvPr id="19" name="Text 9"/>
          <p:cNvSpPr/>
          <p:nvPr/>
        </p:nvSpPr>
        <p:spPr>
          <a:xfrm>
            <a:off x="18288" y="3749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LBBDM</a:t>
            </a:r>
            <a:endParaRPr lang="en-US" sz="600" dirty="0"/>
          </a:p>
        </p:txBody>
      </p:sp>
      <p:pic>
        <p:nvPicPr>
          <p:cNvPr id="20" name="Image 8" descr="C:\Users\seub1\Desktop\[Paper] Diffusion virtual staining paper\analysis_output\paper_panels_depth\per_sample\18-19-512_LBBDM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5760" y="3236976"/>
            <a:ext cx="1463040" cy="1207008"/>
          </a:xfrm>
          <a:prstGeom prst="rect">
            <a:avLst/>
          </a:prstGeom>
        </p:spPr>
      </p:pic>
      <p:pic>
        <p:nvPicPr>
          <p:cNvPr id="21" name="Image 9" descr="C:\Users\seub1\Desktop\[Paper] Diffusion virtual staining paper\analysis_output\paper_panels_depth\per_sample\18-19-512_LBBDM_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20240" y="3236976"/>
            <a:ext cx="1463040" cy="1207008"/>
          </a:xfrm>
          <a:prstGeom prst="rect">
            <a:avLst/>
          </a:prstGeom>
        </p:spPr>
      </p:pic>
      <p:pic>
        <p:nvPicPr>
          <p:cNvPr id="22" name="Image 10" descr="C:\Users\seub1\Desktop\[Paper] Diffusion virtual staining paper\analysis_output\paper_panels_depth\per_sample\18-19-512_LBBDM_b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74720" y="3236976"/>
            <a:ext cx="1463040" cy="1207008"/>
          </a:xfrm>
          <a:prstGeom prst="rect">
            <a:avLst/>
          </a:prstGeom>
        </p:spPr>
      </p:pic>
      <p:pic>
        <p:nvPicPr>
          <p:cNvPr id="23" name="Image 11" descr="C:\Users\seub1\Desktop\[Paper] Diffusion virtual staining paper\analysis_output\paper_panels_depth\per_sample\18-19-512_LBBDM_comb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29200" y="3236976"/>
            <a:ext cx="1463040" cy="1207008"/>
          </a:xfrm>
          <a:prstGeom prst="rect">
            <a:avLst/>
          </a:prstGeom>
        </p:spPr>
      </p:pic>
      <p:sp>
        <p:nvSpPr>
          <p:cNvPr id="24" name="Text 10"/>
          <p:cNvSpPr/>
          <p:nvPr/>
        </p:nvSpPr>
        <p:spPr>
          <a:xfrm>
            <a:off x="6510528" y="3419856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R: JN=16 EP=4(+1c)</a:t>
            </a:r>
            <a:endParaRPr lang="en-US" sz="450" dirty="0"/>
          </a:p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B: JN=26 EP=17(+1c)</a:t>
            </a:r>
            <a:endParaRPr lang="en-US" sz="450" dirty="0"/>
          </a:p>
        </p:txBody>
      </p:sp>
      <p:sp>
        <p:nvSpPr>
          <p:cNvPr id="25" name="Text 11"/>
          <p:cNvSpPr/>
          <p:nvPr/>
        </p:nvSpPr>
        <p:spPr>
          <a:xfrm>
            <a:off x="18288" y="513892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LSGAN</a:t>
            </a:r>
            <a:endParaRPr lang="en-US" sz="600" dirty="0"/>
          </a:p>
        </p:txBody>
      </p:sp>
      <p:pic>
        <p:nvPicPr>
          <p:cNvPr id="26" name="Image 12" descr="C:\Users\seub1\Desktop\[Paper] Diffusion virtual staining paper\analysis_output\paper_panels_depth\per_sample\18-19-512_LSGAN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5760" y="4626864"/>
            <a:ext cx="1463040" cy="1207008"/>
          </a:xfrm>
          <a:prstGeom prst="rect">
            <a:avLst/>
          </a:prstGeom>
        </p:spPr>
      </p:pic>
      <p:pic>
        <p:nvPicPr>
          <p:cNvPr id="27" name="Image 13" descr="C:\Users\seub1\Desktop\[Paper] Diffusion virtual staining paper\analysis_output\paper_panels_depth\per_sample\18-19-512_LSGAN_r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20240" y="4626864"/>
            <a:ext cx="1463040" cy="1207008"/>
          </a:xfrm>
          <a:prstGeom prst="rect">
            <a:avLst/>
          </a:prstGeom>
        </p:spPr>
      </p:pic>
      <p:pic>
        <p:nvPicPr>
          <p:cNvPr id="28" name="Image 14" descr="C:\Users\seub1\Desktop\[Paper] Diffusion virtual staining paper\analysis_output\paper_panels_depth\per_sample\18-19-512_LSGAN_b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74720" y="4626864"/>
            <a:ext cx="1463040" cy="1207008"/>
          </a:xfrm>
          <a:prstGeom prst="rect">
            <a:avLst/>
          </a:prstGeom>
        </p:spPr>
      </p:pic>
      <p:pic>
        <p:nvPicPr>
          <p:cNvPr id="29" name="Image 15" descr="C:\Users\seub1\Desktop\[Paper] Diffusion virtual staining paper\analysis_output\paper_panels_depth\per_sample\18-19-512_LSGAN_comb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29200" y="4626864"/>
            <a:ext cx="1463040" cy="1207008"/>
          </a:xfrm>
          <a:prstGeom prst="rect">
            <a:avLst/>
          </a:prstGeom>
        </p:spPr>
      </p:pic>
      <p:sp>
        <p:nvSpPr>
          <p:cNvPr id="30" name="Text 12"/>
          <p:cNvSpPr/>
          <p:nvPr/>
        </p:nvSpPr>
        <p:spPr>
          <a:xfrm>
            <a:off x="6510528" y="4809744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R: JN=34 EP=19(+2c)</a:t>
            </a:r>
            <a:endParaRPr lang="en-US" sz="450" dirty="0"/>
          </a:p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B: JN=41 EP=31(+1c)</a:t>
            </a:r>
            <a:endParaRPr lang="en-US" sz="450" dirty="0"/>
          </a:p>
        </p:txBody>
      </p:sp>
      <p:sp>
        <p:nvSpPr>
          <p:cNvPr id="31" name="Text 13"/>
          <p:cNvSpPr/>
          <p:nvPr/>
        </p:nvSpPr>
        <p:spPr>
          <a:xfrm>
            <a:off x="18288" y="6528816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Pix2pix</a:t>
            </a:r>
            <a:endParaRPr lang="en-US" sz="600" dirty="0"/>
          </a:p>
        </p:txBody>
      </p:sp>
      <p:pic>
        <p:nvPicPr>
          <p:cNvPr id="32" name="Image 16" descr="C:\Users\seub1\Desktop\[Paper] Diffusion virtual staining paper\analysis_output\paper_panels_depth\per_sample\18-19-512_Pix2pix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65760" y="6016752"/>
            <a:ext cx="1463040" cy="1207008"/>
          </a:xfrm>
          <a:prstGeom prst="rect">
            <a:avLst/>
          </a:prstGeom>
        </p:spPr>
      </p:pic>
      <p:pic>
        <p:nvPicPr>
          <p:cNvPr id="33" name="Image 17" descr="C:\Users\seub1\Desktop\[Paper] Diffusion virtual staining paper\analysis_output\paper_panels_depth\per_sample\18-19-512_Pix2pix_r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20240" y="6016752"/>
            <a:ext cx="1463040" cy="1207008"/>
          </a:xfrm>
          <a:prstGeom prst="rect">
            <a:avLst/>
          </a:prstGeom>
        </p:spPr>
      </p:pic>
      <p:pic>
        <p:nvPicPr>
          <p:cNvPr id="34" name="Image 18" descr="C:\Users\seub1\Desktop\[Paper] Diffusion virtual staining paper\analysis_output\paper_panels_depth\per_sample\18-19-512_Pix2pix_b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474720" y="6016752"/>
            <a:ext cx="1463040" cy="1207008"/>
          </a:xfrm>
          <a:prstGeom prst="rect">
            <a:avLst/>
          </a:prstGeom>
        </p:spPr>
      </p:pic>
      <p:pic>
        <p:nvPicPr>
          <p:cNvPr id="35" name="Image 19" descr="C:\Users\seub1\Desktop\[Paper] Diffusion virtual staining paper\analysis_output\paper_panels_depth\per_sample\18-19-512_Pix2pix_comb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029200" y="6016752"/>
            <a:ext cx="1463040" cy="1207008"/>
          </a:xfrm>
          <a:prstGeom prst="rect">
            <a:avLst/>
          </a:prstGeom>
        </p:spPr>
      </p:pic>
      <p:sp>
        <p:nvSpPr>
          <p:cNvPr id="36" name="Text 14"/>
          <p:cNvSpPr/>
          <p:nvPr/>
        </p:nvSpPr>
        <p:spPr>
          <a:xfrm>
            <a:off x="6510528" y="6199632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R: JN=22 EP=8(+5c)</a:t>
            </a:r>
            <a:endParaRPr lang="en-US" sz="450" dirty="0"/>
          </a:p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B: JN=38 EP=26(+8c)</a:t>
            </a:r>
            <a:endParaRPr lang="en-US" sz="450" dirty="0"/>
          </a:p>
        </p:txBody>
      </p:sp>
      <p:sp>
        <p:nvSpPr>
          <p:cNvPr id="37" name="Text 15"/>
          <p:cNvSpPr/>
          <p:nvPr/>
        </p:nvSpPr>
        <p:spPr>
          <a:xfrm>
            <a:off x="18288" y="7918704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WGANGP</a:t>
            </a:r>
            <a:endParaRPr lang="en-US" sz="600" dirty="0"/>
          </a:p>
        </p:txBody>
      </p:sp>
      <p:pic>
        <p:nvPicPr>
          <p:cNvPr id="38" name="Image 20" descr="C:\Users\seub1\Desktop\[Paper] Diffusion virtual staining paper\analysis_output\paper_panels_depth\per_sample\18-19-512_WGANGP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65760" y="7406640"/>
            <a:ext cx="1463040" cy="1207008"/>
          </a:xfrm>
          <a:prstGeom prst="rect">
            <a:avLst/>
          </a:prstGeom>
        </p:spPr>
      </p:pic>
      <p:pic>
        <p:nvPicPr>
          <p:cNvPr id="39" name="Image 21" descr="C:\Users\seub1\Desktop\[Paper] Diffusion virtual staining paper\analysis_output\paper_panels_depth\per_sample\18-19-512_WGANGP_r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920240" y="7406640"/>
            <a:ext cx="1463040" cy="1207008"/>
          </a:xfrm>
          <a:prstGeom prst="rect">
            <a:avLst/>
          </a:prstGeom>
        </p:spPr>
      </p:pic>
      <p:pic>
        <p:nvPicPr>
          <p:cNvPr id="40" name="Image 22" descr="C:\Users\seub1\Desktop\[Paper] Diffusion virtual staining paper\analysis_output\paper_panels_depth\per_sample\18-19-512_WGANGP_b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474720" y="7406640"/>
            <a:ext cx="1463040" cy="1207008"/>
          </a:xfrm>
          <a:prstGeom prst="rect">
            <a:avLst/>
          </a:prstGeom>
        </p:spPr>
      </p:pic>
      <p:pic>
        <p:nvPicPr>
          <p:cNvPr id="41" name="Image 23" descr="C:\Users\seub1\Desktop\[Paper] Diffusion virtual staining paper\analysis_output\paper_panels_depth\per_sample\18-19-512_WGANGP_comb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029200" y="7406640"/>
            <a:ext cx="1463040" cy="1207008"/>
          </a:xfrm>
          <a:prstGeom prst="rect">
            <a:avLst/>
          </a:prstGeom>
        </p:spPr>
      </p:pic>
      <p:sp>
        <p:nvSpPr>
          <p:cNvPr id="42" name="Text 16"/>
          <p:cNvSpPr/>
          <p:nvPr/>
        </p:nvSpPr>
        <p:spPr>
          <a:xfrm>
            <a:off x="6510528" y="758952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R: JN=17 EP=9(+2c)</a:t>
            </a:r>
            <a:endParaRPr lang="en-US" sz="450" dirty="0"/>
          </a:p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B: JN=18 EP=21(+2c)</a:t>
            </a:r>
            <a:endParaRPr lang="en-US" sz="450" dirty="0"/>
          </a:p>
        </p:txBody>
      </p:sp>
      <p:sp>
        <p:nvSpPr>
          <p:cNvPr id="43" name="Text 17"/>
          <p:cNvSpPr/>
          <p:nvPr/>
        </p:nvSpPr>
        <p:spPr>
          <a:xfrm>
            <a:off x="182880" y="8823960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Magenta </a:t>
            </a:r>
            <a:pPr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JN   </a:t>
            </a:r>
            <a:pPr indent="0" marL="0">
              <a:buNone/>
            </a:pPr>
            <a:r>
              <a:rPr lang="en-US" sz="550" b="1" dirty="0">
                <a:solidFill>
                  <a:srgbClr val="CC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 </a:t>
            </a:r>
            <a:pPr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Real EP   </a:t>
            </a:r>
            <a:pPr indent="0" marL="0">
              <a:buNone/>
            </a:pPr>
            <a:r>
              <a:rPr lang="en-US" sz="550" b="1" dirty="0">
                <a:solidFill>
                  <a:srgbClr val="00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Cyan </a:t>
            </a:r>
            <a:pPr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Connected EP (excluded from count)</a:t>
            </a:r>
            <a:endParaRPr lang="en-US" sz="550" dirty="0"/>
          </a:p>
        </p:txBody>
      </p:sp>
      <p:sp>
        <p:nvSpPr>
          <p:cNvPr id="44" name="Shape 18"/>
          <p:cNvSpPr/>
          <p:nvPr/>
        </p:nvSpPr>
        <p:spPr>
          <a:xfrm>
            <a:off x="320040" y="411480"/>
            <a:ext cx="6217920" cy="1280160"/>
          </a:xfrm>
          <a:prstGeom prst="rect">
            <a:avLst/>
          </a:prstGeom>
          <a:solidFill>
            <a:srgbClr val="27AE60">
              <a:alpha val="5000"/>
            </a:srgbClr>
          </a:solidFill>
          <a:ln w="19050">
            <a:solidFill>
              <a:srgbClr val="27AE60"/>
            </a:solidFill>
            <a:prstDash val="dash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731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Sample: 1-16-512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301752"/>
            <a:ext cx="1463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920240" y="301752"/>
            <a:ext cx="1463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Skel R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3474720" y="301752"/>
            <a:ext cx="1463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Skel B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5029200" y="301752"/>
            <a:ext cx="1463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R+B Combined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8288" y="969264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</a:t>
            </a:r>
            <a:endParaRPr lang="en-US" sz="600" dirty="0"/>
          </a:p>
        </p:txBody>
      </p:sp>
      <p:pic>
        <p:nvPicPr>
          <p:cNvPr id="8" name="Image 0" descr="C:\Users\seub1\Desktop\[Paper] Diffusion virtual staining paper\analysis_output\paper_panels_depth\per_sample\1-16-512_g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57200"/>
            <a:ext cx="1463040" cy="1207008"/>
          </a:xfrm>
          <a:prstGeom prst="rect">
            <a:avLst/>
          </a:prstGeom>
        </p:spPr>
      </p:pic>
      <p:pic>
        <p:nvPicPr>
          <p:cNvPr id="9" name="Image 1" descr="C:\Users\seub1\Desktop\[Paper] Diffusion virtual staining paper\analysis_output\paper_panels_depth\per_sample\1-16-512_gt_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457200"/>
            <a:ext cx="1463040" cy="1207008"/>
          </a:xfrm>
          <a:prstGeom prst="rect">
            <a:avLst/>
          </a:prstGeom>
        </p:spPr>
      </p:pic>
      <p:pic>
        <p:nvPicPr>
          <p:cNvPr id="10" name="Image 2" descr="C:\Users\seub1\Desktop\[Paper] Diffusion virtual staining paper\analysis_output\paper_panels_depth\per_sample\1-16-512_gt_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457200"/>
            <a:ext cx="1463040" cy="1207008"/>
          </a:xfrm>
          <a:prstGeom prst="rect">
            <a:avLst/>
          </a:prstGeom>
        </p:spPr>
      </p:pic>
      <p:pic>
        <p:nvPicPr>
          <p:cNvPr id="11" name="Image 3" descr="C:\Users\seub1\Desktop\[Paper] Diffusion virtual staining paper\analysis_output\paper_panels_depth\per_sample\1-16-512_gt_com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457200"/>
            <a:ext cx="1463040" cy="120700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510528" y="64008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R: JN=28 EP=20(+3c)</a:t>
            </a:r>
            <a:endParaRPr lang="en-US" sz="450" dirty="0"/>
          </a:p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B: JN=29 EP=15(+2c)</a:t>
            </a:r>
            <a:endParaRPr lang="en-US" sz="450" dirty="0"/>
          </a:p>
        </p:txBody>
      </p:sp>
      <p:sp>
        <p:nvSpPr>
          <p:cNvPr id="13" name="Text 7"/>
          <p:cNvSpPr/>
          <p:nvPr/>
        </p:nvSpPr>
        <p:spPr>
          <a:xfrm>
            <a:off x="18288" y="235915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PBBDM</a:t>
            </a:r>
            <a:endParaRPr lang="en-US" sz="600" dirty="0"/>
          </a:p>
        </p:txBody>
      </p:sp>
      <p:pic>
        <p:nvPicPr>
          <p:cNvPr id="14" name="Image 4" descr="C:\Users\seub1\Desktop\[Paper] Diffusion virtual staining paper\analysis_output\paper_panels_depth\per_sample\1-16-512_PBBD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1847088"/>
            <a:ext cx="1463040" cy="1207008"/>
          </a:xfrm>
          <a:prstGeom prst="rect">
            <a:avLst/>
          </a:prstGeom>
        </p:spPr>
      </p:pic>
      <p:pic>
        <p:nvPicPr>
          <p:cNvPr id="15" name="Image 5" descr="C:\Users\seub1\Desktop\[Paper] Diffusion virtual staining paper\analysis_output\paper_panels_depth\per_sample\1-16-512_PBBDM_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0240" y="1847088"/>
            <a:ext cx="1463040" cy="1207008"/>
          </a:xfrm>
          <a:prstGeom prst="rect">
            <a:avLst/>
          </a:prstGeom>
        </p:spPr>
      </p:pic>
      <p:pic>
        <p:nvPicPr>
          <p:cNvPr id="16" name="Image 6" descr="C:\Users\seub1\Desktop\[Paper] Diffusion virtual staining paper\analysis_output\paper_panels_depth\per_sample\1-16-512_PBBDM_b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0" y="1847088"/>
            <a:ext cx="1463040" cy="1207008"/>
          </a:xfrm>
          <a:prstGeom prst="rect">
            <a:avLst/>
          </a:prstGeom>
        </p:spPr>
      </p:pic>
      <p:pic>
        <p:nvPicPr>
          <p:cNvPr id="17" name="Image 7" descr="C:\Users\seub1\Desktop\[Paper] Diffusion virtual staining paper\analysis_output\paper_panels_depth\per_sample\1-16-512_PBBDM_comb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1847088"/>
            <a:ext cx="1463040" cy="1207008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6510528" y="2029968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R: JN=15 EP=16(+4c)</a:t>
            </a:r>
            <a:endParaRPr lang="en-US" sz="450" dirty="0"/>
          </a:p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B: JN=27 EP=12(+4c)</a:t>
            </a:r>
            <a:endParaRPr lang="en-US" sz="450" dirty="0"/>
          </a:p>
        </p:txBody>
      </p:sp>
      <p:sp>
        <p:nvSpPr>
          <p:cNvPr id="19" name="Text 9"/>
          <p:cNvSpPr/>
          <p:nvPr/>
        </p:nvSpPr>
        <p:spPr>
          <a:xfrm>
            <a:off x="18288" y="3749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LBBDM</a:t>
            </a:r>
            <a:endParaRPr lang="en-US" sz="600" dirty="0"/>
          </a:p>
        </p:txBody>
      </p:sp>
      <p:pic>
        <p:nvPicPr>
          <p:cNvPr id="20" name="Image 8" descr="C:\Users\seub1\Desktop\[Paper] Diffusion virtual staining paper\analysis_output\paper_panels_depth\per_sample\1-16-512_LBBDM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5760" y="3236976"/>
            <a:ext cx="1463040" cy="1207008"/>
          </a:xfrm>
          <a:prstGeom prst="rect">
            <a:avLst/>
          </a:prstGeom>
        </p:spPr>
      </p:pic>
      <p:pic>
        <p:nvPicPr>
          <p:cNvPr id="21" name="Image 9" descr="C:\Users\seub1\Desktop\[Paper] Diffusion virtual staining paper\analysis_output\paper_panels_depth\per_sample\1-16-512_LBBDM_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20240" y="3236976"/>
            <a:ext cx="1463040" cy="1207008"/>
          </a:xfrm>
          <a:prstGeom prst="rect">
            <a:avLst/>
          </a:prstGeom>
        </p:spPr>
      </p:pic>
      <p:pic>
        <p:nvPicPr>
          <p:cNvPr id="22" name="Image 10" descr="C:\Users\seub1\Desktop\[Paper] Diffusion virtual staining paper\analysis_output\paper_panels_depth\per_sample\1-16-512_LBBDM_b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74720" y="3236976"/>
            <a:ext cx="1463040" cy="1207008"/>
          </a:xfrm>
          <a:prstGeom prst="rect">
            <a:avLst/>
          </a:prstGeom>
        </p:spPr>
      </p:pic>
      <p:pic>
        <p:nvPicPr>
          <p:cNvPr id="23" name="Image 11" descr="C:\Users\seub1\Desktop\[Paper] Diffusion virtual staining paper\analysis_output\paper_panels_depth\per_sample\1-16-512_LBBDM_comb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29200" y="3236976"/>
            <a:ext cx="1463040" cy="1207008"/>
          </a:xfrm>
          <a:prstGeom prst="rect">
            <a:avLst/>
          </a:prstGeom>
        </p:spPr>
      </p:pic>
      <p:sp>
        <p:nvSpPr>
          <p:cNvPr id="24" name="Text 10"/>
          <p:cNvSpPr/>
          <p:nvPr/>
        </p:nvSpPr>
        <p:spPr>
          <a:xfrm>
            <a:off x="6510528" y="3419856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R: JN=19 EP=13(+4c)</a:t>
            </a:r>
            <a:endParaRPr lang="en-US" sz="450" dirty="0"/>
          </a:p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B: JN=31 EP=14(+4c)</a:t>
            </a:r>
            <a:endParaRPr lang="en-US" sz="450" dirty="0"/>
          </a:p>
        </p:txBody>
      </p:sp>
      <p:sp>
        <p:nvSpPr>
          <p:cNvPr id="25" name="Text 11"/>
          <p:cNvSpPr/>
          <p:nvPr/>
        </p:nvSpPr>
        <p:spPr>
          <a:xfrm>
            <a:off x="18288" y="513892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LSGAN</a:t>
            </a:r>
            <a:endParaRPr lang="en-US" sz="600" dirty="0"/>
          </a:p>
        </p:txBody>
      </p:sp>
      <p:pic>
        <p:nvPicPr>
          <p:cNvPr id="26" name="Image 12" descr="C:\Users\seub1\Desktop\[Paper] Diffusion virtual staining paper\analysis_output\paper_panels_depth\per_sample\1-16-512_LSGAN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5760" y="4626864"/>
            <a:ext cx="1463040" cy="1207008"/>
          </a:xfrm>
          <a:prstGeom prst="rect">
            <a:avLst/>
          </a:prstGeom>
        </p:spPr>
      </p:pic>
      <p:pic>
        <p:nvPicPr>
          <p:cNvPr id="27" name="Image 13" descr="C:\Users\seub1\Desktop\[Paper] Diffusion virtual staining paper\analysis_output\paper_panels_depth\per_sample\1-16-512_LSGAN_r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20240" y="4626864"/>
            <a:ext cx="1463040" cy="1207008"/>
          </a:xfrm>
          <a:prstGeom prst="rect">
            <a:avLst/>
          </a:prstGeom>
        </p:spPr>
      </p:pic>
      <p:pic>
        <p:nvPicPr>
          <p:cNvPr id="28" name="Image 14" descr="C:\Users\seub1\Desktop\[Paper] Diffusion virtual staining paper\analysis_output\paper_panels_depth\per_sample\1-16-512_LSGAN_b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74720" y="4626864"/>
            <a:ext cx="1463040" cy="1207008"/>
          </a:xfrm>
          <a:prstGeom prst="rect">
            <a:avLst/>
          </a:prstGeom>
        </p:spPr>
      </p:pic>
      <p:pic>
        <p:nvPicPr>
          <p:cNvPr id="29" name="Image 15" descr="C:\Users\seub1\Desktop\[Paper] Diffusion virtual staining paper\analysis_output\paper_panels_depth\per_sample\1-16-512_LSGAN_comb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29200" y="4626864"/>
            <a:ext cx="1463040" cy="1207008"/>
          </a:xfrm>
          <a:prstGeom prst="rect">
            <a:avLst/>
          </a:prstGeom>
        </p:spPr>
      </p:pic>
      <p:sp>
        <p:nvSpPr>
          <p:cNvPr id="30" name="Text 12"/>
          <p:cNvSpPr/>
          <p:nvPr/>
        </p:nvSpPr>
        <p:spPr>
          <a:xfrm>
            <a:off x="6510528" y="4809744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R: JN=27 EP=12(+4c)</a:t>
            </a:r>
            <a:endParaRPr lang="en-US" sz="450" dirty="0"/>
          </a:p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B: JN=22 EP=18(+4c)</a:t>
            </a:r>
            <a:endParaRPr lang="en-US" sz="450" dirty="0"/>
          </a:p>
        </p:txBody>
      </p:sp>
      <p:sp>
        <p:nvSpPr>
          <p:cNvPr id="31" name="Text 13"/>
          <p:cNvSpPr/>
          <p:nvPr/>
        </p:nvSpPr>
        <p:spPr>
          <a:xfrm>
            <a:off x="18288" y="6528816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Pix2pix</a:t>
            </a:r>
            <a:endParaRPr lang="en-US" sz="600" dirty="0"/>
          </a:p>
        </p:txBody>
      </p:sp>
      <p:pic>
        <p:nvPicPr>
          <p:cNvPr id="32" name="Image 16" descr="C:\Users\seub1\Desktop\[Paper] Diffusion virtual staining paper\analysis_output\paper_panels_depth\per_sample\1-16-512_Pix2pix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65760" y="6016752"/>
            <a:ext cx="1463040" cy="1207008"/>
          </a:xfrm>
          <a:prstGeom prst="rect">
            <a:avLst/>
          </a:prstGeom>
        </p:spPr>
      </p:pic>
      <p:pic>
        <p:nvPicPr>
          <p:cNvPr id="33" name="Image 17" descr="C:\Users\seub1\Desktop\[Paper] Diffusion virtual staining paper\analysis_output\paper_panels_depth\per_sample\1-16-512_Pix2pix_r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20240" y="6016752"/>
            <a:ext cx="1463040" cy="1207008"/>
          </a:xfrm>
          <a:prstGeom prst="rect">
            <a:avLst/>
          </a:prstGeom>
        </p:spPr>
      </p:pic>
      <p:pic>
        <p:nvPicPr>
          <p:cNvPr id="34" name="Image 18" descr="C:\Users\seub1\Desktop\[Paper] Diffusion virtual staining paper\analysis_output\paper_panels_depth\per_sample\1-16-512_Pix2pix_b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474720" y="6016752"/>
            <a:ext cx="1463040" cy="1207008"/>
          </a:xfrm>
          <a:prstGeom prst="rect">
            <a:avLst/>
          </a:prstGeom>
        </p:spPr>
      </p:pic>
      <p:pic>
        <p:nvPicPr>
          <p:cNvPr id="35" name="Image 19" descr="C:\Users\seub1\Desktop\[Paper] Diffusion virtual staining paper\analysis_output\paper_panels_depth\per_sample\1-16-512_Pix2pix_comb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029200" y="6016752"/>
            <a:ext cx="1463040" cy="1207008"/>
          </a:xfrm>
          <a:prstGeom prst="rect">
            <a:avLst/>
          </a:prstGeom>
        </p:spPr>
      </p:pic>
      <p:sp>
        <p:nvSpPr>
          <p:cNvPr id="36" name="Text 14"/>
          <p:cNvSpPr/>
          <p:nvPr/>
        </p:nvSpPr>
        <p:spPr>
          <a:xfrm>
            <a:off x="6510528" y="6199632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R: JN=29 EP=23(+9c)</a:t>
            </a:r>
            <a:endParaRPr lang="en-US" sz="450" dirty="0"/>
          </a:p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B: JN=20 EP=15(+9c)</a:t>
            </a:r>
            <a:endParaRPr lang="en-US" sz="450" dirty="0"/>
          </a:p>
        </p:txBody>
      </p:sp>
      <p:sp>
        <p:nvSpPr>
          <p:cNvPr id="37" name="Text 15"/>
          <p:cNvSpPr/>
          <p:nvPr/>
        </p:nvSpPr>
        <p:spPr>
          <a:xfrm>
            <a:off x="18288" y="7918704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WGANGP</a:t>
            </a:r>
            <a:endParaRPr lang="en-US" sz="600" dirty="0"/>
          </a:p>
        </p:txBody>
      </p:sp>
      <p:pic>
        <p:nvPicPr>
          <p:cNvPr id="38" name="Image 20" descr="C:\Users\seub1\Desktop\[Paper] Diffusion virtual staining paper\analysis_output\paper_panels_depth\per_sample\1-16-512_WGANGP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65760" y="7406640"/>
            <a:ext cx="1463040" cy="1207008"/>
          </a:xfrm>
          <a:prstGeom prst="rect">
            <a:avLst/>
          </a:prstGeom>
        </p:spPr>
      </p:pic>
      <p:pic>
        <p:nvPicPr>
          <p:cNvPr id="39" name="Image 21" descr="C:\Users\seub1\Desktop\[Paper] Diffusion virtual staining paper\analysis_output\paper_panels_depth\per_sample\1-16-512_WGANGP_r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920240" y="7406640"/>
            <a:ext cx="1463040" cy="1207008"/>
          </a:xfrm>
          <a:prstGeom prst="rect">
            <a:avLst/>
          </a:prstGeom>
        </p:spPr>
      </p:pic>
      <p:pic>
        <p:nvPicPr>
          <p:cNvPr id="40" name="Image 22" descr="C:\Users\seub1\Desktop\[Paper] Diffusion virtual staining paper\analysis_output\paper_panels_depth\per_sample\1-16-512_WGANGP_b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474720" y="7406640"/>
            <a:ext cx="1463040" cy="1207008"/>
          </a:xfrm>
          <a:prstGeom prst="rect">
            <a:avLst/>
          </a:prstGeom>
        </p:spPr>
      </p:pic>
      <p:pic>
        <p:nvPicPr>
          <p:cNvPr id="41" name="Image 23" descr="C:\Users\seub1\Desktop\[Paper] Diffusion virtual staining paper\analysis_output\paper_panels_depth\per_sample\1-16-512_WGANGP_comb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029200" y="7406640"/>
            <a:ext cx="1463040" cy="1207008"/>
          </a:xfrm>
          <a:prstGeom prst="rect">
            <a:avLst/>
          </a:prstGeom>
        </p:spPr>
      </p:pic>
      <p:sp>
        <p:nvSpPr>
          <p:cNvPr id="42" name="Text 16"/>
          <p:cNvSpPr/>
          <p:nvPr/>
        </p:nvSpPr>
        <p:spPr>
          <a:xfrm>
            <a:off x="6510528" y="758952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R: JN=20 EP=18(+6c)</a:t>
            </a:r>
            <a:endParaRPr lang="en-US" sz="450" dirty="0"/>
          </a:p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B: JN=33 EP=15(+5c)</a:t>
            </a:r>
            <a:endParaRPr lang="en-US" sz="450" dirty="0"/>
          </a:p>
        </p:txBody>
      </p:sp>
      <p:sp>
        <p:nvSpPr>
          <p:cNvPr id="43" name="Text 17"/>
          <p:cNvSpPr/>
          <p:nvPr/>
        </p:nvSpPr>
        <p:spPr>
          <a:xfrm>
            <a:off x="182880" y="8823960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Magenta </a:t>
            </a:r>
            <a:pPr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JN   </a:t>
            </a:r>
            <a:pPr indent="0" marL="0">
              <a:buNone/>
            </a:pPr>
            <a:r>
              <a:rPr lang="en-US" sz="550" b="1" dirty="0">
                <a:solidFill>
                  <a:srgbClr val="CC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 </a:t>
            </a:r>
            <a:pPr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Real EP   </a:t>
            </a:r>
            <a:pPr indent="0" marL="0">
              <a:buNone/>
            </a:pPr>
            <a:r>
              <a:rPr lang="en-US" sz="550" b="1" dirty="0">
                <a:solidFill>
                  <a:srgbClr val="00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Cyan </a:t>
            </a:r>
            <a:pPr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Connected EP (excluded from count)</a:t>
            </a:r>
            <a:endParaRPr lang="en-US" sz="550" dirty="0"/>
          </a:p>
        </p:txBody>
      </p:sp>
      <p:sp>
        <p:nvSpPr>
          <p:cNvPr id="44" name="Shape 18"/>
          <p:cNvSpPr/>
          <p:nvPr/>
        </p:nvSpPr>
        <p:spPr>
          <a:xfrm>
            <a:off x="320040" y="411480"/>
            <a:ext cx="6217920" cy="1280160"/>
          </a:xfrm>
          <a:prstGeom prst="rect">
            <a:avLst/>
          </a:prstGeom>
          <a:solidFill>
            <a:srgbClr val="27AE60">
              <a:alpha val="5000"/>
            </a:srgbClr>
          </a:solidFill>
          <a:ln w="19050">
            <a:solidFill>
              <a:srgbClr val="27AE60"/>
            </a:solidFill>
            <a:prstDash val="dash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2026-03-24T02:42:53Z</dcterms:created>
  <dcterms:modified xsi:type="dcterms:W3CDTF">2026-03-24T02:42:53Z</dcterms:modified>
</cp:coreProperties>
</file>