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91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 Figure S2: Tangent-guided Gap Bridging Algorithm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28600" y="4114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Algorithm Overview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28600" y="621792"/>
            <a:ext cx="1170432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836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Detection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1005840"/>
            <a:ext cx="1024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Identify skeleton pixels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neighbor count = 1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490472" y="621792"/>
            <a:ext cx="1170432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65836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36192" y="8046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Tangent Estimation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63624" y="1005840"/>
            <a:ext cx="1024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10–20 px along skeleton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each endpoint;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direction vector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752344" y="621792"/>
            <a:ext cx="1170432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65836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798064" y="8046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Matching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25496" y="1005840"/>
            <a:ext cx="1024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 endpoints where: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distance &lt; 80 px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cos(θ) &gt; cos(60°)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vessel mask overlap ≥ 70%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371600" y="1239012"/>
            <a:ext cx="146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33472" y="1239012"/>
            <a:ext cx="146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176272"/>
            <a:ext cx="1444752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980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21284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94360" y="23591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Bézier Interpolation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" y="256032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 via cubic Bézier: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P(t) = (1−t)³P₁ + 3(1−t)²tC₁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+ 3(1−t)t²C₂ + t³P₂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C₁ = P₁ + 0.4d · t₁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176272" y="2176272"/>
            <a:ext cx="1444752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21992" y="221284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2221992" y="23591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Selection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49424" y="256032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(cos₁+cos₂)/2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− d/dₘₐₓ · 0.2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+ overlap · 0.2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Best-first, no endpoint reuse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048256" y="2020824"/>
            <a:ext cx="14630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AAAA"/>
                </a:solidFill>
              </a:rPr>
              <a:t>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30552" y="27934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" y="3822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Bridging Scheme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023360"/>
            <a:ext cx="2926080" cy="14630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04164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4360" y="4325112"/>
            <a:ext cx="1005840" cy="640080"/>
          </a:xfrm>
          <a:prstGeom prst="line">
            <a:avLst/>
          </a:prstGeom>
          <a:noFill/>
          <a:ln w="50800">
            <a:solidFill>
              <a:srgbClr val="E040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27048" y="4892040"/>
            <a:ext cx="109728" cy="109728"/>
          </a:xfrm>
          <a:prstGeom prst="ellipse">
            <a:avLst/>
          </a:prstGeom>
          <a:solidFill>
            <a:srgbClr val="FFDD00"/>
          </a:solidFill>
          <a:ln w="12700">
            <a:solidFill>
              <a:srgbClr val="FFDD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00200" y="4965192"/>
            <a:ext cx="457200" cy="274320"/>
          </a:xfrm>
          <a:prstGeom prst="line">
            <a:avLst/>
          </a:prstGeom>
          <a:noFill/>
          <a:ln w="19050">
            <a:solidFill>
              <a:srgbClr val="FFDD00"/>
            </a:solidFill>
            <a:prstDash val="dash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057400" y="5102352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CAA00"/>
                </a:solidFill>
              </a:rPr>
              <a:t>t₁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600200" y="4965192"/>
            <a:ext cx="502920" cy="228600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600200" y="5239512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</a:rPr>
              <a:t>gap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2039112" y="5120640"/>
            <a:ext cx="109728" cy="109728"/>
          </a:xfrm>
          <a:prstGeom prst="ellipse">
            <a:avLst/>
          </a:prstGeom>
          <a:solidFill>
            <a:srgbClr val="FFDD00"/>
          </a:solidFill>
          <a:ln w="12700">
            <a:solidFill>
              <a:srgbClr val="FFDD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93976" y="5175504"/>
            <a:ext cx="-457200" cy="-274320"/>
          </a:xfrm>
          <a:prstGeom prst="line">
            <a:avLst/>
          </a:prstGeom>
          <a:noFill/>
          <a:ln w="19050">
            <a:solidFill>
              <a:srgbClr val="FFDD00"/>
            </a:solidFill>
            <a:prstDash val="dash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1490472" y="4782312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CAA00"/>
                </a:solidFill>
              </a:rPr>
              <a:t>t₂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148840" y="5193792"/>
            <a:ext cx="822960" cy="182880"/>
          </a:xfrm>
          <a:prstGeom prst="line">
            <a:avLst/>
          </a:prstGeom>
          <a:noFill/>
          <a:ln w="50800">
            <a:solidFill>
              <a:srgbClr val="E040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46451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8888"/>
                </a:solidFill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703320" y="4023360"/>
            <a:ext cx="2926080" cy="14630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03320" y="404164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977640" y="4325112"/>
            <a:ext cx="1005840" cy="640080"/>
          </a:xfrm>
          <a:prstGeom prst="line">
            <a:avLst/>
          </a:prstGeom>
          <a:noFill/>
          <a:ln w="50800">
            <a:solidFill>
              <a:srgbClr val="E040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83480" y="4965192"/>
            <a:ext cx="502920" cy="228600"/>
          </a:xfrm>
          <a:prstGeom prst="line">
            <a:avLst/>
          </a:prstGeom>
          <a:noFill/>
          <a:ln w="38100">
            <a:solidFill>
              <a:srgbClr val="00CC88"/>
            </a:solidFill>
            <a:prstDash val="sysDash"/>
          </a:ln>
        </p:spPr>
      </p:sp>
      <p:sp>
        <p:nvSpPr>
          <p:cNvPr id="46" name="Text 44"/>
          <p:cNvSpPr/>
          <p:nvPr/>
        </p:nvSpPr>
        <p:spPr>
          <a:xfrm>
            <a:off x="4937760" y="5212080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AA66"/>
                </a:solidFill>
              </a:rPr>
              <a:t>Bézier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5486400" y="5193792"/>
            <a:ext cx="822960" cy="182880"/>
          </a:xfrm>
          <a:prstGeom prst="line">
            <a:avLst/>
          </a:prstGeom>
          <a:noFill/>
          <a:ln w="50800">
            <a:solidFill>
              <a:srgbClr val="E0404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Bridging Results: Per-layer Before → Bridging → After → Combined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32004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084832" y="32004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483864" y="32004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020056" y="32004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28600" y="9052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skeleton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(Bottom)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28600" y="2057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skeleton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(Top)</a:t>
            </a:r>
            <a:endParaRPr lang="en-US" sz="650" dirty="0"/>
          </a:p>
        </p:txBody>
      </p:sp>
      <p:pic>
        <p:nvPicPr>
          <p:cNvPr id="9" name="Image 0" descr="C:\Users\seub1\Desktop\[Paper] Diffusion virtual staining paper\analysis_output\paper_panels_depth\s2_r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02920"/>
            <a:ext cx="1325880" cy="10789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502920"/>
            <a:ext cx="1325880" cy="1078992"/>
          </a:xfrm>
          <a:prstGeom prst="rect">
            <a:avLst/>
          </a:prstGeom>
          <a:noFill/>
          <a:ln w="12700">
            <a:solidFill>
              <a:srgbClr val="CC3333"/>
            </a:solidFill>
            <a:prstDash val="solid"/>
          </a:ln>
        </p:spPr>
      </p:sp>
      <p:pic>
        <p:nvPicPr>
          <p:cNvPr id="11" name="Image 1" descr="C:\Users\seub1\Desktop\[Paper] Diffusion virtual staining paper\analysis_output\paper_panels_depth\s2_r_bridg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502920"/>
            <a:ext cx="1325880" cy="10789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084832" y="502920"/>
            <a:ext cx="1325880" cy="1078992"/>
          </a:xfrm>
          <a:prstGeom prst="rect">
            <a:avLst/>
          </a:prstGeom>
          <a:noFill/>
          <a:ln w="12700">
            <a:solidFill>
              <a:srgbClr val="CC3333"/>
            </a:solidFill>
            <a:prstDash val="solid"/>
          </a:ln>
        </p:spPr>
      </p:sp>
      <p:pic>
        <p:nvPicPr>
          <p:cNvPr id="13" name="Image 2" descr="C:\Users\seub1\Desktop\[Paper] Diffusion virtual staining paper\analysis_output\paper_panels_depth\s2_r_af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02920"/>
            <a:ext cx="1325880" cy="107899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83864" y="502920"/>
            <a:ext cx="1325880" cy="1078992"/>
          </a:xfrm>
          <a:prstGeom prst="rect">
            <a:avLst/>
          </a:prstGeom>
          <a:noFill/>
          <a:ln w="12700">
            <a:solidFill>
              <a:srgbClr val="CC3333"/>
            </a:solidFill>
            <a:prstDash val="solid"/>
          </a:ln>
        </p:spPr>
      </p:sp>
      <p:pic>
        <p:nvPicPr>
          <p:cNvPr id="15" name="Image 3" descr="C:\Users\seub1\Desktop\[Paper] Diffusion virtual staining paper\analysis_output\paper_panels_depth\s2_b_befo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655064"/>
            <a:ext cx="1325880" cy="107899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85800" y="1655064"/>
            <a:ext cx="1325880" cy="1078992"/>
          </a:xfrm>
          <a:prstGeom prst="rect">
            <a:avLst/>
          </a:prstGeom>
          <a:noFill/>
          <a:ln w="12700">
            <a:solidFill>
              <a:srgbClr val="3366CC"/>
            </a:solidFill>
            <a:prstDash val="solid"/>
          </a:ln>
        </p:spPr>
      </p:sp>
      <p:pic>
        <p:nvPicPr>
          <p:cNvPr id="17" name="Image 4" descr="C:\Users\seub1\Desktop\[Paper] Diffusion virtual staining paper\analysis_output\paper_panels_depth\s2_b_bridg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4832" y="1655064"/>
            <a:ext cx="1325880" cy="1078992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2084832" y="1655064"/>
            <a:ext cx="1325880" cy="1078992"/>
          </a:xfrm>
          <a:prstGeom prst="rect">
            <a:avLst/>
          </a:prstGeom>
          <a:noFill/>
          <a:ln w="12700">
            <a:solidFill>
              <a:srgbClr val="3366CC"/>
            </a:solidFill>
            <a:prstDash val="solid"/>
          </a:ln>
        </p:spPr>
      </p:sp>
      <p:pic>
        <p:nvPicPr>
          <p:cNvPr id="19" name="Image 5" descr="C:\Users\seub1\Desktop\[Paper] Diffusion virtual staining paper\analysis_output\paper_panels_depth\s2_b_aft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3864" y="1655064"/>
            <a:ext cx="1325880" cy="107899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3483864" y="1655064"/>
            <a:ext cx="1325880" cy="1078992"/>
          </a:xfrm>
          <a:prstGeom prst="rect">
            <a:avLst/>
          </a:prstGeom>
          <a:noFill/>
          <a:ln w="12700">
            <a:solidFill>
              <a:srgbClr val="3366CC"/>
            </a:solidFill>
            <a:prstDash val="solid"/>
          </a:ln>
        </p:spPr>
      </p:sp>
      <p:pic>
        <p:nvPicPr>
          <p:cNvPr id="21" name="Image 6" descr="C:\Users\seub1\Desktop\[Paper] Diffusion virtual staining paper\analysis_output\paper_panels_depth\s2_combin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0056" y="502920"/>
            <a:ext cx="1325880" cy="2231136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5020056" y="502920"/>
            <a:ext cx="1325880" cy="2231136"/>
          </a:xfrm>
          <a:prstGeom prst="rect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1993392" y="969264"/>
            <a:ext cx="1097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→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1993392" y="2121408"/>
            <a:ext cx="1097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→</a:t>
            </a:r>
            <a:endParaRPr lang="en-US" sz="1000" dirty="0"/>
          </a:p>
        </p:txBody>
      </p:sp>
      <p:sp>
        <p:nvSpPr>
          <p:cNvPr id="25" name="Text 16"/>
          <p:cNvSpPr/>
          <p:nvPr/>
        </p:nvSpPr>
        <p:spPr>
          <a:xfrm>
            <a:off x="3392424" y="969264"/>
            <a:ext cx="1097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→</a:t>
            </a:r>
            <a:endParaRPr lang="en-US" sz="1000" dirty="0"/>
          </a:p>
        </p:txBody>
      </p:sp>
      <p:sp>
        <p:nvSpPr>
          <p:cNvPr id="26" name="Text 17"/>
          <p:cNvSpPr/>
          <p:nvPr/>
        </p:nvSpPr>
        <p:spPr>
          <a:xfrm>
            <a:off x="3392424" y="2121408"/>
            <a:ext cx="1097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→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4855464" y="1545336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→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228600" y="296265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image: Combined skeleton on GT overlay</a:t>
            </a:r>
            <a:endParaRPr lang="en-US" sz="800" dirty="0"/>
          </a:p>
        </p:txBody>
      </p:sp>
      <p:pic>
        <p:nvPicPr>
          <p:cNvPr id="29" name="Image 7" descr="C:\Users\seub1\Desktop\[Paper] Diffusion virtual staining paper\analysis_output\paper_panels_depth\s2_combined_g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3163824"/>
            <a:ext cx="5029200" cy="402336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228600" y="724204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skel   </a:t>
            </a:r>
            <a:pPr algn="ctr" indent="0" marL="0">
              <a:buNone/>
            </a:pPr>
            <a:r>
              <a:rPr lang="en-US" sz="6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skel   </a:t>
            </a:r>
            <a:pPr algn="ctr" indent="0" marL="0">
              <a:buNone/>
            </a:pPr>
            <a:r>
              <a:rPr lang="en-US" sz="650" b="1" dirty="0">
                <a:solidFill>
                  <a:srgbClr val="FF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bridge   </a:t>
            </a:r>
            <a:pPr algn="ctr" indent="0" marL="0">
              <a:buNone/>
            </a:pPr>
            <a:r>
              <a:rPr lang="en-US" sz="650" b="1" dirty="0">
                <a:solidFill>
                  <a:srgbClr val="32F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bridge   </a:t>
            </a:r>
            <a:pPr algn="ctr" indent="0" marL="0">
              <a:buNone/>
            </a:pPr>
            <a:r>
              <a:rPr lang="en-US" sz="650" b="1" dirty="0">
                <a:solidFill>
                  <a:srgbClr val="B46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  </a:t>
            </a:r>
            <a:pPr algn="ctr" indent="0" marL="0">
              <a:buNone/>
            </a:pPr>
            <a:r>
              <a:rPr lang="en-US" sz="700" b="1" dirty="0">
                <a:solidFill>
                  <a:srgbClr val="CC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  </a:t>
            </a:r>
            <a:pPr algn="ctr" indent="0" marL="0">
              <a:buNone/>
            </a:pPr>
            <a:r>
              <a:rPr lang="en-US" sz="700" b="1" dirty="0">
                <a:solidFill>
                  <a:srgbClr val="00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Conn.   </a:t>
            </a:r>
            <a:pPr algn="ctr" indent="0" marL="0">
              <a:buNone/>
            </a:pPr>
            <a:r>
              <a:rPr lang="en-US" sz="70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</a:t>
            </a:r>
            <a:endParaRPr lang="en-US" sz="650" dirty="0"/>
          </a:p>
        </p:txBody>
      </p:sp>
      <p:sp>
        <p:nvSpPr>
          <p:cNvPr id="31" name="Text 21"/>
          <p:cNvSpPr/>
          <p:nvPr/>
        </p:nvSpPr>
        <p:spPr>
          <a:xfrm>
            <a:off x="228600" y="7424928"/>
            <a:ext cx="6400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EP=13(real)+3(conn), JN=15  |  B: EP=13(real)+6(conn), JN=9  |  Combined: EP(real)=26, JN=24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2026-03-25T05:08:39Z</dcterms:created>
  <dcterms:modified xsi:type="dcterms:W3CDTF">2026-03-25T05:08:39Z</dcterms:modified>
</cp:coreProperties>
</file>