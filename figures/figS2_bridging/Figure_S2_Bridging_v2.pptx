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73152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Supplementary Figure S2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2880" y="274320"/>
            <a:ext cx="6492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Tangent-guided Gap Bridging Algorithm for Depth-separated Skeletons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2880" y="4754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"/>
            <a:ext cx="1143000" cy="1051560"/>
          </a:xfrm>
          <a:prstGeom prst="roundRect">
            <a:avLst>
              <a:gd name="adj" fmla="val 5217"/>
            </a:avLst>
          </a:prstGeom>
          <a:solidFill>
            <a:srgbClr val="FDEDEC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85800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6344" y="1133856"/>
            <a:ext cx="10332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1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536192" y="1092708"/>
            <a:ext cx="1005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B"/>
                </a:solidFill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18488" y="658368"/>
            <a:ext cx="1143000" cy="1051560"/>
          </a:xfrm>
          <a:prstGeom prst="roundRect">
            <a:avLst>
              <a:gd name="adj" fmla="val 5217"/>
            </a:avLst>
          </a:prstGeom>
          <a:solidFill>
            <a:srgbClr val="FEF5E7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685800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1664208" y="8229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Tangent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73352" y="1133856"/>
            <a:ext cx="10332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 10–20 px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along skeleton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743200" y="1092708"/>
            <a:ext cx="1005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B"/>
                </a:solidFill>
              </a:rPr>
              <a:t>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25496" y="658368"/>
            <a:ext cx="1143000" cy="1051560"/>
          </a:xfrm>
          <a:prstGeom prst="roundRect">
            <a:avLst>
              <a:gd name="adj" fmla="val 5217"/>
            </a:avLst>
          </a:prstGeom>
          <a:solidFill>
            <a:srgbClr val="EAFAF1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71216" y="685800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871216" y="8229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880360" y="1133856"/>
            <a:ext cx="10332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&lt; 80 px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cosθ &gt; cos60°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overlap ≥ 70%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950208" y="1092708"/>
            <a:ext cx="1005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B"/>
                </a:solidFill>
              </a:rPr>
              <a:t>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32504" y="658368"/>
            <a:ext cx="1143000" cy="1051560"/>
          </a:xfrm>
          <a:prstGeom prst="roundRect">
            <a:avLst>
              <a:gd name="adj" fmla="val 5217"/>
            </a:avLst>
          </a:prstGeom>
          <a:solidFill>
            <a:srgbClr val="EBF5FB"/>
          </a:solidFill>
          <a:ln w="19050">
            <a:solidFill>
              <a:srgbClr val="2980B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78224" y="685800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078224" y="8229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Bézier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Interpolation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87368" y="1133856"/>
            <a:ext cx="10332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cubic Bézier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C₁ = P₁+0.4d·t₁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5157216" y="1092708"/>
            <a:ext cx="1005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B"/>
                </a:solidFill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39512" y="658368"/>
            <a:ext cx="1143000" cy="1051560"/>
          </a:xfrm>
          <a:prstGeom prst="roundRect">
            <a:avLst>
              <a:gd name="adj" fmla="val 5217"/>
            </a:avLst>
          </a:prstGeom>
          <a:solidFill>
            <a:srgbClr val="F4ECF7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85232" y="685800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285232" y="8229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&amp;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94376" y="1133856"/>
            <a:ext cx="10332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greedy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best-first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reuse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82880" y="1892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2093976"/>
            <a:ext cx="1920240" cy="164592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11226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468880" y="2093976"/>
            <a:ext cx="1920240" cy="1645920"/>
          </a:xfrm>
          <a:prstGeom prst="rect">
            <a:avLst/>
          </a:prstGeom>
          <a:solidFill>
            <a:srgbClr val="FFFDE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0" y="211226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0" y="2093976"/>
            <a:ext cx="1920240" cy="1645920"/>
          </a:xfrm>
          <a:prstGeom prst="rect">
            <a:avLst/>
          </a:prstGeom>
          <a:solidFill>
            <a:srgbClr val="F1F8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211226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94360" y="2459736"/>
            <a:ext cx="685800" cy="502920"/>
          </a:xfrm>
          <a:prstGeom prst="line">
            <a:avLst/>
          </a:prstGeom>
          <a:noFill/>
          <a:ln w="50800">
            <a:solidFill>
              <a:srgbClr val="E040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16152" y="2898648"/>
            <a:ext cx="109728" cy="109728"/>
          </a:xfrm>
          <a:prstGeom prst="ellipse">
            <a:avLst/>
          </a:prstGeom>
          <a:solidFill>
            <a:srgbClr val="FFDD00"/>
          </a:solidFill>
          <a:ln/>
        </p:spPr>
      </p:sp>
      <p:sp>
        <p:nvSpPr>
          <p:cNvPr id="38" name="Shape 36"/>
          <p:cNvSpPr/>
          <p:nvPr/>
        </p:nvSpPr>
        <p:spPr>
          <a:xfrm>
            <a:off x="1280160" y="2962656"/>
            <a:ext cx="365760" cy="228600"/>
          </a:xfrm>
          <a:prstGeom prst="line">
            <a:avLst/>
          </a:prstGeom>
          <a:noFill/>
          <a:ln w="19050">
            <a:solidFill>
              <a:srgbClr val="FFDD00"/>
            </a:solidFill>
            <a:prstDash val="dash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1645920" y="3054096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CAA00"/>
                </a:solidFill>
              </a:rPr>
              <a:t>t₁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280160" y="2962656"/>
            <a:ext cx="457200" cy="182880"/>
          </a:xfrm>
          <a:prstGeom prst="line">
            <a:avLst/>
          </a:prstGeom>
          <a:noFill/>
          <a:ln w="12700">
            <a:solidFill>
              <a:srgbClr val="BBBBBB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325880" y="3191256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AAAAAA"/>
                </a:solidFill>
              </a:rPr>
              <a:t>gap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1673352" y="3081528"/>
            <a:ext cx="109728" cy="109728"/>
          </a:xfrm>
          <a:prstGeom prst="ellipse">
            <a:avLst/>
          </a:prstGeom>
          <a:solidFill>
            <a:srgbClr val="FFDD00"/>
          </a:solidFill>
          <a:ln/>
        </p:spPr>
      </p:sp>
      <p:sp>
        <p:nvSpPr>
          <p:cNvPr id="43" name="Shape 41"/>
          <p:cNvSpPr/>
          <p:nvPr/>
        </p:nvSpPr>
        <p:spPr>
          <a:xfrm>
            <a:off x="1728216" y="3136392"/>
            <a:ext cx="-365760" cy="-228600"/>
          </a:xfrm>
          <a:prstGeom prst="line">
            <a:avLst/>
          </a:prstGeom>
          <a:noFill/>
          <a:ln w="19050">
            <a:solidFill>
              <a:srgbClr val="FFDD00"/>
            </a:solidFill>
            <a:prstDash val="dash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1234440" y="2761488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CAA00"/>
                </a:solidFill>
              </a:rPr>
              <a:t>t₂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783080" y="3145536"/>
            <a:ext cx="320040" cy="228600"/>
          </a:xfrm>
          <a:prstGeom prst="line">
            <a:avLst/>
          </a:prstGeom>
          <a:noFill/>
          <a:ln w="50800">
            <a:solidFill>
              <a:srgbClr val="E040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97480" y="2459736"/>
            <a:ext cx="685800" cy="502920"/>
          </a:xfrm>
          <a:prstGeom prst="line">
            <a:avLst/>
          </a:prstGeom>
          <a:noFill/>
          <a:ln w="50800">
            <a:solidFill>
              <a:srgbClr val="E0404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83280" y="2962656"/>
            <a:ext cx="457200" cy="182880"/>
          </a:xfrm>
          <a:prstGeom prst="line">
            <a:avLst/>
          </a:prstGeom>
          <a:noFill/>
          <a:ln w="38100">
            <a:solidFill>
              <a:srgbClr val="00CC88"/>
            </a:solidFill>
            <a:prstDash val="sysDash"/>
          </a:ln>
        </p:spPr>
      </p:sp>
      <p:sp>
        <p:nvSpPr>
          <p:cNvPr id="48" name="Text 46"/>
          <p:cNvSpPr/>
          <p:nvPr/>
        </p:nvSpPr>
        <p:spPr>
          <a:xfrm>
            <a:off x="3337560" y="3191256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AA66"/>
                </a:solidFill>
              </a:rPr>
              <a:t>Bézier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3319272" y="2898648"/>
            <a:ext cx="109728" cy="109728"/>
          </a:xfrm>
          <a:prstGeom prst="ellipse">
            <a:avLst/>
          </a:prstGeom>
          <a:solidFill>
            <a:srgbClr val="FFDD00"/>
          </a:solidFill>
          <a:ln/>
        </p:spPr>
      </p:sp>
      <p:sp>
        <p:nvSpPr>
          <p:cNvPr id="50" name="Shape 48"/>
          <p:cNvSpPr/>
          <p:nvPr/>
        </p:nvSpPr>
        <p:spPr>
          <a:xfrm>
            <a:off x="3776472" y="3081528"/>
            <a:ext cx="109728" cy="109728"/>
          </a:xfrm>
          <a:prstGeom prst="ellipse">
            <a:avLst/>
          </a:prstGeom>
          <a:solidFill>
            <a:srgbClr val="FFDD00"/>
          </a:solidFill>
          <a:ln/>
        </p:spPr>
      </p:sp>
      <p:sp>
        <p:nvSpPr>
          <p:cNvPr id="51" name="Shape 49"/>
          <p:cNvSpPr/>
          <p:nvPr/>
        </p:nvSpPr>
        <p:spPr>
          <a:xfrm>
            <a:off x="3886200" y="3145536"/>
            <a:ext cx="320040" cy="228600"/>
          </a:xfrm>
          <a:prstGeom prst="line">
            <a:avLst/>
          </a:prstGeom>
          <a:noFill/>
          <a:ln w="50800">
            <a:solidFill>
              <a:srgbClr val="E0404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00600" y="2459736"/>
            <a:ext cx="685800" cy="502920"/>
          </a:xfrm>
          <a:prstGeom prst="line">
            <a:avLst/>
          </a:prstGeom>
          <a:noFill/>
          <a:ln w="50800">
            <a:solidFill>
              <a:srgbClr val="E0404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86400" y="2962656"/>
            <a:ext cx="457200" cy="182880"/>
          </a:xfrm>
          <a:prstGeom prst="line">
            <a:avLst/>
          </a:prstGeom>
          <a:noFill/>
          <a:ln w="50800">
            <a:solidFill>
              <a:srgbClr val="E0404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43600" y="3145536"/>
            <a:ext cx="320040" cy="228600"/>
          </a:xfrm>
          <a:prstGeom prst="line">
            <a:avLst/>
          </a:prstGeom>
          <a:noFill/>
          <a:ln w="50800">
            <a:solidFill>
              <a:srgbClr val="E0404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04288" y="2825496"/>
            <a:ext cx="146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8888"/>
                </a:solidFill>
              </a:rPr>
              <a:t>→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4407408" y="2825496"/>
            <a:ext cx="146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8888"/>
                </a:solidFill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5486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Depth-separated Skeleton Bridging 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82880" y="256032"/>
            <a:ext cx="10058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Multi-color GT</a:t>
            </a:r>
            <a:endParaRPr lang="en-US" sz="600" dirty="0"/>
          </a:p>
        </p:txBody>
      </p:sp>
      <p:pic>
        <p:nvPicPr>
          <p:cNvPr id="4" name="Image 0" descr="C:\Users\seub1\Desktop\[Paper] Diffusion virtual staining paper\analysis_output\paper_panels_depth\s2c_g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384048"/>
            <a:ext cx="1005840" cy="804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384048"/>
            <a:ext cx="1005840" cy="804672"/>
          </a:xfrm>
          <a:prstGeom prst="rect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243584" y="256032"/>
            <a:ext cx="10058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channel</a:t>
            </a:r>
            <a:endParaRPr lang="en-US" sz="600" dirty="0"/>
          </a:p>
        </p:txBody>
      </p:sp>
      <p:pic>
        <p:nvPicPr>
          <p:cNvPr id="7" name="Image 1" descr="C:\Users\seub1\Desktop\[Paper] Diffusion virtual staining paper\analysis_output\paper_panels_depth\s2c_r_chan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384048"/>
            <a:ext cx="1005840" cy="8046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243584" y="384048"/>
            <a:ext cx="1005840" cy="804672"/>
          </a:xfrm>
          <a:prstGeom prst="rect">
            <a:avLst/>
          </a:prstGeom>
          <a:noFill/>
          <a:ln w="12700">
            <a:solidFill>
              <a:srgbClr val="CC333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304288" y="256032"/>
            <a:ext cx="10058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channel</a:t>
            </a:r>
            <a:endParaRPr lang="en-US" sz="600" dirty="0"/>
          </a:p>
        </p:txBody>
      </p:sp>
      <p:pic>
        <p:nvPicPr>
          <p:cNvPr id="10" name="Image 2" descr="C:\Users\seub1\Desktop\[Paper] Diffusion virtual staining paper\analysis_output\paper_panels_depth\s2c_b_chan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288" y="384048"/>
            <a:ext cx="1005840" cy="80467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304288" y="384048"/>
            <a:ext cx="1005840" cy="804672"/>
          </a:xfrm>
          <a:prstGeom prst="rect">
            <a:avLst/>
          </a:prstGeom>
          <a:noFill/>
          <a:ln w="12700">
            <a:solidFill>
              <a:srgbClr val="3366CC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48640" y="1170432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650" dirty="0"/>
          </a:p>
        </p:txBody>
      </p:sp>
      <p:sp>
        <p:nvSpPr>
          <p:cNvPr id="13" name="Text 8"/>
          <p:cNvSpPr/>
          <p:nvPr/>
        </p:nvSpPr>
        <p:spPr>
          <a:xfrm>
            <a:off x="2020824" y="1170432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</a:t>
            </a:r>
            <a:endParaRPr lang="en-US" sz="650" dirty="0"/>
          </a:p>
        </p:txBody>
      </p:sp>
      <p:sp>
        <p:nvSpPr>
          <p:cNvPr id="14" name="Text 9"/>
          <p:cNvSpPr/>
          <p:nvPr/>
        </p:nvSpPr>
        <p:spPr>
          <a:xfrm>
            <a:off x="3493008" y="1170432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650" dirty="0"/>
          </a:p>
        </p:txBody>
      </p:sp>
      <p:sp>
        <p:nvSpPr>
          <p:cNvPr id="15" name="Text 10"/>
          <p:cNvSpPr/>
          <p:nvPr/>
        </p:nvSpPr>
        <p:spPr>
          <a:xfrm>
            <a:off x="4965192" y="1170432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</a:t>
            </a:r>
            <a:endParaRPr lang="en-US" sz="650" dirty="0"/>
          </a:p>
        </p:txBody>
      </p:sp>
      <p:sp>
        <p:nvSpPr>
          <p:cNvPr id="16" name="Text 11"/>
          <p:cNvSpPr/>
          <p:nvPr/>
        </p:nvSpPr>
        <p:spPr>
          <a:xfrm>
            <a:off x="137160" y="17647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skel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(Bottom)</a:t>
            </a:r>
            <a:endParaRPr lang="en-US" sz="650" dirty="0"/>
          </a:p>
        </p:txBody>
      </p:sp>
      <p:pic>
        <p:nvPicPr>
          <p:cNvPr id="17" name="Image 3" descr="C:\Users\seub1\Desktop\[Paper] Diffusion virtual staining paper\analysis_output\paper_panels_depth\s2c_r_befo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335024"/>
            <a:ext cx="1417320" cy="113385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48640" y="1335024"/>
            <a:ext cx="1417320" cy="1133856"/>
          </a:xfrm>
          <a:prstGeom prst="rect">
            <a:avLst/>
          </a:prstGeom>
          <a:noFill/>
          <a:ln w="12700">
            <a:solidFill>
              <a:srgbClr val="CC3333"/>
            </a:solidFill>
            <a:prstDash val="solid"/>
          </a:ln>
        </p:spPr>
      </p:sp>
      <p:pic>
        <p:nvPicPr>
          <p:cNvPr id="19" name="Image 4" descr="C:\Users\seub1\Desktop\[Paper] Diffusion virtual staining paper\analysis_output\paper_panels_depth\s2c_r_bridg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0824" y="1335024"/>
            <a:ext cx="1417320" cy="1133856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2020824" y="1335024"/>
            <a:ext cx="1417320" cy="1133856"/>
          </a:xfrm>
          <a:prstGeom prst="rect">
            <a:avLst/>
          </a:prstGeom>
          <a:noFill/>
          <a:ln w="12700">
            <a:solidFill>
              <a:srgbClr val="CC3333"/>
            </a:solidFill>
            <a:prstDash val="solid"/>
          </a:ln>
        </p:spPr>
      </p:sp>
      <p:pic>
        <p:nvPicPr>
          <p:cNvPr id="21" name="Image 5" descr="C:\Users\seub1\Desktop\[Paper] Diffusion virtual staining paper\analysis_output\paper_panels_depth\s2c_r_aft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3008" y="1335024"/>
            <a:ext cx="1417320" cy="113385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3493008" y="1335024"/>
            <a:ext cx="1417320" cy="1133856"/>
          </a:xfrm>
          <a:prstGeom prst="rect">
            <a:avLst/>
          </a:prstGeom>
          <a:noFill/>
          <a:ln w="12700">
            <a:solidFill>
              <a:srgbClr val="CC3333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1956816" y="1828800"/>
            <a:ext cx="731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CCCC"/>
                </a:solidFill>
              </a:rPr>
              <a:t>→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3429000" y="1828800"/>
            <a:ext cx="731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CCCC"/>
                </a:solidFill>
              </a:rPr>
              <a:t>→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37160" y="29535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skel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(Top)</a:t>
            </a:r>
            <a:endParaRPr lang="en-US" sz="650" dirty="0"/>
          </a:p>
        </p:txBody>
      </p:sp>
      <p:pic>
        <p:nvPicPr>
          <p:cNvPr id="26" name="Image 6" descr="C:\Users\seub1\Desktop\[Paper] Diffusion virtual staining paper\analysis_output\paper_panels_depth\s2c_b_befo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2523744"/>
            <a:ext cx="1417320" cy="1133856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548640" y="2523744"/>
            <a:ext cx="1417320" cy="1133856"/>
          </a:xfrm>
          <a:prstGeom prst="rect">
            <a:avLst/>
          </a:prstGeom>
          <a:noFill/>
          <a:ln w="12700">
            <a:solidFill>
              <a:srgbClr val="3366CC"/>
            </a:solidFill>
            <a:prstDash val="solid"/>
          </a:ln>
        </p:spPr>
      </p:sp>
      <p:pic>
        <p:nvPicPr>
          <p:cNvPr id="28" name="Image 7" descr="C:\Users\seub1\Desktop\[Paper] Diffusion virtual staining paper\analysis_output\paper_panels_depth\s2c_b_bridgin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0824" y="2523744"/>
            <a:ext cx="1417320" cy="1133856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2020824" y="2523744"/>
            <a:ext cx="1417320" cy="1133856"/>
          </a:xfrm>
          <a:prstGeom prst="rect">
            <a:avLst/>
          </a:prstGeom>
          <a:noFill/>
          <a:ln w="12700">
            <a:solidFill>
              <a:srgbClr val="3366CC"/>
            </a:solidFill>
            <a:prstDash val="solid"/>
          </a:ln>
        </p:spPr>
      </p:sp>
      <p:pic>
        <p:nvPicPr>
          <p:cNvPr id="30" name="Image 8" descr="C:\Users\seub1\Desktop\[Paper] Diffusion virtual staining paper\analysis_output\paper_panels_depth\s2c_b_aft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93008" y="2523744"/>
            <a:ext cx="1417320" cy="1133856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3493008" y="2523744"/>
            <a:ext cx="1417320" cy="1133856"/>
          </a:xfrm>
          <a:prstGeom prst="rect">
            <a:avLst/>
          </a:prstGeom>
          <a:noFill/>
          <a:ln w="12700">
            <a:solidFill>
              <a:srgbClr val="3366CC"/>
            </a:solidFill>
            <a:prstDash val="solid"/>
          </a:ln>
        </p:spPr>
      </p:sp>
      <p:sp>
        <p:nvSpPr>
          <p:cNvPr id="32" name="Text 21"/>
          <p:cNvSpPr/>
          <p:nvPr/>
        </p:nvSpPr>
        <p:spPr>
          <a:xfrm>
            <a:off x="1956816" y="3017520"/>
            <a:ext cx="731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CCCC"/>
                </a:solidFill>
              </a:rPr>
              <a:t>→</a:t>
            </a:r>
            <a:endParaRPr lang="en-US" sz="900" dirty="0"/>
          </a:p>
        </p:txBody>
      </p:sp>
      <p:sp>
        <p:nvSpPr>
          <p:cNvPr id="33" name="Text 22"/>
          <p:cNvSpPr/>
          <p:nvPr/>
        </p:nvSpPr>
        <p:spPr>
          <a:xfrm>
            <a:off x="3429000" y="3017520"/>
            <a:ext cx="731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CCCC"/>
                </a:solidFill>
              </a:rPr>
              <a:t>→</a:t>
            </a:r>
            <a:endParaRPr lang="en-US" sz="900" dirty="0"/>
          </a:p>
        </p:txBody>
      </p:sp>
      <p:pic>
        <p:nvPicPr>
          <p:cNvPr id="34" name="Image 9" descr="C:\Users\seub1\Desktop\[Paper] Diffusion virtual staining paper\analysis_output\paper_panels_depth\s2c_combin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65192" y="1335024"/>
            <a:ext cx="1417320" cy="2322576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4965192" y="1335024"/>
            <a:ext cx="1417320" cy="2322576"/>
          </a:xfrm>
          <a:prstGeom prst="rect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36" name="Text 24"/>
          <p:cNvSpPr/>
          <p:nvPr/>
        </p:nvSpPr>
        <p:spPr>
          <a:xfrm>
            <a:off x="4901184" y="2423160"/>
            <a:ext cx="1097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CCCC"/>
                </a:solidFill>
              </a:rPr>
              <a:t>→</a:t>
            </a:r>
            <a:endParaRPr lang="en-US" sz="900" dirty="0"/>
          </a:p>
        </p:txBody>
      </p:sp>
      <p:sp>
        <p:nvSpPr>
          <p:cNvPr id="37" name="Text 25"/>
          <p:cNvSpPr/>
          <p:nvPr/>
        </p:nvSpPr>
        <p:spPr>
          <a:xfrm>
            <a:off x="182880" y="37947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image overlay</a:t>
            </a:r>
            <a:endParaRPr lang="en-US" sz="700" dirty="0"/>
          </a:p>
        </p:txBody>
      </p:sp>
      <p:pic>
        <p:nvPicPr>
          <p:cNvPr id="38" name="Image 10" descr="C:\Users\seub1\Desktop\[Paper] Diffusion virtual staining paper\analysis_output\paper_panels_depth\s2c_full_g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34440" y="3959352"/>
            <a:ext cx="4389120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731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(cont.)  Zoomed Examples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 rot="16200000">
            <a:off x="45720" y="13258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 rot="16200000">
            <a:off x="45720" y="330098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 rot="16200000">
            <a:off x="45720" y="527608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 + Skeleton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38912" y="292608"/>
            <a:ext cx="1920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1 (left vessels)</a:t>
            </a:r>
            <a:endParaRPr lang="en-US" sz="700" dirty="0"/>
          </a:p>
        </p:txBody>
      </p:sp>
      <p:pic>
        <p:nvPicPr>
          <p:cNvPr id="7" name="Image 0" descr="C:\Users\seub1\Desktop\[Paper] Diffusion virtual staining paper\analysis_output\paper_panels_depth\s2c_crop1_g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457200"/>
            <a:ext cx="1920240" cy="1920240"/>
          </a:xfrm>
          <a:prstGeom prst="rect">
            <a:avLst/>
          </a:prstGeom>
        </p:spPr>
      </p:pic>
      <p:pic>
        <p:nvPicPr>
          <p:cNvPr id="8" name="Image 1" descr="C:\Users\seub1\Desktop\[Paper] Diffusion virtual staining paper\analysis_output\paper_panels_depth\s2c_crop1_sk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432304"/>
            <a:ext cx="1920240" cy="1920240"/>
          </a:xfrm>
          <a:prstGeom prst="rect">
            <a:avLst/>
          </a:prstGeom>
        </p:spPr>
      </p:pic>
      <p:pic>
        <p:nvPicPr>
          <p:cNvPr id="9" name="Image 2" descr="C:\Users\seub1\Desktop\[Paper] Diffusion virtual staining paper\analysis_output\paper_panels_depth\s2c_crop1_over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4407408"/>
            <a:ext cx="1920240" cy="19202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468880" y="292608"/>
            <a:ext cx="1920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2 (crossing)</a:t>
            </a:r>
            <a:endParaRPr lang="en-US" sz="700" dirty="0"/>
          </a:p>
        </p:txBody>
      </p:sp>
      <p:pic>
        <p:nvPicPr>
          <p:cNvPr id="11" name="Image 3" descr="C:\Users\seub1\Desktop\[Paper] Diffusion virtual staining paper\analysis_output\paper_panels_depth\s2c_crop2_g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457200"/>
            <a:ext cx="1920240" cy="1920240"/>
          </a:xfrm>
          <a:prstGeom prst="rect">
            <a:avLst/>
          </a:prstGeom>
        </p:spPr>
      </p:pic>
      <p:pic>
        <p:nvPicPr>
          <p:cNvPr id="12" name="Image 4" descr="C:\Users\seub1\Desktop\[Paper] Diffusion virtual staining paper\analysis_output\paper_panels_depth\s2c_crop2_ske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0" y="2432304"/>
            <a:ext cx="1920240" cy="1920240"/>
          </a:xfrm>
          <a:prstGeom prst="rect">
            <a:avLst/>
          </a:prstGeom>
        </p:spPr>
      </p:pic>
      <p:pic>
        <p:nvPicPr>
          <p:cNvPr id="13" name="Image 5" descr="C:\Users\seub1\Desktop\[Paper] Diffusion virtual staining paper\analysis_output\paper_panels_depth\s2c_crop2_overl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0" y="4407408"/>
            <a:ext cx="1920240" cy="192024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498848" y="292608"/>
            <a:ext cx="1920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3 (top area)</a:t>
            </a:r>
            <a:endParaRPr lang="en-US" sz="700" dirty="0"/>
          </a:p>
        </p:txBody>
      </p:sp>
      <p:pic>
        <p:nvPicPr>
          <p:cNvPr id="15" name="Image 6" descr="C:\Users\seub1\Desktop\[Paper] Diffusion virtual staining paper\analysis_output\paper_panels_depth\s2c_crop3_g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8848" y="457200"/>
            <a:ext cx="1920240" cy="1920240"/>
          </a:xfrm>
          <a:prstGeom prst="rect">
            <a:avLst/>
          </a:prstGeom>
        </p:spPr>
      </p:pic>
      <p:pic>
        <p:nvPicPr>
          <p:cNvPr id="16" name="Image 7" descr="C:\Users\seub1\Desktop\[Paper] Diffusion virtual staining paper\analysis_output\paper_panels_depth\s2c_crop3_ske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8848" y="2432304"/>
            <a:ext cx="1920240" cy="1920240"/>
          </a:xfrm>
          <a:prstGeom prst="rect">
            <a:avLst/>
          </a:prstGeom>
        </p:spPr>
      </p:pic>
      <p:pic>
        <p:nvPicPr>
          <p:cNvPr id="17" name="Image 8" descr="C:\Users\seub1\Desktop\[Paper] Diffusion virtual staining paper\analysis_output\paper_panels_depth\s2c_crop3_overla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8848" y="4407408"/>
            <a:ext cx="1920240" cy="1920240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182880" y="6583680"/>
            <a:ext cx="6492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skel   </a:t>
            </a:r>
            <a:pPr algn="ctr" indent="0" marL="0">
              <a:buNone/>
            </a:pPr>
            <a:r>
              <a:rPr lang="en-US" sz="65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skel   </a:t>
            </a:r>
            <a:pPr algn="ctr" indent="0" marL="0">
              <a:buNone/>
            </a:pPr>
            <a:r>
              <a:rPr lang="en-US" sz="650" b="1" dirty="0">
                <a:solidFill>
                  <a:srgbClr val="FFB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bridge   </a:t>
            </a:r>
            <a:pPr algn="ctr" indent="0" marL="0">
              <a:buNone/>
            </a:pPr>
            <a:r>
              <a:rPr lang="en-US" sz="650" b="1" dirty="0">
                <a:solidFill>
                  <a:srgbClr val="32FF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bridge   </a:t>
            </a:r>
            <a:pPr algn="ctr" indent="0" marL="0">
              <a:buNone/>
            </a:pPr>
            <a:r>
              <a:rPr lang="en-US" sz="650" b="1" dirty="0">
                <a:solidFill>
                  <a:srgbClr val="B46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  </a:t>
            </a:r>
            <a:pPr algn="ctr" indent="0" marL="0">
              <a:buNone/>
            </a:pPr>
            <a:r>
              <a:rPr lang="en-US" sz="700" b="1" dirty="0">
                <a:solidFill>
                  <a:srgbClr val="CC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  </a:t>
            </a:r>
            <a:pPr algn="ctr" indent="0" marL="0">
              <a:buNone/>
            </a:pPr>
            <a:r>
              <a:rPr lang="en-US" sz="700" b="1" dirty="0">
                <a:solidFill>
                  <a:srgbClr val="00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Conn.   </a:t>
            </a:r>
            <a:pPr algn="ctr" indent="0" marL="0">
              <a:buNone/>
            </a:pPr>
            <a:r>
              <a:rPr lang="en-US" sz="70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</a:t>
            </a:r>
            <a:pPr algn="ctr" indent="0" marL="0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2026-03-25T05:17:10Z</dcterms:created>
  <dcterms:modified xsi:type="dcterms:W3CDTF">2026-03-25T05:17:10Z</dcterms:modified>
</cp:coreProperties>
</file>