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6858000" cy="9144000"/>
  <p:notesSz cx="9144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7315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Per-layer Concordance: Area &amp; Length (R² Scatter)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28600" y="36576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RGB Channel Separation: R&gt;B = Bottom, B&gt;R = Top | N=228 | Bottom 20% excluded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Vessel Area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084832" y="5943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Vessel Length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 rot="16200000">
            <a:off x="228600" y="1417320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PBBDM</a:t>
            </a:r>
            <a:endParaRPr lang="en-US" sz="1400" dirty="0"/>
          </a:p>
        </p:txBody>
      </p:sp>
      <p:pic>
        <p:nvPicPr>
          <p:cNvPr id="7" name="Image 0" descr="C:\Users\seub1\Desktop\[Paper] Diffusion virtual staining paper\analysis_output\scatter_panels_v2\scatter_PBBDM_are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841248"/>
            <a:ext cx="1371600" cy="1371600"/>
          </a:xfrm>
          <a:prstGeom prst="rect">
            <a:avLst/>
          </a:prstGeom>
        </p:spPr>
      </p:pic>
      <p:pic>
        <p:nvPicPr>
          <p:cNvPr id="8" name="Image 1" descr="C:\Users\seub1\Desktop\[Paper] Diffusion virtual staining paper\analysis_output\scatter_panels_v2\scatter_PBBDM_lengt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4832" y="841248"/>
            <a:ext cx="1371600" cy="1371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 rot="16200000">
            <a:off x="228600" y="2843784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LBBDM</a:t>
            </a:r>
            <a:endParaRPr lang="en-US" sz="1400" dirty="0"/>
          </a:p>
        </p:txBody>
      </p:sp>
      <p:pic>
        <p:nvPicPr>
          <p:cNvPr id="10" name="Image 2" descr="C:\Users\seub1\Desktop\[Paper] Diffusion virtual staining paper\analysis_output\scatter_panels_v2\scatter_LBBDM_are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267712"/>
            <a:ext cx="1371600" cy="1371600"/>
          </a:xfrm>
          <a:prstGeom prst="rect">
            <a:avLst/>
          </a:prstGeom>
        </p:spPr>
      </p:pic>
      <p:pic>
        <p:nvPicPr>
          <p:cNvPr id="11" name="Image 3" descr="C:\Users\seub1\Desktop\[Paper] Diffusion virtual staining paper\analysis_output\scatter_panels_v2\scatter_LBBDM_lengt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4832" y="2267712"/>
            <a:ext cx="1371600" cy="13716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 rot="16200000">
            <a:off x="228600" y="4270248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WGANGP</a:t>
            </a:r>
            <a:endParaRPr lang="en-US" sz="1400" dirty="0"/>
          </a:p>
        </p:txBody>
      </p:sp>
      <p:pic>
        <p:nvPicPr>
          <p:cNvPr id="13" name="Image 4" descr="C:\Users\seub1\Desktop\[Paper] Diffusion virtual staining paper\analysis_output\scatter_panels_v2\scatter_WGANGP_are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694176"/>
            <a:ext cx="1371600" cy="1371600"/>
          </a:xfrm>
          <a:prstGeom prst="rect">
            <a:avLst/>
          </a:prstGeom>
        </p:spPr>
      </p:pic>
      <p:pic>
        <p:nvPicPr>
          <p:cNvPr id="14" name="Image 5" descr="C:\Users\seub1\Desktop\[Paper] Diffusion virtual staining paper\analysis_output\scatter_panels_v2\scatter_WGANGP_length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84832" y="3694176"/>
            <a:ext cx="1371600" cy="137160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 rot="16200000">
            <a:off x="228600" y="5696712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Pix2pix</a:t>
            </a:r>
            <a:endParaRPr lang="en-US" sz="1400" dirty="0"/>
          </a:p>
        </p:txBody>
      </p:sp>
      <p:pic>
        <p:nvPicPr>
          <p:cNvPr id="16" name="Image 6" descr="C:\Users\seub1\Desktop\[Paper] Diffusion virtual staining paper\analysis_output\scatter_panels_v2\scatter_Pix2pix_are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5120640"/>
            <a:ext cx="1371600" cy="1371600"/>
          </a:xfrm>
          <a:prstGeom prst="rect">
            <a:avLst/>
          </a:prstGeom>
        </p:spPr>
      </p:pic>
      <p:pic>
        <p:nvPicPr>
          <p:cNvPr id="17" name="Image 7" descr="C:\Users\seub1\Desktop\[Paper] Diffusion virtual staining paper\analysis_output\scatter_panels_v2\scatter_Pix2pix_length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84832" y="5120640"/>
            <a:ext cx="1371600" cy="1371600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 rot="16200000">
            <a:off x="228600" y="7123176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LSGAN</a:t>
            </a:r>
            <a:endParaRPr lang="en-US" sz="1400" dirty="0"/>
          </a:p>
        </p:txBody>
      </p:sp>
      <p:pic>
        <p:nvPicPr>
          <p:cNvPr id="19" name="Image 8" descr="C:\Users\seub1\Desktop\[Paper] Diffusion virtual staining paper\analysis_output\scatter_panels_v2\scatter_LSGAN_area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" y="6547104"/>
            <a:ext cx="1371600" cy="1371600"/>
          </a:xfrm>
          <a:prstGeom prst="rect">
            <a:avLst/>
          </a:prstGeom>
        </p:spPr>
      </p:pic>
      <p:pic>
        <p:nvPicPr>
          <p:cNvPr id="20" name="Image 9" descr="C:\Users\seub1\Desktop\[Paper] Diffusion virtual staining paper\analysis_output\scatter_panels_v2\scatter_LSGAN_length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84832" y="6547104"/>
            <a:ext cx="1371600" cy="1371600"/>
          </a:xfrm>
          <a:prstGeom prst="rect">
            <a:avLst/>
          </a:prstGeom>
        </p:spPr>
      </p:pic>
      <p:sp>
        <p:nvSpPr>
          <p:cNvPr id="21" name="Text 9"/>
          <p:cNvSpPr/>
          <p:nvPr/>
        </p:nvSpPr>
        <p:spPr>
          <a:xfrm>
            <a:off x="3593592" y="594360"/>
            <a:ext cx="34655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Per-layer Metrics</a:t>
            </a:r>
            <a:endParaRPr lang="en-US" sz="1600" dirty="0"/>
          </a:p>
        </p:txBody>
      </p:sp>
      <p:sp>
        <p:nvSpPr>
          <p:cNvPr id="22" name="Shape 10"/>
          <p:cNvSpPr/>
          <p:nvPr/>
        </p:nvSpPr>
        <p:spPr>
          <a:xfrm>
            <a:off x="4096512" y="850392"/>
            <a:ext cx="493776" cy="201168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23" name="Text 11"/>
          <p:cNvSpPr/>
          <p:nvPr/>
        </p:nvSpPr>
        <p:spPr>
          <a:xfrm>
            <a:off x="4096512" y="850392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 R²</a:t>
            </a:r>
            <a:endParaRPr lang="en-US" sz="1000" dirty="0"/>
          </a:p>
        </p:txBody>
      </p:sp>
      <p:sp>
        <p:nvSpPr>
          <p:cNvPr id="24" name="Shape 12"/>
          <p:cNvSpPr/>
          <p:nvPr/>
        </p:nvSpPr>
        <p:spPr>
          <a:xfrm>
            <a:off x="4590288" y="850392"/>
            <a:ext cx="493776" cy="201168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25" name="Text 13"/>
          <p:cNvSpPr/>
          <p:nvPr/>
        </p:nvSpPr>
        <p:spPr>
          <a:xfrm>
            <a:off x="4590288" y="850392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Length R²</a:t>
            </a:r>
            <a:endParaRPr lang="en-US" sz="1000" dirty="0"/>
          </a:p>
        </p:txBody>
      </p:sp>
      <p:sp>
        <p:nvSpPr>
          <p:cNvPr id="26" name="Shape 14"/>
          <p:cNvSpPr/>
          <p:nvPr/>
        </p:nvSpPr>
        <p:spPr>
          <a:xfrm>
            <a:off x="5084064" y="850392"/>
            <a:ext cx="493776" cy="201168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27" name="Text 15"/>
          <p:cNvSpPr/>
          <p:nvPr/>
        </p:nvSpPr>
        <p:spPr>
          <a:xfrm>
            <a:off x="5084064" y="850392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JN MAE</a:t>
            </a:r>
            <a:endParaRPr lang="en-US" sz="1000" dirty="0"/>
          </a:p>
        </p:txBody>
      </p:sp>
      <p:sp>
        <p:nvSpPr>
          <p:cNvPr id="28" name="Shape 16"/>
          <p:cNvSpPr/>
          <p:nvPr/>
        </p:nvSpPr>
        <p:spPr>
          <a:xfrm>
            <a:off x="5577840" y="850392"/>
            <a:ext cx="493776" cy="201168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29" name="Text 17"/>
          <p:cNvSpPr/>
          <p:nvPr/>
        </p:nvSpPr>
        <p:spPr>
          <a:xfrm>
            <a:off x="5577840" y="850392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JN ±3%</a:t>
            </a:r>
            <a:endParaRPr lang="en-US" sz="1000" dirty="0"/>
          </a:p>
        </p:txBody>
      </p:sp>
      <p:sp>
        <p:nvSpPr>
          <p:cNvPr id="30" name="Shape 18"/>
          <p:cNvSpPr/>
          <p:nvPr/>
        </p:nvSpPr>
        <p:spPr>
          <a:xfrm>
            <a:off x="6071616" y="850392"/>
            <a:ext cx="493776" cy="20116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1" name="Text 19"/>
          <p:cNvSpPr/>
          <p:nvPr/>
        </p:nvSpPr>
        <p:spPr>
          <a:xfrm>
            <a:off x="6071616" y="850392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 MAE</a:t>
            </a:r>
            <a:endParaRPr lang="en-US" sz="1000" dirty="0"/>
          </a:p>
        </p:txBody>
      </p:sp>
      <p:sp>
        <p:nvSpPr>
          <p:cNvPr id="32" name="Shape 20"/>
          <p:cNvSpPr/>
          <p:nvPr/>
        </p:nvSpPr>
        <p:spPr>
          <a:xfrm>
            <a:off x="6565392" y="850392"/>
            <a:ext cx="493776" cy="20116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3" name="Text 21"/>
          <p:cNvSpPr/>
          <p:nvPr/>
        </p:nvSpPr>
        <p:spPr>
          <a:xfrm>
            <a:off x="6565392" y="850392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 ±3%</a:t>
            </a:r>
            <a:endParaRPr lang="en-US" sz="10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93592" y="1060704"/>
          <a:ext cx="3465576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246888"/>
                <a:gridCol w="246888"/>
                <a:gridCol w="246888"/>
                <a:gridCol w="246888"/>
                <a:gridCol w="246888"/>
                <a:gridCol w="246888"/>
                <a:gridCol w="246888"/>
                <a:gridCol w="246888"/>
                <a:gridCol w="246888"/>
                <a:gridCol w="246888"/>
                <a:gridCol w="246888"/>
                <a:gridCol w="246888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PBBDM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.879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.973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.841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.933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E44A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LBBDM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.903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.979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.893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.939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Pix2pix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.846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.901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.828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.881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LSGAN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.755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.801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.698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.792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67E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WGANGP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.618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.802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.596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.700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7315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Per-layer Concordance: Junctions &amp; Endpoints (Bland-Altman)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28600" y="36576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metrics (0-30 range): MAE + % within ±3 are more appropriate than R²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14447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Junctions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157984" y="594360"/>
            <a:ext cx="14447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 rot="16200000">
            <a:off x="228600" y="1373632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PBBDM</a:t>
            </a:r>
            <a:endParaRPr lang="en-US" sz="1400" dirty="0"/>
          </a:p>
        </p:txBody>
      </p:sp>
      <p:pic>
        <p:nvPicPr>
          <p:cNvPr id="7" name="Image 0" descr="C:\Users\seub1\Desktop\[Paper] Diffusion virtual staining paper\analysis_output\scatter_panels_v2\ba_PBBDM_junc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841248"/>
            <a:ext cx="1444752" cy="1284224"/>
          </a:xfrm>
          <a:prstGeom prst="rect">
            <a:avLst/>
          </a:prstGeom>
        </p:spPr>
      </p:pic>
      <p:pic>
        <p:nvPicPr>
          <p:cNvPr id="8" name="Image 1" descr="C:\Users\seub1\Desktop\[Paper] Diffusion virtual staining paper\analysis_output\scatter_panels_v2\ba_PBBDM_endpoin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7984" y="841248"/>
            <a:ext cx="1444752" cy="128422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 rot="16200000">
            <a:off x="228600" y="2712720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LBBDM</a:t>
            </a:r>
            <a:endParaRPr lang="en-US" sz="1400" dirty="0"/>
          </a:p>
        </p:txBody>
      </p:sp>
      <p:pic>
        <p:nvPicPr>
          <p:cNvPr id="10" name="Image 2" descr="C:\Users\seub1\Desktop\[Paper] Diffusion virtual staining paper\analysis_output\scatter_panels_v2\ba_LBBDM_junction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80336"/>
            <a:ext cx="1444752" cy="1284224"/>
          </a:xfrm>
          <a:prstGeom prst="rect">
            <a:avLst/>
          </a:prstGeom>
        </p:spPr>
      </p:pic>
      <p:pic>
        <p:nvPicPr>
          <p:cNvPr id="11" name="Image 3" descr="C:\Users\seub1\Desktop\[Paper] Diffusion virtual staining paper\analysis_output\scatter_panels_v2\ba_LBBDM_endpoint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7984" y="2180336"/>
            <a:ext cx="1444752" cy="128422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 rot="16200000">
            <a:off x="228600" y="4051808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WGANGP</a:t>
            </a:r>
            <a:endParaRPr lang="en-US" sz="1400" dirty="0"/>
          </a:p>
        </p:txBody>
      </p:sp>
      <p:pic>
        <p:nvPicPr>
          <p:cNvPr id="13" name="Image 4" descr="C:\Users\seub1\Desktop\[Paper] Diffusion virtual staining paper\analysis_output\scatter_panels_v2\ba_WGANGP_junction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519424"/>
            <a:ext cx="1444752" cy="1284224"/>
          </a:xfrm>
          <a:prstGeom prst="rect">
            <a:avLst/>
          </a:prstGeom>
        </p:spPr>
      </p:pic>
      <p:pic>
        <p:nvPicPr>
          <p:cNvPr id="14" name="Image 5" descr="C:\Users\seub1\Desktop\[Paper] Diffusion virtual staining paper\analysis_output\scatter_panels_v2\ba_WGANGP_endpoint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57984" y="3519424"/>
            <a:ext cx="1444752" cy="1284224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 rot="16200000">
            <a:off x="228600" y="5390896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Pix2pix</a:t>
            </a:r>
            <a:endParaRPr lang="en-US" sz="1400" dirty="0"/>
          </a:p>
        </p:txBody>
      </p:sp>
      <p:pic>
        <p:nvPicPr>
          <p:cNvPr id="16" name="Image 6" descr="C:\Users\seub1\Desktop\[Paper] Diffusion virtual staining paper\analysis_output\scatter_panels_v2\ba_Pix2pix_junction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4858512"/>
            <a:ext cx="1444752" cy="1284224"/>
          </a:xfrm>
          <a:prstGeom prst="rect">
            <a:avLst/>
          </a:prstGeom>
        </p:spPr>
      </p:pic>
      <p:pic>
        <p:nvPicPr>
          <p:cNvPr id="17" name="Image 7" descr="C:\Users\seub1\Desktop\[Paper] Diffusion virtual staining paper\analysis_output\scatter_panels_v2\ba_Pix2pix_endpoints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57984" y="4858512"/>
            <a:ext cx="1444752" cy="1284224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 rot="16200000">
            <a:off x="228600" y="6729984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LSGAN</a:t>
            </a:r>
            <a:endParaRPr lang="en-US" sz="1400" dirty="0"/>
          </a:p>
        </p:txBody>
      </p:sp>
      <p:pic>
        <p:nvPicPr>
          <p:cNvPr id="19" name="Image 8" descr="C:\Users\seub1\Desktop\[Paper] Diffusion virtual staining paper\analysis_output\scatter_panels_v2\ba_LSGAN_junctions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" y="6197600"/>
            <a:ext cx="1444752" cy="1284224"/>
          </a:xfrm>
          <a:prstGeom prst="rect">
            <a:avLst/>
          </a:prstGeom>
        </p:spPr>
      </p:pic>
      <p:pic>
        <p:nvPicPr>
          <p:cNvPr id="20" name="Image 9" descr="C:\Users\seub1\Desktop\[Paper] Diffusion virtual staining paper\analysis_output\scatter_panels_v2\ba_LSGAN_endpoints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57984" y="6197600"/>
            <a:ext cx="1444752" cy="1284224"/>
          </a:xfrm>
          <a:prstGeom prst="rect">
            <a:avLst/>
          </a:prstGeom>
        </p:spPr>
      </p:pic>
      <p:sp>
        <p:nvSpPr>
          <p:cNvPr id="21" name="Text 9"/>
          <p:cNvSpPr/>
          <p:nvPr/>
        </p:nvSpPr>
        <p:spPr>
          <a:xfrm>
            <a:off x="3877056" y="84124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unified table on Slide 1 for all metrics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7315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Summary: Per-layer Metric Comparison</a:t>
            </a:r>
            <a:endParaRPr lang="en-US" sz="2600" dirty="0"/>
          </a:p>
        </p:txBody>
      </p:sp>
      <p:pic>
        <p:nvPicPr>
          <p:cNvPr id="3" name="Image 0" descr="C:\Users\seub1\Desktop\[Paper] Diffusion virtual staining paper\analysis_output\scatter_panels_v2\summary_mae_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5943600" cy="2377440"/>
          </a:xfrm>
          <a:prstGeom prst="rect">
            <a:avLst/>
          </a:prstGeom>
        </p:spPr>
      </p:pic>
      <p:pic>
        <p:nvPicPr>
          <p:cNvPr id="4" name="Image 1" descr="C:\Users\seub1\Desktop\[Paper] Diffusion virtual staining paper\analysis_output\scatter_panels_v2\summary_pct3_b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108960"/>
            <a:ext cx="5943600" cy="23774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28600" y="5852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411480" y="621792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Diffusion models (PBBDM, LBBDM) achieve JN MAE ≤ 1.6 with 84-88% agreement within ±3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411480" y="65379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GANs show 2-3× higher EP MAE (WGANGP: 4.6-4.8) indicating poor topological fidelity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411480" y="68580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(R&gt;B) and Top (B&gt;R) layers show consistent patterns across all models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11480" y="717804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Area/Length R² &gt; 0.84 for diffusion models confirms strong morphometric concordance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2026-03-25T14:03:42Z</dcterms:created>
  <dcterms:modified xsi:type="dcterms:W3CDTF">2026-03-25T14:03:42Z</dcterms:modified>
</cp:coreProperties>
</file>