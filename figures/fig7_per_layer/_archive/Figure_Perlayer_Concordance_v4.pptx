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Per-layer Concordance: Area &amp; Length (R² Scatter)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28600" y="320040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Channel Separation: R&gt;B = Bottom, B&gt;R = Top | N=228 | Bottom 20% excluded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Vessel Area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993392" y="47548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Vessel Length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 rot="16200000">
            <a:off x="228600" y="125272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PBBDM</a:t>
            </a:r>
            <a:endParaRPr lang="en-US" sz="700" dirty="0"/>
          </a:p>
        </p:txBody>
      </p:sp>
      <p:pic>
        <p:nvPicPr>
          <p:cNvPr id="7" name="Image 0" descr="C:\Users\seub1\Desktop\[Paper] Diffusion virtual staining paper\analysis_output\scatter_panels_v2\scatter_PBBDM_ar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8368"/>
            <a:ext cx="1371600" cy="1371600"/>
          </a:xfrm>
          <a:prstGeom prst="rect">
            <a:avLst/>
          </a:prstGeom>
        </p:spPr>
      </p:pic>
      <p:pic>
        <p:nvPicPr>
          <p:cNvPr id="8" name="Image 1" descr="C:\Users\seub1\Desktop\[Paper] Diffusion virtual staining paper\analysis_output\scatter_panels_v2\scatter_PBBDM_leng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392" y="658368"/>
            <a:ext cx="1371600" cy="1371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 rot="16200000">
            <a:off x="228600" y="2679192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LBBDM</a:t>
            </a:r>
            <a:endParaRPr lang="en-US" sz="700" dirty="0"/>
          </a:p>
        </p:txBody>
      </p:sp>
      <p:pic>
        <p:nvPicPr>
          <p:cNvPr id="10" name="Image 2" descr="C:\Users\seub1\Desktop\[Paper] Diffusion virtual staining paper\analysis_output\scatter_panels_v2\scatter_LBBDM_are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84832"/>
            <a:ext cx="1371600" cy="1371600"/>
          </a:xfrm>
          <a:prstGeom prst="rect">
            <a:avLst/>
          </a:prstGeom>
        </p:spPr>
      </p:pic>
      <p:pic>
        <p:nvPicPr>
          <p:cNvPr id="11" name="Image 3" descr="C:\Users\seub1\Desktop\[Paper] Diffusion virtual staining paper\analysis_output\scatter_panels_v2\scatter_LBBDM_lengt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3392" y="2084832"/>
            <a:ext cx="1371600" cy="1371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 rot="16200000">
            <a:off x="228600" y="41056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WGANGP</a:t>
            </a:r>
            <a:endParaRPr lang="en-US" sz="700" dirty="0"/>
          </a:p>
        </p:txBody>
      </p:sp>
      <p:pic>
        <p:nvPicPr>
          <p:cNvPr id="13" name="Image 4" descr="C:\Users\seub1\Desktop\[Paper] Diffusion virtual staining paper\analysis_output\scatter_panels_v2\scatter_WGANGP_are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511296"/>
            <a:ext cx="1371600" cy="1371600"/>
          </a:xfrm>
          <a:prstGeom prst="rect">
            <a:avLst/>
          </a:prstGeom>
        </p:spPr>
      </p:pic>
      <p:pic>
        <p:nvPicPr>
          <p:cNvPr id="14" name="Image 5" descr="C:\Users\seub1\Desktop\[Paper] Diffusion virtual staining paper\analysis_output\scatter_panels_v2\scatter_WGANGP_lengt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3392" y="3511296"/>
            <a:ext cx="1371600" cy="13716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 rot="16200000">
            <a:off x="228600" y="553212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Pix2pix</a:t>
            </a:r>
            <a:endParaRPr lang="en-US" sz="700" dirty="0"/>
          </a:p>
        </p:txBody>
      </p:sp>
      <p:pic>
        <p:nvPicPr>
          <p:cNvPr id="16" name="Image 6" descr="C:\Users\seub1\Desktop\[Paper] Diffusion virtual staining paper\analysis_output\scatter_panels_v2\scatter_Pix2pix_are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937760"/>
            <a:ext cx="1371600" cy="1371600"/>
          </a:xfrm>
          <a:prstGeom prst="rect">
            <a:avLst/>
          </a:prstGeom>
        </p:spPr>
      </p:pic>
      <p:pic>
        <p:nvPicPr>
          <p:cNvPr id="17" name="Image 7" descr="C:\Users\seub1\Desktop\[Paper] Diffusion virtual staining paper\analysis_output\scatter_panels_v2\scatter_Pix2pix_length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3392" y="4937760"/>
            <a:ext cx="1371600" cy="137160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 rot="16200000">
            <a:off x="228600" y="6958584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LSGAN</a:t>
            </a:r>
            <a:endParaRPr lang="en-US" sz="700" dirty="0"/>
          </a:p>
        </p:txBody>
      </p:sp>
      <p:pic>
        <p:nvPicPr>
          <p:cNvPr id="19" name="Image 8" descr="C:\Users\seub1\Desktop\[Paper] Diffusion virtual staining paper\analysis_output\scatter_panels_v2\scatter_LSGAN_are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6364224"/>
            <a:ext cx="1371600" cy="1371600"/>
          </a:xfrm>
          <a:prstGeom prst="rect">
            <a:avLst/>
          </a:prstGeom>
        </p:spPr>
      </p:pic>
      <p:pic>
        <p:nvPicPr>
          <p:cNvPr id="20" name="Image 9" descr="C:\Users\seub1\Desktop\[Paper] Diffusion virtual staining paper\analysis_output\scatter_panels_v2\scatter_LSGAN_length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3392" y="6364224"/>
            <a:ext cx="1371600" cy="1371600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3502152" y="475488"/>
            <a:ext cx="3401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Per-layer Metrics</a:t>
            </a:r>
            <a:endParaRPr lang="en-US" sz="800" dirty="0"/>
          </a:p>
        </p:txBody>
      </p:sp>
      <p:sp>
        <p:nvSpPr>
          <p:cNvPr id="22" name="Shape 10"/>
          <p:cNvSpPr/>
          <p:nvPr/>
        </p:nvSpPr>
        <p:spPr>
          <a:xfrm>
            <a:off x="3941064" y="658368"/>
            <a:ext cx="493776" cy="146304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3" name="Text 11"/>
          <p:cNvSpPr/>
          <p:nvPr/>
        </p:nvSpPr>
        <p:spPr>
          <a:xfrm>
            <a:off x="3941064" y="65836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R²</a:t>
            </a:r>
            <a:endParaRPr lang="en-US" sz="500" dirty="0"/>
          </a:p>
        </p:txBody>
      </p:sp>
      <p:sp>
        <p:nvSpPr>
          <p:cNvPr id="24" name="Shape 12"/>
          <p:cNvSpPr/>
          <p:nvPr/>
        </p:nvSpPr>
        <p:spPr>
          <a:xfrm>
            <a:off x="4434840" y="658368"/>
            <a:ext cx="493776" cy="146304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5" name="Text 13"/>
          <p:cNvSpPr/>
          <p:nvPr/>
        </p:nvSpPr>
        <p:spPr>
          <a:xfrm>
            <a:off x="4434840" y="65836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R²</a:t>
            </a:r>
            <a:endParaRPr lang="en-US" sz="500" dirty="0"/>
          </a:p>
        </p:txBody>
      </p:sp>
      <p:sp>
        <p:nvSpPr>
          <p:cNvPr id="26" name="Shape 14"/>
          <p:cNvSpPr/>
          <p:nvPr/>
        </p:nvSpPr>
        <p:spPr>
          <a:xfrm>
            <a:off x="4928616" y="658368"/>
            <a:ext cx="493776" cy="146304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7" name="Text 15"/>
          <p:cNvSpPr/>
          <p:nvPr/>
        </p:nvSpPr>
        <p:spPr>
          <a:xfrm>
            <a:off x="4928616" y="65836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JN MAE</a:t>
            </a:r>
            <a:endParaRPr lang="en-US" sz="500" dirty="0"/>
          </a:p>
        </p:txBody>
      </p:sp>
      <p:sp>
        <p:nvSpPr>
          <p:cNvPr id="28" name="Shape 16"/>
          <p:cNvSpPr/>
          <p:nvPr/>
        </p:nvSpPr>
        <p:spPr>
          <a:xfrm>
            <a:off x="5422392" y="658368"/>
            <a:ext cx="493776" cy="146304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9" name="Text 17"/>
          <p:cNvSpPr/>
          <p:nvPr/>
        </p:nvSpPr>
        <p:spPr>
          <a:xfrm>
            <a:off x="5422392" y="65836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JN ±3%</a:t>
            </a:r>
            <a:endParaRPr lang="en-US" sz="500" dirty="0"/>
          </a:p>
        </p:txBody>
      </p:sp>
      <p:sp>
        <p:nvSpPr>
          <p:cNvPr id="30" name="Shape 18"/>
          <p:cNvSpPr/>
          <p:nvPr/>
        </p:nvSpPr>
        <p:spPr>
          <a:xfrm>
            <a:off x="5916168" y="658368"/>
            <a:ext cx="493776" cy="14630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19"/>
          <p:cNvSpPr/>
          <p:nvPr/>
        </p:nvSpPr>
        <p:spPr>
          <a:xfrm>
            <a:off x="5916168" y="65836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MAE</a:t>
            </a:r>
            <a:endParaRPr lang="en-US" sz="500" dirty="0"/>
          </a:p>
        </p:txBody>
      </p:sp>
      <p:sp>
        <p:nvSpPr>
          <p:cNvPr id="32" name="Shape 20"/>
          <p:cNvSpPr/>
          <p:nvPr/>
        </p:nvSpPr>
        <p:spPr>
          <a:xfrm>
            <a:off x="6409944" y="658368"/>
            <a:ext cx="493776" cy="14630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3" name="Text 21"/>
          <p:cNvSpPr/>
          <p:nvPr/>
        </p:nvSpPr>
        <p:spPr>
          <a:xfrm>
            <a:off x="6409944" y="65836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±3%</a:t>
            </a:r>
            <a:endParaRPr lang="en-US" sz="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02152" y="813816"/>
          <a:ext cx="3401568" cy="914400"/>
        </p:xfrm>
        <a:graphic>
          <a:graphicData uri="http://schemas.openxmlformats.org/drawingml/2006/table">
            <a:tbl>
              <a:tblPr/>
              <a:tblGrid>
                <a:gridCol w="438912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</a:tblGrid>
              <a:tr h="1554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PBBDM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.879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.973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.841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.933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b="1" dirty="0">
                          <a:solidFill>
                            <a:srgbClr val="8E44A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LBBDM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.903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.979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.893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.939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Pix2pix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.846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.901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.828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.881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LSGAN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.755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.801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.698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.792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b="1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WGANGP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.618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.802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.596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.700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Per-layer Concordance: Junctions &amp; Endpoints (Bland-Altman)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28600" y="320040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metrics (0-30 range): MAE + % within ±3 are more appropriate than R²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14447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Junctions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066544" y="475488"/>
            <a:ext cx="14447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 rot="16200000">
            <a:off x="228600" y="120904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PBBDM</a:t>
            </a:r>
            <a:endParaRPr lang="en-US" sz="700" dirty="0"/>
          </a:p>
        </p:txBody>
      </p:sp>
      <p:pic>
        <p:nvPicPr>
          <p:cNvPr id="7" name="Image 0" descr="C:\Users\seub1\Desktop\[Paper] Diffusion virtual staining paper\analysis_output\scatter_panels_v2\ba_PBBDM_jun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8368"/>
            <a:ext cx="1444752" cy="1284224"/>
          </a:xfrm>
          <a:prstGeom prst="rect">
            <a:avLst/>
          </a:prstGeom>
        </p:spPr>
      </p:pic>
      <p:pic>
        <p:nvPicPr>
          <p:cNvPr id="8" name="Image 1" descr="C:\Users\seub1\Desktop\[Paper] Diffusion virtual staining paper\analysis_output\scatter_panels_v2\ba_PBBDM_endpoi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544" y="658368"/>
            <a:ext cx="1444752" cy="12842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 rot="16200000">
            <a:off x="228600" y="254812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LBBDM</a:t>
            </a:r>
            <a:endParaRPr lang="en-US" sz="700" dirty="0"/>
          </a:p>
        </p:txBody>
      </p:sp>
      <p:pic>
        <p:nvPicPr>
          <p:cNvPr id="10" name="Image 2" descr="C:\Users\seub1\Desktop\[Paper] Diffusion virtual staining paper\analysis_output\scatter_panels_v2\ba_LBBDM_junctio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97456"/>
            <a:ext cx="1444752" cy="1284224"/>
          </a:xfrm>
          <a:prstGeom prst="rect">
            <a:avLst/>
          </a:prstGeom>
        </p:spPr>
      </p:pic>
      <p:pic>
        <p:nvPicPr>
          <p:cNvPr id="11" name="Image 3" descr="C:\Users\seub1\Desktop\[Paper] Diffusion virtual staining paper\analysis_output\scatter_panels_v2\ba_LBBDM_endpoin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6544" y="1997456"/>
            <a:ext cx="1444752" cy="128422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 rot="16200000">
            <a:off x="228600" y="388721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WGANGP</a:t>
            </a:r>
            <a:endParaRPr lang="en-US" sz="700" dirty="0"/>
          </a:p>
        </p:txBody>
      </p:sp>
      <p:pic>
        <p:nvPicPr>
          <p:cNvPr id="13" name="Image 4" descr="C:\Users\seub1\Desktop\[Paper] Diffusion virtual staining paper\analysis_output\scatter_panels_v2\ba_WGANGP_junction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336544"/>
            <a:ext cx="1444752" cy="1284224"/>
          </a:xfrm>
          <a:prstGeom prst="rect">
            <a:avLst/>
          </a:prstGeom>
        </p:spPr>
      </p:pic>
      <p:pic>
        <p:nvPicPr>
          <p:cNvPr id="14" name="Image 5" descr="C:\Users\seub1\Desktop\[Paper] Diffusion virtual staining paper\analysis_output\scatter_panels_v2\ba_WGANGP_endpoint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6544" y="3336544"/>
            <a:ext cx="1444752" cy="128422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 rot="16200000">
            <a:off x="228600" y="5226304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Pix2pix</a:t>
            </a:r>
            <a:endParaRPr lang="en-US" sz="700" dirty="0"/>
          </a:p>
        </p:txBody>
      </p:sp>
      <p:pic>
        <p:nvPicPr>
          <p:cNvPr id="16" name="Image 6" descr="C:\Users\seub1\Desktop\[Paper] Diffusion virtual staining paper\analysis_output\scatter_panels_v2\ba_Pix2pix_junction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675632"/>
            <a:ext cx="1444752" cy="1284224"/>
          </a:xfrm>
          <a:prstGeom prst="rect">
            <a:avLst/>
          </a:prstGeom>
        </p:spPr>
      </p:pic>
      <p:pic>
        <p:nvPicPr>
          <p:cNvPr id="17" name="Image 7" descr="C:\Users\seub1\Desktop\[Paper] Diffusion virtual staining paper\analysis_output\scatter_panels_v2\ba_Pix2pix_endpoint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66544" y="4675632"/>
            <a:ext cx="1444752" cy="1284224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 rot="16200000">
            <a:off x="228600" y="6565392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LSGAN</a:t>
            </a:r>
            <a:endParaRPr lang="en-US" sz="700" dirty="0"/>
          </a:p>
        </p:txBody>
      </p:sp>
      <p:pic>
        <p:nvPicPr>
          <p:cNvPr id="19" name="Image 8" descr="C:\Users\seub1\Desktop\[Paper] Diffusion virtual staining paper\analysis_output\scatter_panels_v2\ba_LSGAN_junction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6014720"/>
            <a:ext cx="1444752" cy="1284224"/>
          </a:xfrm>
          <a:prstGeom prst="rect">
            <a:avLst/>
          </a:prstGeom>
        </p:spPr>
      </p:pic>
      <p:pic>
        <p:nvPicPr>
          <p:cNvPr id="20" name="Image 9" descr="C:\Users\seub1\Desktop\[Paper] Diffusion virtual staining paper\analysis_output\scatter_panels_v2\ba_LSGAN_endpoint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66544" y="6014720"/>
            <a:ext cx="1444752" cy="1284224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3785616" y="6583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unified table on Slide 1 for all metrics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Per-layer Metric Comparison</a:t>
            </a:r>
            <a:endParaRPr lang="en-US" sz="1300" dirty="0"/>
          </a:p>
        </p:txBody>
      </p:sp>
      <p:pic>
        <p:nvPicPr>
          <p:cNvPr id="3" name="Image 0" descr="C:\Users\seub1\Desktop\[Paper] Diffusion virtual staining paper\analysis_output\scatter_panels_v2\summary_mae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5943600" cy="2377440"/>
          </a:xfrm>
          <a:prstGeom prst="rect">
            <a:avLst/>
          </a:prstGeom>
        </p:spPr>
      </p:pic>
      <p:pic>
        <p:nvPicPr>
          <p:cNvPr id="4" name="Image 1" descr="C:\Users\seub1\Desktop\[Paper] Diffusion virtual staining paper\analysis_output\scatter_panels_v2\summary_pct3_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08960"/>
            <a:ext cx="5943600" cy="23774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8600" y="58521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411480" y="612648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 models (PBBDM, LBBDM) achieve JN MAE ≤ 1.6 with 84-88% agreement within ±3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411480" y="635508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GANs show 2-3× higher EP MAE (WGANGP: 4.6-4.8) indicating poor topological fidelity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411480" y="658368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(R&gt;B) and Top (B&gt;R) layers show consistent patterns across all models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411480" y="681228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Area/Length R² &gt; 0.84 for diffusion models confirms strong morphometric concordance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2026-03-25T12:35:02Z</dcterms:created>
  <dcterms:modified xsi:type="dcterms:W3CDTF">2026-03-25T12:35:02Z</dcterms:modified>
</cp:coreProperties>
</file>