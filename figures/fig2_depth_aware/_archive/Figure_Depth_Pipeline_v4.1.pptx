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6858000" cy="9144000" type="screen4x3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4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1419" y="-8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1564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6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5" Type="http://schemas.openxmlformats.org/officeDocument/2006/relationships/image" Target="../media/image3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Depth-aware Vessel Network Analysis Pipeline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28600" y="36576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Brightfield</a:t>
            </a:r>
            <a:endParaRPr lang="en-US" sz="700" dirty="0"/>
          </a:p>
        </p:txBody>
      </p:sp>
      <p:pic>
        <p:nvPicPr>
          <p:cNvPr id="4" name="Image 0" descr="C:\Users\seub1\Desktop\[Paper] Diffusion virtual staining paper\analysis_output\paper_panels_depth\a_b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530352"/>
            <a:ext cx="1444752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83080" y="36576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Multi-color GT</a:t>
            </a:r>
            <a:endParaRPr lang="en-US" sz="700" dirty="0"/>
          </a:p>
        </p:txBody>
      </p:sp>
      <p:pic>
        <p:nvPicPr>
          <p:cNvPr id="6" name="Image 1" descr="C:\Users\seub1\Desktop\[Paper] Diffusion virtual staining paper\analysis_output\paper_panels_depth\b_g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3080" y="530352"/>
            <a:ext cx="1444752" cy="11887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337560" y="36576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(c) R channel</a:t>
            </a:r>
            <a:endParaRPr lang="en-US" sz="700" dirty="0"/>
          </a:p>
        </p:txBody>
      </p:sp>
      <p:pic>
        <p:nvPicPr>
          <p:cNvPr id="8" name="Image 2" descr="C:\Users\seub1\Desktop\[Paper] Diffusion virtual staining paper\analysis_output\paper_panels_depth\c_r_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530352"/>
            <a:ext cx="1444752" cy="11887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892040" y="36576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(d) B channel</a:t>
            </a:r>
            <a:endParaRPr lang="en-US" sz="700" dirty="0"/>
          </a:p>
        </p:txBody>
      </p:sp>
      <p:pic>
        <p:nvPicPr>
          <p:cNvPr id="10" name="Image 3" descr="C:\Users\seub1\Desktop\[Paper] Diffusion virtual staining paper\analysis_output\paper_panels_depth\d_b_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530352"/>
            <a:ext cx="1444752" cy="1188720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228600" y="1810512"/>
            <a:ext cx="64008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6"/>
          <p:cNvSpPr/>
          <p:nvPr/>
        </p:nvSpPr>
        <p:spPr>
          <a:xfrm>
            <a:off x="228600" y="1883664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(e) R-B dominance</a:t>
            </a:r>
            <a:endParaRPr lang="en-US" sz="700" dirty="0"/>
          </a:p>
        </p:txBody>
      </p:sp>
      <p:pic>
        <p:nvPicPr>
          <p:cNvPr id="13" name="Image 4" descr="C:\Users\seub1\Desktop\[Paper] Diffusion virtual staining paper\analysis_output\paper_panels_depth\e_do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" y="2048256"/>
            <a:ext cx="1444752" cy="11887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783080" y="1883664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(f) R skeleton</a:t>
            </a:r>
            <a:endParaRPr lang="en-US" sz="700" dirty="0"/>
          </a:p>
        </p:txBody>
      </p:sp>
      <p:pic>
        <p:nvPicPr>
          <p:cNvPr id="15" name="Image 5" descr="C:\Users\seub1\Desktop\[Paper] Diffusion virtual staining paper\analysis_output\paper_panels_depth\f_r_s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83080" y="2048256"/>
            <a:ext cx="1444752" cy="118872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3337560" y="1883664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(g) B skeleton</a:t>
            </a:r>
            <a:endParaRPr lang="en-US" sz="700" dirty="0"/>
          </a:p>
        </p:txBody>
      </p:sp>
      <p:pic>
        <p:nvPicPr>
          <p:cNvPr id="17" name="Image 6" descr="C:\Users\seub1\Desktop\[Paper] Diffusion virtual staining paper\analysis_output\paper_panels_depth\g_b_s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37560" y="2048256"/>
            <a:ext cx="1444752" cy="118872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4892040" y="1883664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(h) R+B overlay</a:t>
            </a:r>
            <a:endParaRPr lang="en-US" sz="700" dirty="0"/>
          </a:p>
        </p:txBody>
      </p:sp>
      <p:pic>
        <p:nvPicPr>
          <p:cNvPr id="19" name="Image 7" descr="C:\Users\seub1\Desktop\[Paper] Diffusion virtual staining paper\analysis_output\paper_panels_depth\h_rb_overla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92040" y="2048256"/>
            <a:ext cx="1444752" cy="1188720"/>
          </a:xfrm>
          <a:prstGeom prst="rect">
            <a:avLst/>
          </a:prstGeom>
        </p:spPr>
      </p:pic>
      <p:sp>
        <p:nvSpPr>
          <p:cNvPr id="20" name="Shape 10"/>
          <p:cNvSpPr/>
          <p:nvPr/>
        </p:nvSpPr>
        <p:spPr>
          <a:xfrm>
            <a:off x="228600" y="3328416"/>
            <a:ext cx="64008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1"/>
          <p:cNvSpPr/>
          <p:nvPr/>
        </p:nvSpPr>
        <p:spPr>
          <a:xfrm>
            <a:off x="228600" y="3401568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(i) Single GT skel</a:t>
            </a:r>
            <a:endParaRPr lang="en-US" sz="700" dirty="0"/>
          </a:p>
        </p:txBody>
      </p:sp>
      <p:pic>
        <p:nvPicPr>
          <p:cNvPr id="22" name="Image 8" descr="C:\Users\seub1\Desktop\[Paper] Diffusion virtual staining paper\analysis_output\paper_panels_depth\i_singl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8600" y="3566160"/>
            <a:ext cx="1444752" cy="1188720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1783080" y="3401568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(j) R bridged</a:t>
            </a:r>
            <a:endParaRPr lang="en-US" sz="700" dirty="0"/>
          </a:p>
        </p:txBody>
      </p:sp>
      <p:pic>
        <p:nvPicPr>
          <p:cNvPr id="24" name="Image 9" descr="C:\Users\seub1\Desktop\[Paper] Diffusion virtual staining paper\analysis_output\paper_panels_depth\j_r_br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83080" y="3566160"/>
            <a:ext cx="1444752" cy="1188720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3337560" y="3401568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(k) B bridged</a:t>
            </a:r>
            <a:endParaRPr lang="en-US" sz="700" dirty="0"/>
          </a:p>
        </p:txBody>
      </p:sp>
      <p:pic>
        <p:nvPicPr>
          <p:cNvPr id="26" name="Image 10" descr="C:\Users\seub1\Desktop\[Paper] Diffusion virtual staining paper\analysis_output\paper_panels_depth\k_b_br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37560" y="3566160"/>
            <a:ext cx="1444752" cy="1188720"/>
          </a:xfrm>
          <a:prstGeom prst="rect">
            <a:avLst/>
          </a:prstGeom>
        </p:spPr>
      </p:pic>
      <p:sp>
        <p:nvSpPr>
          <p:cNvPr id="27" name="Text 14"/>
          <p:cNvSpPr/>
          <p:nvPr/>
        </p:nvSpPr>
        <p:spPr>
          <a:xfrm>
            <a:off x="4892040" y="3401568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(l) R+B combined</a:t>
            </a:r>
            <a:endParaRPr lang="en-US" sz="700" dirty="0"/>
          </a:p>
        </p:txBody>
      </p:sp>
      <p:pic>
        <p:nvPicPr>
          <p:cNvPr id="28" name="Image 11" descr="C:\Users\seub1\Desktop\[Paper] Diffusion virtual staining paper\analysis_output\paper_panels_depth\l_comb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92040" y="3566160"/>
            <a:ext cx="1444752" cy="1188720"/>
          </a:xfrm>
          <a:prstGeom prst="rect">
            <a:avLst/>
          </a:prstGeom>
        </p:spPr>
      </p:pic>
      <p:sp>
        <p:nvSpPr>
          <p:cNvPr id="29" name="Shape 15"/>
          <p:cNvSpPr/>
          <p:nvPr/>
        </p:nvSpPr>
        <p:spPr>
          <a:xfrm>
            <a:off x="228600" y="4846320"/>
            <a:ext cx="64008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16"/>
          <p:cNvSpPr/>
          <p:nvPr/>
        </p:nvSpPr>
        <p:spPr>
          <a:xfrm>
            <a:off x="22860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(m) Gap Bridging Process</a:t>
            </a:r>
            <a:endParaRPr lang="en-US" sz="700" dirty="0"/>
          </a:p>
        </p:txBody>
      </p:sp>
      <p:pic>
        <p:nvPicPr>
          <p:cNvPr id="31" name="Image 12" descr="C:\Users\seub1\Desktop\[Paper] Diffusion virtual staining paper\analysis_output\paper_panels_depth\m_befor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15468" y="5102352"/>
            <a:ext cx="1965960" cy="1554480"/>
          </a:xfrm>
          <a:prstGeom prst="rect">
            <a:avLst/>
          </a:prstGeom>
        </p:spPr>
      </p:pic>
      <p:pic>
        <p:nvPicPr>
          <p:cNvPr id="32" name="Image 13" descr="C:\Users\seub1\Desktop\[Paper] Diffusion virtual staining paper\analysis_output\paper_panels_depth\m_bridging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446020" y="5102352"/>
            <a:ext cx="1965960" cy="1554480"/>
          </a:xfrm>
          <a:prstGeom prst="rect">
            <a:avLst/>
          </a:prstGeom>
        </p:spPr>
      </p:pic>
      <p:pic>
        <p:nvPicPr>
          <p:cNvPr id="33" name="Image 14" descr="C:\Users\seub1\Desktop\[Paper] Diffusion virtual staining paper\analysis_output\paper_panels_depth\m_after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76572" y="5102352"/>
            <a:ext cx="1965960" cy="1554480"/>
          </a:xfrm>
          <a:prstGeom prst="rect">
            <a:avLst/>
          </a:prstGeom>
        </p:spPr>
      </p:pic>
      <p:sp>
        <p:nvSpPr>
          <p:cNvPr id="34" name="Text 17"/>
          <p:cNvSpPr/>
          <p:nvPr/>
        </p:nvSpPr>
        <p:spPr>
          <a:xfrm>
            <a:off x="315468" y="6675120"/>
            <a:ext cx="1965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(filtered)</a:t>
            </a:r>
            <a:endParaRPr lang="en-US" sz="600" dirty="0"/>
          </a:p>
        </p:txBody>
      </p:sp>
      <p:sp>
        <p:nvSpPr>
          <p:cNvPr id="35" name="Text 18"/>
          <p:cNvSpPr/>
          <p:nvPr/>
        </p:nvSpPr>
        <p:spPr>
          <a:xfrm>
            <a:off x="2446020" y="6675120"/>
            <a:ext cx="1965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Bridging</a:t>
            </a:r>
            <a:endParaRPr lang="en-US" sz="600" dirty="0"/>
          </a:p>
        </p:txBody>
      </p:sp>
      <p:sp>
        <p:nvSpPr>
          <p:cNvPr id="36" name="Text 19"/>
          <p:cNvSpPr/>
          <p:nvPr/>
        </p:nvSpPr>
        <p:spPr>
          <a:xfrm>
            <a:off x="4576572" y="6675120"/>
            <a:ext cx="1965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(connected)</a:t>
            </a:r>
            <a:endParaRPr lang="en-US" sz="600" dirty="0"/>
          </a:p>
        </p:txBody>
      </p:sp>
      <p:sp>
        <p:nvSpPr>
          <p:cNvPr id="37" name="Text 20"/>
          <p:cNvSpPr/>
          <p:nvPr/>
        </p:nvSpPr>
        <p:spPr>
          <a:xfrm>
            <a:off x="2226564" y="5769864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8" name="Text 21"/>
          <p:cNvSpPr/>
          <p:nvPr/>
        </p:nvSpPr>
        <p:spPr>
          <a:xfrm>
            <a:off x="4357116" y="5769864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9" name="Shape 22"/>
          <p:cNvSpPr/>
          <p:nvPr/>
        </p:nvSpPr>
        <p:spPr>
          <a:xfrm>
            <a:off x="228600" y="6858000"/>
            <a:ext cx="64008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23"/>
          <p:cNvSpPr/>
          <p:nvPr/>
        </p:nvSpPr>
        <p:spPr>
          <a:xfrm>
            <a:off x="228600" y="690372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(n) Bridge Zoom Detail</a:t>
            </a:r>
            <a:endParaRPr lang="en-US" sz="700" dirty="0"/>
          </a:p>
        </p:txBody>
      </p:sp>
      <p:pic>
        <p:nvPicPr>
          <p:cNvPr id="41" name="Image 15" descr="C:\Users\seub1\Desktop\[Paper] Diffusion virtual staining paper\analysis_output\paper_panels_depth\n_zoom_1_befor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19456" y="7114032"/>
            <a:ext cx="658368" cy="658368"/>
          </a:xfrm>
          <a:prstGeom prst="rect">
            <a:avLst/>
          </a:prstGeom>
        </p:spPr>
      </p:pic>
      <p:pic>
        <p:nvPicPr>
          <p:cNvPr id="42" name="Image 16" descr="C:\Users\seub1\Desktop\[Paper] Diffusion virtual staining paper\analysis_output\paper_panels_depth\n_zoom_1_bridging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14400" y="7114032"/>
            <a:ext cx="658368" cy="658368"/>
          </a:xfrm>
          <a:prstGeom prst="rect">
            <a:avLst/>
          </a:prstGeom>
        </p:spPr>
      </p:pic>
      <p:pic>
        <p:nvPicPr>
          <p:cNvPr id="43" name="Image 17" descr="C:\Users\seub1\Desktop\[Paper] Diffusion virtual staining paper\analysis_output\paper_panels_depth\n_zoom_1_after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609344" y="7114032"/>
            <a:ext cx="658368" cy="658368"/>
          </a:xfrm>
          <a:prstGeom prst="rect">
            <a:avLst/>
          </a:prstGeom>
        </p:spPr>
      </p:pic>
      <p:sp>
        <p:nvSpPr>
          <p:cNvPr id="44" name="Text 24"/>
          <p:cNvSpPr/>
          <p:nvPr/>
        </p:nvSpPr>
        <p:spPr>
          <a:xfrm>
            <a:off x="219456" y="7790688"/>
            <a:ext cx="204825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33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bridge #1</a:t>
            </a:r>
            <a:endParaRPr lang="en-US" sz="550" dirty="0"/>
          </a:p>
        </p:txBody>
      </p:sp>
      <p:sp>
        <p:nvSpPr>
          <p:cNvPr id="45" name="Text 25"/>
          <p:cNvSpPr/>
          <p:nvPr/>
        </p:nvSpPr>
        <p:spPr>
          <a:xfrm>
            <a:off x="219456" y="7022592"/>
            <a:ext cx="658368" cy="10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5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450" dirty="0"/>
          </a:p>
        </p:txBody>
      </p:sp>
      <p:sp>
        <p:nvSpPr>
          <p:cNvPr id="46" name="Text 26"/>
          <p:cNvSpPr/>
          <p:nvPr/>
        </p:nvSpPr>
        <p:spPr>
          <a:xfrm>
            <a:off x="914400" y="7022592"/>
            <a:ext cx="658368" cy="10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5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bridging</a:t>
            </a:r>
            <a:endParaRPr lang="en-US" sz="450" dirty="0"/>
          </a:p>
        </p:txBody>
      </p:sp>
      <p:sp>
        <p:nvSpPr>
          <p:cNvPr id="47" name="Text 27"/>
          <p:cNvSpPr/>
          <p:nvPr/>
        </p:nvSpPr>
        <p:spPr>
          <a:xfrm>
            <a:off x="1609344" y="7022592"/>
            <a:ext cx="658368" cy="10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5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450" dirty="0"/>
          </a:p>
        </p:txBody>
      </p:sp>
      <p:pic>
        <p:nvPicPr>
          <p:cNvPr id="48" name="Image 18" descr="C:\Users\seub1\Desktop\[Paper] Diffusion virtual staining paper\analysis_output\paper_panels_depth\n_zoom_2_befor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404872" y="7114032"/>
            <a:ext cx="658368" cy="658368"/>
          </a:xfrm>
          <a:prstGeom prst="rect">
            <a:avLst/>
          </a:prstGeom>
        </p:spPr>
      </p:pic>
      <p:pic>
        <p:nvPicPr>
          <p:cNvPr id="49" name="Image 19" descr="C:\Users\seub1\Desktop\[Paper] Diffusion virtual staining paper\analysis_output\paper_panels_depth\n_zoom_2_bridging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099816" y="7114032"/>
            <a:ext cx="658368" cy="658368"/>
          </a:xfrm>
          <a:prstGeom prst="rect">
            <a:avLst/>
          </a:prstGeom>
        </p:spPr>
      </p:pic>
      <p:pic>
        <p:nvPicPr>
          <p:cNvPr id="50" name="Image 20" descr="C:\Users\seub1\Desktop\[Paper] Diffusion virtual staining paper\analysis_output\paper_panels_depth\n_zoom_2_after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794760" y="7114032"/>
            <a:ext cx="658368" cy="658368"/>
          </a:xfrm>
          <a:prstGeom prst="rect">
            <a:avLst/>
          </a:prstGeom>
        </p:spPr>
      </p:pic>
      <p:sp>
        <p:nvSpPr>
          <p:cNvPr id="51" name="Text 28"/>
          <p:cNvSpPr/>
          <p:nvPr/>
        </p:nvSpPr>
        <p:spPr>
          <a:xfrm>
            <a:off x="2404872" y="7790688"/>
            <a:ext cx="204825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bridge #2</a:t>
            </a:r>
            <a:endParaRPr lang="en-US" sz="550" dirty="0"/>
          </a:p>
        </p:txBody>
      </p:sp>
      <p:pic>
        <p:nvPicPr>
          <p:cNvPr id="52" name="Image 21" descr="C:\Users\seub1\Desktop\[Paper] Diffusion virtual staining paper\analysis_output\paper_panels_depth\n_zoom_3_befor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590288" y="7114032"/>
            <a:ext cx="658368" cy="658368"/>
          </a:xfrm>
          <a:prstGeom prst="rect">
            <a:avLst/>
          </a:prstGeom>
        </p:spPr>
      </p:pic>
      <p:pic>
        <p:nvPicPr>
          <p:cNvPr id="53" name="Image 22" descr="C:\Users\seub1\Desktop\[Paper] Diffusion virtual staining paper\analysis_output\paper_panels_depth\n_zoom_3_bridging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285232" y="7114032"/>
            <a:ext cx="658368" cy="658368"/>
          </a:xfrm>
          <a:prstGeom prst="rect">
            <a:avLst/>
          </a:prstGeom>
        </p:spPr>
      </p:pic>
      <p:pic>
        <p:nvPicPr>
          <p:cNvPr id="54" name="Image 23" descr="C:\Users\seub1\Desktop\[Paper] Diffusion virtual staining paper\analysis_output\paper_panels_depth\n_zoom_3_after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980176" y="7114032"/>
            <a:ext cx="658368" cy="658368"/>
          </a:xfrm>
          <a:prstGeom prst="rect">
            <a:avLst/>
          </a:prstGeom>
        </p:spPr>
      </p:pic>
      <p:sp>
        <p:nvSpPr>
          <p:cNvPr id="55" name="Text 29"/>
          <p:cNvSpPr/>
          <p:nvPr/>
        </p:nvSpPr>
        <p:spPr>
          <a:xfrm>
            <a:off x="4590288" y="7790688"/>
            <a:ext cx="204825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bridge #1</a:t>
            </a:r>
            <a:endParaRPr lang="en-US" sz="550" dirty="0"/>
          </a:p>
        </p:txBody>
      </p:sp>
      <p:sp>
        <p:nvSpPr>
          <p:cNvPr id="56" name="Text 30"/>
          <p:cNvSpPr/>
          <p:nvPr/>
        </p:nvSpPr>
        <p:spPr>
          <a:xfrm>
            <a:off x="228600" y="7955280"/>
            <a:ext cx="6400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</a:t>
            </a:r>
            <a:r>
              <a:rPr lang="en-US" sz="5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skel  </a:t>
            </a:r>
            <a:r>
              <a:rPr lang="en-US" sz="550" b="1" dirty="0">
                <a:solidFill>
                  <a:srgbClr val="33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</a:t>
            </a:r>
            <a:r>
              <a:rPr lang="en-US" sz="5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skel  </a:t>
            </a:r>
            <a:r>
              <a:rPr lang="en-US" sz="550" b="1" dirty="0">
                <a:solidFill>
                  <a:srgbClr val="FFB4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 </a:t>
            </a:r>
            <a:r>
              <a:rPr lang="en-US" sz="5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bridge  </a:t>
            </a:r>
            <a:r>
              <a:rPr lang="en-US" sz="550" b="1" dirty="0">
                <a:solidFill>
                  <a:srgbClr val="32FF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Teal </a:t>
            </a:r>
            <a:r>
              <a:rPr lang="en-US" sz="5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bridge  </a:t>
            </a:r>
            <a:r>
              <a:rPr lang="en-US" sz="550" b="1" dirty="0">
                <a:solidFill>
                  <a:srgbClr val="B46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Purple </a:t>
            </a:r>
            <a:r>
              <a:rPr lang="en-US" sz="5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R+B overlap  </a:t>
            </a:r>
            <a:r>
              <a:rPr lang="en-US" sz="550" b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Magenta </a:t>
            </a:r>
            <a:r>
              <a:rPr lang="en-US" sz="5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JN  </a:t>
            </a:r>
            <a:r>
              <a:rPr lang="en-US" sz="550" b="1" dirty="0">
                <a:solidFill>
                  <a:srgbClr val="CC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 </a:t>
            </a:r>
            <a:r>
              <a:rPr lang="en-US" sz="5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</a:t>
            </a:r>
            <a:endParaRPr lang="en-US" sz="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914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Tangent-guided Gap Bridging Algorithm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82880" y="548640"/>
            <a:ext cx="2011680" cy="1645920"/>
          </a:xfrm>
          <a:prstGeom prst="rect">
            <a:avLst/>
          </a:prstGeom>
          <a:solidFill>
            <a:srgbClr val="E74C3C">
              <a:alpha val="15000"/>
            </a:srgbClr>
          </a:solidFill>
          <a:ln w="254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56032" y="5943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56032" y="77724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 Detection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105156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skeleton pixels with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neighbor count = 1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2423160" y="548640"/>
            <a:ext cx="2011680" cy="1645920"/>
          </a:xfrm>
          <a:prstGeom prst="rect">
            <a:avLst/>
          </a:prstGeom>
          <a:solidFill>
            <a:srgbClr val="F39C12">
              <a:alpha val="15000"/>
            </a:srgbClr>
          </a:solidFill>
          <a:ln w="254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496312" y="5943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496312" y="77724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Tangent Estimation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514600" y="105156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 back 10-20 px along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skeleton → compute direction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663440" y="548640"/>
            <a:ext cx="2011680" cy="1645920"/>
          </a:xfrm>
          <a:prstGeom prst="rect">
            <a:avLst/>
          </a:prstGeom>
          <a:solidFill>
            <a:srgbClr val="2ECC71">
              <a:alpha val="15000"/>
            </a:srgbClr>
          </a:solidFill>
          <a:ln w="254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736592" y="5943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736592" y="77724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Matching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0" y="105156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 pair distance &lt; 80 px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cos(θ) &gt; cos(60°)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vessel mask overlap ≥ 70%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097280" y="2743200"/>
            <a:ext cx="2011680" cy="1645920"/>
          </a:xfrm>
          <a:prstGeom prst="rect">
            <a:avLst/>
          </a:prstGeom>
          <a:solidFill>
            <a:srgbClr val="3498DB">
              <a:alpha val="15000"/>
            </a:srgbClr>
          </a:solidFill>
          <a:ln w="254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170432" y="27889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170432" y="297180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Bézier Interpolation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88720" y="324612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P(t) = (1-t)³P₁ + 3(1-t)²tC₁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+ 3(1-t)t²C₂ + t³P₂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C₁ = P₁ + 0.4d·t₁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840480" y="2743200"/>
            <a:ext cx="2011680" cy="1645920"/>
          </a:xfrm>
          <a:prstGeom prst="rect">
            <a:avLst/>
          </a:prstGeom>
          <a:solidFill>
            <a:srgbClr val="9B59B6">
              <a:alpha val="15000"/>
            </a:srgbClr>
          </a:solidFill>
          <a:ln w="254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913632" y="27889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913632" y="297180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&amp; Select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931920" y="324612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(cos₁+cos₂)/2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- d/dmax · 0.2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+ vessel_ratio · 0.2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Greedy: best-first, no reuse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2194560" y="1371600"/>
            <a:ext cx="228600" cy="0"/>
          </a:xfrm>
          <a:prstGeom prst="line">
            <a:avLst/>
          </a:prstGeom>
          <a:noFill/>
          <a:ln w="25400">
            <a:solidFill>
              <a:srgbClr val="88888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4434840" y="1371600"/>
            <a:ext cx="228600" cy="0"/>
          </a:xfrm>
          <a:prstGeom prst="line">
            <a:avLst/>
          </a:prstGeom>
          <a:noFill/>
          <a:ln w="25400">
            <a:solidFill>
              <a:srgbClr val="88888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3429000" y="2194560"/>
            <a:ext cx="0" cy="548640"/>
          </a:xfrm>
          <a:prstGeom prst="line">
            <a:avLst/>
          </a:prstGeom>
          <a:noFill/>
          <a:ln w="25400">
            <a:solidFill>
              <a:srgbClr val="88888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3108960" y="3566160"/>
            <a:ext cx="731520" cy="0"/>
          </a:xfrm>
          <a:prstGeom prst="line">
            <a:avLst/>
          </a:prstGeom>
          <a:noFill/>
          <a:ln w="25400">
            <a:solidFill>
              <a:srgbClr val="88888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228600" y="44805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Bridging Scheme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754880"/>
            <a:ext cx="2743200" cy="20116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57200" y="4754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Bridging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31520" y="5212080"/>
            <a:ext cx="914400" cy="548640"/>
          </a:xfrm>
          <a:prstGeom prst="line">
            <a:avLst/>
          </a:prstGeom>
          <a:noFill/>
          <a:ln w="50800">
            <a:solidFill>
              <a:srgbClr val="FF55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1554480" y="5669280"/>
            <a:ext cx="137160" cy="137160"/>
          </a:xfrm>
          <a:prstGeom prst="ellipse">
            <a:avLst/>
          </a:prstGeom>
          <a:solidFill>
            <a:srgbClr val="FFFF00"/>
          </a:solidFill>
          <a:ln w="12700">
            <a:solidFill>
              <a:srgbClr val="FFFF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645920" y="5760720"/>
            <a:ext cx="457200" cy="274320"/>
          </a:xfrm>
          <a:prstGeom prst="line">
            <a:avLst/>
          </a:prstGeom>
          <a:noFill/>
          <a:ln w="25400">
            <a:solidFill>
              <a:srgbClr val="FFFF0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2103120" y="58978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00"/>
                </a:solidFill>
              </a:rPr>
              <a:t>t₁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645920" y="5760720"/>
            <a:ext cx="548640" cy="274320"/>
          </a:xfrm>
          <a:prstGeom prst="line">
            <a:avLst/>
          </a:prstGeom>
          <a:noFill/>
          <a:ln w="12700">
            <a:solidFill>
              <a:srgbClr val="66666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2103120" y="5943600"/>
            <a:ext cx="137160" cy="137160"/>
          </a:xfrm>
          <a:prstGeom prst="ellipse">
            <a:avLst/>
          </a:prstGeom>
          <a:solidFill>
            <a:srgbClr val="FFFF00"/>
          </a:solidFill>
          <a:ln w="12700">
            <a:solidFill>
              <a:srgbClr val="FFFF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2148840" y="6035040"/>
            <a:ext cx="0" cy="0"/>
          </a:xfrm>
          <a:prstGeom prst="line">
            <a:avLst/>
          </a:prstGeom>
          <a:noFill/>
          <a:ln w="25400">
            <a:solidFill>
              <a:srgbClr val="FFFF0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1554480" y="562356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00"/>
                </a:solidFill>
              </a:rPr>
              <a:t>t₂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194560" y="6035040"/>
            <a:ext cx="731520" cy="457200"/>
          </a:xfrm>
          <a:prstGeom prst="line">
            <a:avLst/>
          </a:prstGeom>
          <a:noFill/>
          <a:ln w="50800">
            <a:solidFill>
              <a:srgbClr val="FF55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1645920" y="62179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999999"/>
                </a:solidFill>
              </a:rPr>
              <a:t>gap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3657600" y="4754880"/>
            <a:ext cx="2743200" cy="20116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3657600" y="4754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Bridging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931920" y="5212080"/>
            <a:ext cx="914400" cy="548640"/>
          </a:xfrm>
          <a:prstGeom prst="line">
            <a:avLst/>
          </a:prstGeom>
          <a:noFill/>
          <a:ln w="50800">
            <a:solidFill>
              <a:srgbClr val="FF55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4846320" y="5760720"/>
            <a:ext cx="548640" cy="274320"/>
          </a:xfrm>
          <a:prstGeom prst="line">
            <a:avLst/>
          </a:prstGeom>
          <a:noFill/>
          <a:ln w="38100">
            <a:solidFill>
              <a:srgbClr val="00FF88"/>
            </a:solidFill>
            <a:prstDash val="sys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4663440" y="60807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0FF88"/>
                </a:solidFill>
              </a:rPr>
              <a:t>Bézier bridge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5394960" y="6035040"/>
            <a:ext cx="731520" cy="457200"/>
          </a:xfrm>
          <a:prstGeom prst="line">
            <a:avLst/>
          </a:prstGeom>
          <a:noFill/>
          <a:ln w="50800">
            <a:solidFill>
              <a:srgbClr val="FF55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3200400" y="5760720"/>
            <a:ext cx="45720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228600" y="681228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 Examples</a:t>
            </a:r>
            <a:endParaRPr lang="en-US" sz="900" dirty="0"/>
          </a:p>
        </p:txBody>
      </p:sp>
      <p:pic>
        <p:nvPicPr>
          <p:cNvPr id="48" name="Image 0" descr="C:\Users\seub1\Desktop\[Paper] Diffusion virtual staining paper\analysis_output\paper_panels_depth\n_zoom_1_bef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7040880"/>
            <a:ext cx="822960" cy="822960"/>
          </a:xfrm>
          <a:prstGeom prst="rect">
            <a:avLst/>
          </a:prstGeom>
        </p:spPr>
      </p:pic>
      <p:pic>
        <p:nvPicPr>
          <p:cNvPr id="49" name="Image 1" descr="C:\Users\seub1\Desktop\[Paper] Diffusion virtual staining paper\analysis_output\paper_panels_depth\n_zoom_1_af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0744" y="7040880"/>
            <a:ext cx="822960" cy="822960"/>
          </a:xfrm>
          <a:prstGeom prst="rect">
            <a:avLst/>
          </a:prstGeom>
        </p:spPr>
      </p:pic>
      <p:sp>
        <p:nvSpPr>
          <p:cNvPr id="50" name="Text 46"/>
          <p:cNvSpPr/>
          <p:nvPr/>
        </p:nvSpPr>
        <p:spPr>
          <a:xfrm>
            <a:off x="502920" y="7882128"/>
            <a:ext cx="1700784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669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bridge</a:t>
            </a:r>
            <a:endParaRPr lang="en-US" sz="550" dirty="0"/>
          </a:p>
        </p:txBody>
      </p:sp>
      <p:pic>
        <p:nvPicPr>
          <p:cNvPr id="51" name="Image 2" descr="C:\Users\seub1\Desktop\[Paper] Diffusion virtual staining paper\analysis_output\paper_panels_depth\n_zoom_2_befo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9464" y="7040880"/>
            <a:ext cx="822960" cy="822960"/>
          </a:xfrm>
          <a:prstGeom prst="rect">
            <a:avLst/>
          </a:prstGeom>
        </p:spPr>
      </p:pic>
      <p:pic>
        <p:nvPicPr>
          <p:cNvPr id="52" name="Image 3" descr="C:\Users\seub1\Desktop\[Paper] Diffusion virtual staining paper\analysis_output\paper_panels_depth\n_zoom_2_aft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7288" y="7040880"/>
            <a:ext cx="822960" cy="822960"/>
          </a:xfrm>
          <a:prstGeom prst="rect">
            <a:avLst/>
          </a:prstGeom>
        </p:spPr>
      </p:pic>
      <p:sp>
        <p:nvSpPr>
          <p:cNvPr id="53" name="Text 47"/>
          <p:cNvSpPr/>
          <p:nvPr/>
        </p:nvSpPr>
        <p:spPr>
          <a:xfrm>
            <a:off x="2569464" y="7882128"/>
            <a:ext cx="1700784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bridge</a:t>
            </a:r>
            <a:endParaRPr lang="en-US" sz="550" dirty="0"/>
          </a:p>
        </p:txBody>
      </p:sp>
      <p:pic>
        <p:nvPicPr>
          <p:cNvPr id="54" name="Image 4" descr="C:\Users\seub1\Desktop\[Paper] Diffusion virtual staining paper\analysis_output\paper_panels_depth\n_zoom_3_befor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6008" y="7040880"/>
            <a:ext cx="822960" cy="822960"/>
          </a:xfrm>
          <a:prstGeom prst="rect">
            <a:avLst/>
          </a:prstGeom>
        </p:spPr>
      </p:pic>
      <p:pic>
        <p:nvPicPr>
          <p:cNvPr id="55" name="Image 5" descr="C:\Users\seub1\Desktop\[Paper] Diffusion virtual staining paper\analysis_output\paper_panels_depth\n_zoom_3_aft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13832" y="7040880"/>
            <a:ext cx="822960" cy="822960"/>
          </a:xfrm>
          <a:prstGeom prst="rect">
            <a:avLst/>
          </a:prstGeom>
        </p:spPr>
      </p:pic>
      <p:sp>
        <p:nvSpPr>
          <p:cNvPr id="56" name="Text 48"/>
          <p:cNvSpPr/>
          <p:nvPr/>
        </p:nvSpPr>
        <p:spPr>
          <a:xfrm>
            <a:off x="4636008" y="7882128"/>
            <a:ext cx="1700784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bridge</a:t>
            </a:r>
            <a:endParaRPr lang="en-US" sz="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Vessel Network Quantification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28600" y="36576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Single GT vs Multi GT (N=215, top 80%)</a:t>
            </a:r>
            <a:endParaRPr lang="en-US" sz="800" dirty="0"/>
          </a:p>
        </p:txBody>
      </p:sp>
      <p:pic>
        <p:nvPicPr>
          <p:cNvPr id="4" name="Image 0" descr="C:\Users\seub1\Desktop\[Paper] Diffusion virtual staining paper\analysis_output\paper_panels_depth\chart1_single_vs_mult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94360"/>
            <a:ext cx="5943600" cy="2743200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594360"/>
          <a:ext cx="2103120" cy="91440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5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Length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JN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 GT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 GT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1.26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0.80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1.21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228600" y="3474720"/>
            <a:ext cx="64008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3"/>
          <p:cNvSpPr/>
          <p:nvPr/>
        </p:nvSpPr>
        <p:spPr>
          <a:xfrm>
            <a:off x="228600" y="354787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Virtual Staining Models vs Multi GT</a:t>
            </a:r>
            <a:endParaRPr lang="en-US" sz="800" dirty="0"/>
          </a:p>
        </p:txBody>
      </p:sp>
      <p:pic>
        <p:nvPicPr>
          <p:cNvPr id="8" name="Image 1" descr="C:\Users\seub1\Desktop\[Paper] Diffusion virtual staining paper\analysis_output\paper_panels_depth\chart2_multi_vs_mode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" y="3749040"/>
            <a:ext cx="6583680" cy="283464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228600" y="6720840"/>
            <a:ext cx="64008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5"/>
          <p:cNvSpPr/>
          <p:nvPr/>
        </p:nvSpPr>
        <p:spPr>
          <a:xfrm>
            <a:off x="228600" y="676656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(c) Normalized Metrics (Multi GT = 1.0)</a:t>
            </a:r>
            <a:endParaRPr lang="en-US" sz="8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949440"/>
          <a:ext cx="6400800" cy="914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Length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JN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PBBDM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0.95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0.93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0.78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8E44A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LBBDM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0.65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0.77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WGANGP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0.88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0.48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Pix2pix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0.81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0.83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0.42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LSGAN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0.77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0.39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 6"/>
          <p:cNvSpPr/>
          <p:nvPr/>
        </p:nvSpPr>
        <p:spPr>
          <a:xfrm>
            <a:off x="228600" y="813816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i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PBBDM achieves the closest match to GT across all multi-color depth metrics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Multi-sample Depth-aware Skeleton Comparison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70332" y="34747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Skel R (bridged)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2446020" y="34747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3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Skel B (bridged)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21708" y="34747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R+B Combined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 rot="16200000">
            <a:off x="18288" y="125730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1-19-716</a:t>
            </a:r>
            <a:endParaRPr lang="en-US" sz="550" dirty="0"/>
          </a:p>
        </p:txBody>
      </p:sp>
      <p:pic>
        <p:nvPicPr>
          <p:cNvPr id="7" name="Image 0" descr="C:\Users\seub1\Desktop\[Paper] Diffusion virtual staining paper\analysis_output\paper_panels_depth\extra_1-19-716_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" y="548640"/>
            <a:ext cx="1965960" cy="1600200"/>
          </a:xfrm>
          <a:prstGeom prst="rect">
            <a:avLst/>
          </a:prstGeom>
        </p:spPr>
      </p:pic>
      <p:pic>
        <p:nvPicPr>
          <p:cNvPr id="8" name="Image 1" descr="C:\Users\seub1\Desktop\[Paper] Diffusion virtual staining paper\analysis_output\paper_panels_depth\extra_1-19-716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6020" y="548640"/>
            <a:ext cx="1965960" cy="1600200"/>
          </a:xfrm>
          <a:prstGeom prst="rect">
            <a:avLst/>
          </a:prstGeom>
        </p:spPr>
      </p:pic>
      <p:pic>
        <p:nvPicPr>
          <p:cNvPr id="9" name="Image 2" descr="C:\Users\seub1\Desktop\[Paper] Diffusion virtual staining paper\analysis_output\paper_panels_depth\extra_1-19-716_com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1708" y="548640"/>
            <a:ext cx="1965960" cy="1600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 rot="16200000">
            <a:off x="18288" y="30586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9-15-512</a:t>
            </a:r>
            <a:endParaRPr lang="en-US" sz="550" dirty="0"/>
          </a:p>
        </p:txBody>
      </p:sp>
      <p:pic>
        <p:nvPicPr>
          <p:cNvPr id="11" name="Image 3" descr="C:\Users\seub1\Desktop\[Paper] Diffusion virtual staining paper\analysis_output\paper_panels_depth\extra_9-15-512_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332" y="2350008"/>
            <a:ext cx="1965960" cy="1600200"/>
          </a:xfrm>
          <a:prstGeom prst="rect">
            <a:avLst/>
          </a:prstGeom>
        </p:spPr>
      </p:pic>
      <p:pic>
        <p:nvPicPr>
          <p:cNvPr id="12" name="Image 4" descr="C:\Users\seub1\Desktop\[Paper] Diffusion virtual staining paper\analysis_output\paper_panels_depth\extra_9-15-512_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46020" y="2350008"/>
            <a:ext cx="1965960" cy="1600200"/>
          </a:xfrm>
          <a:prstGeom prst="rect">
            <a:avLst/>
          </a:prstGeom>
        </p:spPr>
      </p:pic>
      <p:pic>
        <p:nvPicPr>
          <p:cNvPr id="13" name="Image 5" descr="C:\Users\seub1\Desktop\[Paper] Diffusion virtual staining paper\analysis_output\paper_panels_depth\extra_9-15-512_com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1708" y="2350008"/>
            <a:ext cx="1965960" cy="160020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 rot="16200000">
            <a:off x="18288" y="4860036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16-18-716</a:t>
            </a:r>
            <a:endParaRPr lang="en-US" sz="550" dirty="0"/>
          </a:p>
        </p:txBody>
      </p:sp>
      <p:pic>
        <p:nvPicPr>
          <p:cNvPr id="15" name="Image 6" descr="C:\Users\seub1\Desktop\[Paper] Diffusion virtual staining paper\analysis_output\paper_panels_depth\extra_16-18-716_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0332" y="4151376"/>
            <a:ext cx="1965960" cy="1600200"/>
          </a:xfrm>
          <a:prstGeom prst="rect">
            <a:avLst/>
          </a:prstGeom>
        </p:spPr>
      </p:pic>
      <p:pic>
        <p:nvPicPr>
          <p:cNvPr id="16" name="Image 7" descr="C:\Users\seub1\Desktop\[Paper] Diffusion virtual staining paper\analysis_output\paper_panels_depth\extra_16-18-716_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46020" y="4151376"/>
            <a:ext cx="1965960" cy="1600200"/>
          </a:xfrm>
          <a:prstGeom prst="rect">
            <a:avLst/>
          </a:prstGeom>
        </p:spPr>
      </p:pic>
      <p:pic>
        <p:nvPicPr>
          <p:cNvPr id="17" name="Image 8" descr="C:\Users\seub1\Desktop\[Paper] Diffusion virtual staining paper\analysis_output\paper_panels_depth\extra_16-18-716_comb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21708" y="4151376"/>
            <a:ext cx="1965960" cy="1600200"/>
          </a:xfrm>
          <a:prstGeom prst="rect">
            <a:avLst/>
          </a:prstGeom>
        </p:spPr>
      </p:pic>
      <p:sp>
        <p:nvSpPr>
          <p:cNvPr id="18" name="Text 7"/>
          <p:cNvSpPr/>
          <p:nvPr/>
        </p:nvSpPr>
        <p:spPr>
          <a:xfrm rot="16200000">
            <a:off x="18288" y="6661404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18-19-512</a:t>
            </a:r>
            <a:endParaRPr lang="en-US" sz="550" dirty="0"/>
          </a:p>
        </p:txBody>
      </p:sp>
      <p:pic>
        <p:nvPicPr>
          <p:cNvPr id="19" name="Image 9" descr="C:\Users\seub1\Desktop\[Paper] Diffusion virtual staining paper\analysis_output\paper_panels_depth\extra_18-19-512_r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0332" y="5952744"/>
            <a:ext cx="1965960" cy="1600200"/>
          </a:xfrm>
          <a:prstGeom prst="rect">
            <a:avLst/>
          </a:prstGeom>
        </p:spPr>
      </p:pic>
      <p:pic>
        <p:nvPicPr>
          <p:cNvPr id="20" name="Image 10" descr="C:\Users\seub1\Desktop\[Paper] Diffusion virtual staining paper\analysis_output\paper_panels_depth\extra_18-19-512_b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46020" y="5952744"/>
            <a:ext cx="1965960" cy="1600200"/>
          </a:xfrm>
          <a:prstGeom prst="rect">
            <a:avLst/>
          </a:prstGeom>
        </p:spPr>
      </p:pic>
      <p:pic>
        <p:nvPicPr>
          <p:cNvPr id="21" name="Image 11" descr="C:\Users\seub1\Desktop\[Paper] Diffusion virtual staining paper\analysis_output\paper_panels_depth\extra_18-19-512_comb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21708" y="5952744"/>
            <a:ext cx="1965960" cy="1600200"/>
          </a:xfrm>
          <a:prstGeom prst="rect">
            <a:avLst/>
          </a:prstGeom>
        </p:spPr>
      </p:pic>
      <p:sp>
        <p:nvSpPr>
          <p:cNvPr id="22" name="Text 8"/>
          <p:cNvSpPr/>
          <p:nvPr/>
        </p:nvSpPr>
        <p:spPr>
          <a:xfrm rot="16200000">
            <a:off x="18288" y="846277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1-16-512</a:t>
            </a:r>
            <a:endParaRPr lang="en-US" sz="550" dirty="0"/>
          </a:p>
        </p:txBody>
      </p:sp>
      <p:pic>
        <p:nvPicPr>
          <p:cNvPr id="23" name="Image 12" descr="C:\Users\seub1\Desktop\[Paper] Diffusion virtual staining paper\analysis_output\paper_panels_depth\extra_1-16-512_r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70332" y="7754112"/>
            <a:ext cx="1965960" cy="1600200"/>
          </a:xfrm>
          <a:prstGeom prst="rect">
            <a:avLst/>
          </a:prstGeom>
        </p:spPr>
      </p:pic>
      <p:pic>
        <p:nvPicPr>
          <p:cNvPr id="24" name="Image 13" descr="C:\Users\seub1\Desktop\[Paper] Diffusion virtual staining paper\analysis_output\paper_panels_depth\extra_1-16-512_b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446020" y="7754112"/>
            <a:ext cx="1965960" cy="1600200"/>
          </a:xfrm>
          <a:prstGeom prst="rect">
            <a:avLst/>
          </a:prstGeom>
        </p:spPr>
      </p:pic>
      <p:pic>
        <p:nvPicPr>
          <p:cNvPr id="25" name="Image 14" descr="C:\Users\seub1\Desktop\[Paper] Diffusion virtual staining paper\analysis_output\paper_panels_depth\extra_1-16-512_comb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21708" y="7754112"/>
            <a:ext cx="1965960" cy="1600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391</Words>
  <Application>Microsoft Office PowerPoint</Application>
  <PresentationFormat>화면 슬라이드 쇼(4:3)</PresentationFormat>
  <Paragraphs>116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정섭 이</cp:lastModifiedBy>
  <cp:revision>2</cp:revision>
  <dcterms:created xsi:type="dcterms:W3CDTF">2026-03-24T11:29:56Z</dcterms:created>
  <dcterms:modified xsi:type="dcterms:W3CDTF">2026-03-24T12:11:34Z</dcterms:modified>
</cp:coreProperties>
</file>