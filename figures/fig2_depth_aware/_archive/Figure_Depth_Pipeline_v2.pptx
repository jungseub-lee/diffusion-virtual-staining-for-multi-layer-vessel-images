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097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Depth-aware Vessel Network Analysis Pipeline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28600" y="50292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Brightfield input</a:t>
            </a:r>
            <a:endParaRPr lang="en-US" sz="700" dirty="0"/>
          </a:p>
        </p:txBody>
      </p:sp>
      <p:pic>
        <p:nvPicPr>
          <p:cNvPr id="4" name="Image 0" descr="C:\Users\seub1\Desktop\[Paper] Diffusion virtual staining paper\analysis_output\paper_panels_depth\a_b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67512"/>
            <a:ext cx="1444752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50292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Multi-color GT</a:t>
            </a:r>
            <a:endParaRPr lang="en-US" sz="700" dirty="0"/>
          </a:p>
        </p:txBody>
      </p:sp>
      <p:pic>
        <p:nvPicPr>
          <p:cNvPr id="6" name="Image 1" descr="C:\Users\seub1\Desktop\[Paper] Diffusion virtual staining paper\analysis_output\paper_panels_depth\b_g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667512"/>
            <a:ext cx="1444752" cy="1188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37560" y="50292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R channel</a:t>
            </a:r>
            <a:endParaRPr lang="en-US" sz="700" dirty="0"/>
          </a:p>
        </p:txBody>
      </p:sp>
      <p:pic>
        <p:nvPicPr>
          <p:cNvPr id="8" name="Image 2" descr="C:\Users\seub1\Desktop\[Paper] Diffusion virtual staining paper\analysis_output\paper_panels_depth\c_r_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667512"/>
            <a:ext cx="1444752" cy="11887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92040" y="50292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B channel</a:t>
            </a:r>
            <a:endParaRPr lang="en-US" sz="700" dirty="0"/>
          </a:p>
        </p:txBody>
      </p:sp>
      <p:pic>
        <p:nvPicPr>
          <p:cNvPr id="10" name="Image 3" descr="C:\Users\seub1\Desktop\[Paper] Diffusion virtual staining paper\analysis_output\paper_panels_depth\d_b_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667512"/>
            <a:ext cx="1444752" cy="118872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228600" y="1965960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228600" y="205740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(e) R-B dominance</a:t>
            </a:r>
            <a:endParaRPr lang="en-US" sz="700" dirty="0"/>
          </a:p>
        </p:txBody>
      </p:sp>
      <p:pic>
        <p:nvPicPr>
          <p:cNvPr id="13" name="Image 4" descr="C:\Users\seub1\Desktop\[Paper] Diffusion virtual staining paper\analysis_output\paper_panels_depth\e_do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221992"/>
            <a:ext cx="1444752" cy="11887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83080" y="205740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(f) R skel (R&gt;B)</a:t>
            </a:r>
            <a:endParaRPr lang="en-US" sz="700" dirty="0"/>
          </a:p>
        </p:txBody>
      </p:sp>
      <p:pic>
        <p:nvPicPr>
          <p:cNvPr id="15" name="Image 5" descr="C:\Users\seub1\Desktop\[Paper] Diffusion virtual staining paper\analysis_output\paper_panels_depth\f_r_s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3080" y="2221992"/>
            <a:ext cx="1444752" cy="11887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337560" y="205740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(g) B skel (B&gt;R)</a:t>
            </a:r>
            <a:endParaRPr lang="en-US" sz="700" dirty="0"/>
          </a:p>
        </p:txBody>
      </p:sp>
      <p:pic>
        <p:nvPicPr>
          <p:cNvPr id="17" name="Image 6" descr="C:\Users\seub1\Desktop\[Paper] Diffusion virtual staining paper\analysis_output\paper_panels_depth\g_b_s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2221992"/>
            <a:ext cx="1444752" cy="118872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892040" y="205740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(h) R+B overlay</a:t>
            </a:r>
            <a:endParaRPr lang="en-US" sz="700" dirty="0"/>
          </a:p>
        </p:txBody>
      </p:sp>
      <p:pic>
        <p:nvPicPr>
          <p:cNvPr id="19" name="Image 7" descr="C:\Users\seub1\Desktop\[Paper] Diffusion virtual staining paper\analysis_output\paper_panels_depth\h_rb_overla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2221992"/>
            <a:ext cx="1444752" cy="118872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228600" y="3520440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1"/>
          <p:cNvSpPr/>
          <p:nvPr/>
        </p:nvSpPr>
        <p:spPr>
          <a:xfrm>
            <a:off x="228600" y="361188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(i) Single GT skel</a:t>
            </a:r>
            <a:endParaRPr lang="en-US" sz="700" dirty="0"/>
          </a:p>
        </p:txBody>
      </p:sp>
      <p:pic>
        <p:nvPicPr>
          <p:cNvPr id="22" name="Image 8" descr="C:\Users\seub1\Desktop\[Paper] Diffusion virtual staining paper\analysis_output\paper_panels_depth\i_sing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" y="3776472"/>
            <a:ext cx="1444752" cy="118872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783080" y="361188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(j) R bridged</a:t>
            </a:r>
            <a:endParaRPr lang="en-US" sz="700" dirty="0"/>
          </a:p>
        </p:txBody>
      </p:sp>
      <p:pic>
        <p:nvPicPr>
          <p:cNvPr id="24" name="Image 9" descr="C:\Users\seub1\Desktop\[Paper] Diffusion virtual staining paper\analysis_output\paper_panels_depth\j_r_b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83080" y="3776472"/>
            <a:ext cx="1444752" cy="118872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3337560" y="361188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(k) B bridged</a:t>
            </a:r>
            <a:endParaRPr lang="en-US" sz="700" dirty="0"/>
          </a:p>
        </p:txBody>
      </p:sp>
      <p:pic>
        <p:nvPicPr>
          <p:cNvPr id="26" name="Image 10" descr="C:\Users\seub1\Desktop\[Paper] Diffusion virtual staining paper\analysis_output\paper_panels_depth\k_b_b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7560" y="3776472"/>
            <a:ext cx="1444752" cy="118872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4892040" y="361188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(l) R+B combined</a:t>
            </a:r>
            <a:endParaRPr lang="en-US" sz="700" dirty="0"/>
          </a:p>
        </p:txBody>
      </p:sp>
      <p:pic>
        <p:nvPicPr>
          <p:cNvPr id="28" name="Image 11" descr="C:\Users\seub1\Desktop\[Paper] Diffusion virtual staining paper\analysis_output\paper_panels_depth\l_com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2040" y="3776472"/>
            <a:ext cx="1444752" cy="1188720"/>
          </a:xfrm>
          <a:prstGeom prst="rect">
            <a:avLst/>
          </a:prstGeom>
        </p:spPr>
      </p:pic>
      <p:sp>
        <p:nvSpPr>
          <p:cNvPr id="29" name="Shape 15"/>
          <p:cNvSpPr/>
          <p:nvPr/>
        </p:nvSpPr>
        <p:spPr>
          <a:xfrm>
            <a:off x="228600" y="5074920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Text 16"/>
          <p:cNvSpPr/>
          <p:nvPr/>
        </p:nvSpPr>
        <p:spPr>
          <a:xfrm>
            <a:off x="228600" y="51663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(m) Bridging Detail (yellow = bridged gap)</a:t>
            </a:r>
            <a:endParaRPr lang="en-US" sz="700" dirty="0"/>
          </a:p>
        </p:txBody>
      </p:sp>
      <p:pic>
        <p:nvPicPr>
          <p:cNvPr id="31" name="Image 12" descr="C:\Users\seub1\Desktop\[Paper] Diffusion virtual staining paper\analysis_output\paper_panels_depth\zoom_bridge_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8600" y="5349240"/>
            <a:ext cx="1371600" cy="1371600"/>
          </a:xfrm>
          <a:prstGeom prst="rect">
            <a:avLst/>
          </a:prstGeom>
        </p:spPr>
      </p:pic>
      <p:pic>
        <p:nvPicPr>
          <p:cNvPr id="32" name="Image 13" descr="C:\Users\seub1\Desktop\[Paper] Diffusion virtual staining paper\analysis_output\paper_panels_depth\zoom_bridge_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09928" y="5349240"/>
            <a:ext cx="1371600" cy="1371600"/>
          </a:xfrm>
          <a:prstGeom prst="rect">
            <a:avLst/>
          </a:prstGeom>
        </p:spPr>
      </p:pic>
      <p:pic>
        <p:nvPicPr>
          <p:cNvPr id="33" name="Image 14" descr="C:\Users\seub1\Desktop\[Paper] Diffusion virtual staining paper\analysis_output\paper_panels_depth\zoom_bridge_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91256" y="5349240"/>
            <a:ext cx="1371600" cy="1371600"/>
          </a:xfrm>
          <a:prstGeom prst="rect">
            <a:avLst/>
          </a:prstGeom>
        </p:spPr>
      </p:pic>
      <p:pic>
        <p:nvPicPr>
          <p:cNvPr id="34" name="Image 15" descr="C:\Users\seub1\Desktop\[Paper] Diffusion virtual staining paper\analysis_output\paper_panels_depth\zoom_bridge_4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72584" y="5349240"/>
            <a:ext cx="1371600" cy="1371600"/>
          </a:xfrm>
          <a:prstGeom prst="rect">
            <a:avLst/>
          </a:prstGeom>
        </p:spPr>
      </p:pic>
      <p:sp>
        <p:nvSpPr>
          <p:cNvPr id="35" name="Text 17"/>
          <p:cNvSpPr/>
          <p:nvPr/>
        </p:nvSpPr>
        <p:spPr>
          <a:xfrm>
            <a:off x="228600" y="67665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</a:t>
            </a:r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 skel  </a:t>
            </a:r>
            <a:pPr indent="0" marL="0">
              <a:buNone/>
            </a:pPr>
            <a:r>
              <a:rPr lang="en-US" sz="60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</a:t>
            </a:r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B skel  </a:t>
            </a:r>
            <a:pPr indent="0" marL="0">
              <a:buNone/>
            </a:pPr>
            <a:r>
              <a:rPr lang="en-US" sz="600" b="1" dirty="0">
                <a:solidFill>
                  <a:srgbClr val="CC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</a:t>
            </a:r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Bridged gap  </a:t>
            </a:r>
            <a:pPr indent="0" marL="0">
              <a:buNone/>
            </a:pPr>
            <a:r>
              <a:rPr lang="en-US" sz="60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Magenta </a:t>
            </a:r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Junction  </a:t>
            </a:r>
            <a:pPr indent="0" marL="0">
              <a:buNone/>
            </a:pPr>
            <a:r>
              <a:rPr lang="en-US" sz="600" b="1" dirty="0">
                <a:solidFill>
                  <a:srgbClr val="CC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dot </a:t>
            </a:r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Real EP  </a:t>
            </a:r>
            <a:pPr indent="0" marL="0">
              <a:buNone/>
            </a:pPr>
            <a:r>
              <a:rPr lang="en-US" sz="600" b="1" dirty="0">
                <a:solidFill>
                  <a:srgbClr val="00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dot </a:t>
            </a:r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Connected EP</a:t>
            </a:r>
            <a:endParaRPr lang="en-US" sz="600" dirty="0"/>
          </a:p>
        </p:txBody>
      </p:sp>
      <p:sp>
        <p:nvSpPr>
          <p:cNvPr id="36" name="Text 18"/>
          <p:cNvSpPr/>
          <p:nvPr/>
        </p:nvSpPr>
        <p:spPr>
          <a:xfrm rot="16200000">
            <a:off x="0" y="960120"/>
            <a:ext cx="201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600" dirty="0"/>
          </a:p>
        </p:txBody>
      </p:sp>
      <p:sp>
        <p:nvSpPr>
          <p:cNvPr id="37" name="Text 19"/>
          <p:cNvSpPr/>
          <p:nvPr/>
        </p:nvSpPr>
        <p:spPr>
          <a:xfrm rot="16200000">
            <a:off x="0" y="2514600"/>
            <a:ext cx="201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</a:t>
            </a:r>
            <a:endParaRPr lang="en-US" sz="600" dirty="0"/>
          </a:p>
        </p:txBody>
      </p:sp>
      <p:sp>
        <p:nvSpPr>
          <p:cNvPr id="38" name="Text 20"/>
          <p:cNvSpPr/>
          <p:nvPr/>
        </p:nvSpPr>
        <p:spPr>
          <a:xfrm rot="16200000">
            <a:off x="0" y="4069080"/>
            <a:ext cx="201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</a:t>
            </a:r>
            <a:endParaRPr lang="en-US" sz="600" dirty="0"/>
          </a:p>
        </p:txBody>
      </p:sp>
      <p:sp>
        <p:nvSpPr>
          <p:cNvPr id="39" name="Text 21"/>
          <p:cNvSpPr/>
          <p:nvPr/>
        </p:nvSpPr>
        <p:spPr>
          <a:xfrm rot="16200000">
            <a:off x="0" y="5806440"/>
            <a:ext cx="201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097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Network Quantification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28600" y="5029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Single GT vs Multi GT (N=215)</a:t>
            </a:r>
            <a:endParaRPr lang="en-US" sz="800" dirty="0"/>
          </a:p>
        </p:txBody>
      </p:sp>
      <p:pic>
        <p:nvPicPr>
          <p:cNvPr id="4" name="Image 0" descr="C:\Users\seub1\Desktop\[Paper] Diffusion virtual staining paper\analysis_output\paper_panels_depth\chart1_single_vs_mul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594360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3794760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38862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Multi-color GT vs Virtual Staining Models</a:t>
            </a:r>
            <a:endParaRPr lang="en-US" sz="800" dirty="0"/>
          </a:p>
        </p:txBody>
      </p:sp>
      <p:pic>
        <p:nvPicPr>
          <p:cNvPr id="7" name="Image 1" descr="C:\Users\seub1\Desktop\[Paper] Diffusion virtual staining paper\analysis_output\paper_panels_depth\chart2_multi_vs_mode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114800"/>
            <a:ext cx="6309360" cy="3017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8600" y="7132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Normalized Metrics Summary (Multi GT = 1.0)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315200"/>
          <a:ext cx="5943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371600"/>
                <a:gridCol w="137160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Junctions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GT (Multi)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PBBDM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8E44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LBBDM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WGANGP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Pix2pix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LSGAN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88239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 achieves closest match to GT across all metrics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Figure: Multi-color Depth-aware Vessel Analysis Pipeline</dc:title>
  <dc:subject>PptxGenJS Presentation</dc:subject>
  <dc:creator>Depth-aware Vessel Analysis</dc:creator>
  <cp:lastModifiedBy>Depth-aware Vessel Analysis</cp:lastModifiedBy>
  <cp:revision>1</cp:revision>
  <dcterms:created xsi:type="dcterms:W3CDTF">2026-03-24T01:34:21Z</dcterms:created>
  <dcterms:modified xsi:type="dcterms:W3CDTF">2026-03-24T01:34:21Z</dcterms:modified>
</cp:coreProperties>
</file>