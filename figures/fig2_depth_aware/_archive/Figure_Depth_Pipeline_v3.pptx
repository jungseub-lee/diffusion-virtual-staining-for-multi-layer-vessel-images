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6858000" cy="9144000" type="screen4x3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72" y="-15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3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Depth-aware Vessel Network Analysis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4114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Brightfield</a:t>
            </a:r>
            <a:endParaRPr lang="en-US" sz="700" dirty="0"/>
          </a:p>
        </p:txBody>
      </p:sp>
      <p:pic>
        <p:nvPicPr>
          <p:cNvPr id="4" name="Image 0" descr="C:\Users\seub1\Desktop\[Paper] Diffusion virtual staining paper\analysis_output\paper_panels_depth\a_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76072"/>
            <a:ext cx="1444752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4114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Multi-color GT</a:t>
            </a:r>
            <a:endParaRPr lang="en-US" sz="700" dirty="0"/>
          </a:p>
        </p:txBody>
      </p:sp>
      <p:pic>
        <p:nvPicPr>
          <p:cNvPr id="6" name="Image 1" descr="C:\Users\seub1\Desktop\[Paper] Diffusion virtual staining paper\analysis_output\paper_panels_depth\b_g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576072"/>
            <a:ext cx="1444752" cy="1188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37560" y="4114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R channel</a:t>
            </a:r>
            <a:endParaRPr lang="en-US" sz="700" dirty="0"/>
          </a:p>
        </p:txBody>
      </p:sp>
      <p:pic>
        <p:nvPicPr>
          <p:cNvPr id="8" name="Image 2" descr="C:\Users\seub1\Desktop\[Paper] Diffusion virtual staining paper\analysis_output\paper_panels_depth\c_r_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576072"/>
            <a:ext cx="1444752" cy="11887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92040" y="4114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B channel</a:t>
            </a:r>
            <a:endParaRPr lang="en-US" sz="700" dirty="0"/>
          </a:p>
        </p:txBody>
      </p:sp>
      <p:pic>
        <p:nvPicPr>
          <p:cNvPr id="10" name="Image 3" descr="C:\Users\seub1\Desktop\[Paper] Diffusion virtual staining paper\analysis_output\paper_panels_depth\d_b_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576072"/>
            <a:ext cx="1444752" cy="118872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228600" y="187452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6"/>
          <p:cNvSpPr/>
          <p:nvPr/>
        </p:nvSpPr>
        <p:spPr>
          <a:xfrm>
            <a:off x="228600" y="19659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 R-B dominance</a:t>
            </a:r>
            <a:endParaRPr lang="en-US" sz="700" dirty="0"/>
          </a:p>
        </p:txBody>
      </p:sp>
      <p:pic>
        <p:nvPicPr>
          <p:cNvPr id="13" name="Image 4" descr="C:\Users\seub1\Desktop\[Paper] Diffusion virtual staining paper\analysis_output\paper_panels_depth\e_d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2130552"/>
            <a:ext cx="1444752" cy="11887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83080" y="19659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(f) R skeleton</a:t>
            </a:r>
            <a:endParaRPr lang="en-US" sz="700" dirty="0"/>
          </a:p>
        </p:txBody>
      </p:sp>
      <p:pic>
        <p:nvPicPr>
          <p:cNvPr id="15" name="Image 5" descr="C:\Users\seub1\Desktop\[Paper] Diffusion virtual staining paper\analysis_output\paper_panels_depth\f_r_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3080" y="2130552"/>
            <a:ext cx="1444752" cy="11887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337560" y="19659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(g) B skeleton</a:t>
            </a:r>
            <a:endParaRPr lang="en-US" sz="700" dirty="0"/>
          </a:p>
        </p:txBody>
      </p:sp>
      <p:pic>
        <p:nvPicPr>
          <p:cNvPr id="17" name="Image 6" descr="C:\Users\seub1\Desktop\[Paper] Diffusion virtual staining paper\analysis_output\paper_panels_depth\g_b_s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2130552"/>
            <a:ext cx="1444752" cy="11887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892040" y="19659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(h) R+B overlay</a:t>
            </a:r>
            <a:endParaRPr lang="en-US" sz="700" dirty="0"/>
          </a:p>
        </p:txBody>
      </p:sp>
      <p:pic>
        <p:nvPicPr>
          <p:cNvPr id="19" name="Image 7" descr="C:\Users\seub1\Desktop\[Paper] Diffusion virtual staining paper\analysis_output\paper_panels_depth\h_rb_overla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2130552"/>
            <a:ext cx="1444752" cy="118872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228600" y="342900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1"/>
          <p:cNvSpPr/>
          <p:nvPr/>
        </p:nvSpPr>
        <p:spPr>
          <a:xfrm>
            <a:off x="228600" y="35204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(i) Single GT skel</a:t>
            </a:r>
            <a:endParaRPr lang="en-US" sz="700" dirty="0"/>
          </a:p>
        </p:txBody>
      </p:sp>
      <p:pic>
        <p:nvPicPr>
          <p:cNvPr id="22" name="Image 8" descr="C:\Users\seub1\Desktop\[Paper] Diffusion virtual staining paper\analysis_output\paper_panels_depth\i_sing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3685032"/>
            <a:ext cx="1444752" cy="11887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783080" y="35204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(j) R bridged</a:t>
            </a:r>
            <a:endParaRPr lang="en-US" sz="700" dirty="0"/>
          </a:p>
        </p:txBody>
      </p:sp>
      <p:pic>
        <p:nvPicPr>
          <p:cNvPr id="24" name="Image 9" descr="C:\Users\seub1\Desktop\[Paper] Diffusion virtual staining paper\analysis_output\paper_panels_depth\j_r_b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83080" y="3685032"/>
            <a:ext cx="1444752" cy="11887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3337560" y="35204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(k) B bridged</a:t>
            </a:r>
            <a:endParaRPr lang="en-US" sz="700" dirty="0"/>
          </a:p>
        </p:txBody>
      </p:sp>
      <p:pic>
        <p:nvPicPr>
          <p:cNvPr id="26" name="Image 10" descr="C:\Users\seub1\Desktop\[Paper] Diffusion virtual staining paper\analysis_output\paper_panels_depth\k_b_b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7560" y="3685032"/>
            <a:ext cx="1444752" cy="118872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4892040" y="35204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(l) R+B combined</a:t>
            </a:r>
            <a:endParaRPr lang="en-US" sz="700" dirty="0"/>
          </a:p>
        </p:txBody>
      </p:sp>
      <p:pic>
        <p:nvPicPr>
          <p:cNvPr id="28" name="Image 11" descr="C:\Users\seub1\Desktop\[Paper] Diffusion virtual staining paper\analysis_output\paper_panels_depth\l_comb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2040" y="3685032"/>
            <a:ext cx="1444752" cy="1188720"/>
          </a:xfrm>
          <a:prstGeom prst="rect">
            <a:avLst/>
          </a:prstGeom>
        </p:spPr>
      </p:pic>
      <p:sp>
        <p:nvSpPr>
          <p:cNvPr id="29" name="Shape 15"/>
          <p:cNvSpPr/>
          <p:nvPr/>
        </p:nvSpPr>
        <p:spPr>
          <a:xfrm>
            <a:off x="228600" y="498348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16"/>
          <p:cNvSpPr/>
          <p:nvPr/>
        </p:nvSpPr>
        <p:spPr>
          <a:xfrm>
            <a:off x="228600" y="507492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(m) Bridging: Before → After → Final</a:t>
            </a:r>
            <a:endParaRPr lang="en-US" sz="700" dirty="0"/>
          </a:p>
        </p:txBody>
      </p:sp>
      <p:pic>
        <p:nvPicPr>
          <p:cNvPr id="31" name="Image 12" descr="C:\Users\seub1\Desktop\[Paper] Diffusion virtual staining paper\analysis_output\paper_panels_depth\bridge_overvie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600" y="5257800"/>
            <a:ext cx="6400800" cy="169164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228600" y="699516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</a:t>
            </a: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 skel   </a:t>
            </a:r>
            <a:r>
              <a:rPr lang="en-US" sz="60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</a:t>
            </a: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B skel   </a:t>
            </a:r>
            <a:r>
              <a:rPr lang="en-US" sz="600" b="1" dirty="0">
                <a:solidFill>
                  <a:srgbClr val="CC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● </a:t>
            </a: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EP + tangent   </a:t>
            </a:r>
            <a:r>
              <a:rPr lang="en-US" sz="600" b="1" dirty="0">
                <a:solidFill>
                  <a:srgbClr val="00C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</a:t>
            </a: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Bridge path</a:t>
            </a:r>
            <a:endParaRPr lang="en-US" sz="600" dirty="0"/>
          </a:p>
        </p:txBody>
      </p:sp>
      <p:sp>
        <p:nvSpPr>
          <p:cNvPr id="33" name="Text 18"/>
          <p:cNvSpPr/>
          <p:nvPr/>
        </p:nvSpPr>
        <p:spPr>
          <a:xfrm>
            <a:off x="228600" y="72237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(n) Bridge Zoom Details (endpoint tangent → Bézier curve)</a:t>
            </a:r>
            <a:endParaRPr lang="en-US" sz="700" dirty="0"/>
          </a:p>
        </p:txBody>
      </p:sp>
      <p:pic>
        <p:nvPicPr>
          <p:cNvPr id="34" name="Image 13" descr="C:\Users\seub1\Desktop\[Paper] Diffusion virtual staining paper\analysis_output\paper_panels_depth\zoom_bridge_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7180" y="7406640"/>
            <a:ext cx="1463040" cy="1463040"/>
          </a:xfrm>
          <a:prstGeom prst="rect">
            <a:avLst/>
          </a:prstGeom>
        </p:spPr>
      </p:pic>
      <p:pic>
        <p:nvPicPr>
          <p:cNvPr id="35" name="Image 14" descr="C:\Users\seub1\Desktop\[Paper] Diffusion virtual staining paper\analysis_output\paper_panels_depth\zoom_bridge_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97380" y="7406640"/>
            <a:ext cx="1463040" cy="1463040"/>
          </a:xfrm>
          <a:prstGeom prst="rect">
            <a:avLst/>
          </a:prstGeom>
        </p:spPr>
      </p:pic>
      <p:pic>
        <p:nvPicPr>
          <p:cNvPr id="36" name="Image 15" descr="C:\Users\seub1\Desktop\[Paper] Diffusion virtual staining paper\analysis_output\paper_panels_depth\zoom_bridge_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97580" y="7406640"/>
            <a:ext cx="1463040" cy="1463040"/>
          </a:xfrm>
          <a:prstGeom prst="rect">
            <a:avLst/>
          </a:prstGeom>
        </p:spPr>
      </p:pic>
      <p:pic>
        <p:nvPicPr>
          <p:cNvPr id="37" name="Image 16" descr="C:\Users\seub1\Desktop\[Paper] Diffusion virtual staining paper\analysis_output\paper_panels_depth\zoom_bridge_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97780" y="74066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Tangent-guided Gap Bridging Algorithm</a:t>
            </a:r>
            <a:endParaRPr lang="en-US" sz="1300" dirty="0"/>
          </a:p>
        </p:txBody>
      </p:sp>
      <p:pic>
        <p:nvPicPr>
          <p:cNvPr id="3" name="Image 0" descr="C:\Users\seub1\Desktop\[Paper] Diffusion virtual staining paper\analysis_output\paper_panels_depth\bridge_algorith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11480"/>
            <a:ext cx="6309360" cy="393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457200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Examples (R and B channels)</a:t>
            </a:r>
            <a:endParaRPr lang="en-US" sz="900" dirty="0"/>
          </a:p>
        </p:txBody>
      </p:sp>
      <p:pic>
        <p:nvPicPr>
          <p:cNvPr id="5" name="Image 1" descr="C:\Users\seub1\Desktop\[Paper] Diffusion virtual staining paper\analysis_output\paper_panels_depth\zoom_bridg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846320"/>
            <a:ext cx="1371600" cy="1371600"/>
          </a:xfrm>
          <a:prstGeom prst="rect">
            <a:avLst/>
          </a:prstGeom>
        </p:spPr>
      </p:pic>
      <p:pic>
        <p:nvPicPr>
          <p:cNvPr id="6" name="Image 2" descr="C:\Users\seub1\Desktop\[Paper] Diffusion virtual staining paper\analysis_output\paper_panels_depth\zoom_bridg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846320"/>
            <a:ext cx="1371600" cy="1371600"/>
          </a:xfrm>
          <a:prstGeom prst="rect">
            <a:avLst/>
          </a:prstGeom>
        </p:spPr>
      </p:pic>
      <p:pic>
        <p:nvPicPr>
          <p:cNvPr id="7" name="Image 3" descr="C:\Users\seub1\Desktop\[Paper] Diffusion virtual staining paper\analysis_output\paper_panels_depth\zoom_bridge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4846320"/>
            <a:ext cx="1371600" cy="1371600"/>
          </a:xfrm>
          <a:prstGeom prst="rect">
            <a:avLst/>
          </a:prstGeom>
        </p:spPr>
      </p:pic>
      <p:pic>
        <p:nvPicPr>
          <p:cNvPr id="8" name="Image 4" descr="C:\Users\seub1\Desktop\[Paper] Diffusion virtual staining paper\analysis_output\paper_panels_depth\zoom_bridge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846320"/>
            <a:ext cx="1371600" cy="13716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365760" y="6400800"/>
            <a:ext cx="6126480" cy="22860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Criteria for Bridge Matching:
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Distance constraint: </a:t>
            </a: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pair distance &lt; 80 px
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Angular alignment: </a:t>
            </a: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 vectors align with connection direction (cos θ &gt; cos 60°)
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Vessel mask validation: </a:t>
            </a: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≥70% of bridge path lies within vessel mask
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Bézier interpolation: </a:t>
            </a: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cubic Bézier with control points from tangent vectors
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Greedy selection: </a:t>
            </a: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best-scoring pairs first, no endpoint reuse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Network Quantification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45720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Single GT vs Multi GT — Normalized (Single GT = 1.0, N=215, top 80%)</a:t>
            </a:r>
            <a:endParaRPr lang="en-US" sz="800" dirty="0"/>
          </a:p>
        </p:txBody>
      </p:sp>
      <p:pic>
        <p:nvPicPr>
          <p:cNvPr id="4" name="Image 0" descr="C:\Users\seub1\Desktop\[Paper] Diffusion virtual staining paper\analysis_output\paper_panels_depth\chart1_single_vs_mul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85800"/>
            <a:ext cx="29718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3749040"/>
            <a:ext cx="6400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228600" y="38404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Multi-color GT vs Virtual Staining Models — Normalized (Multi GT = 1.0)</a:t>
            </a:r>
            <a:endParaRPr lang="en-US" sz="800" dirty="0"/>
          </a:p>
        </p:txBody>
      </p:sp>
      <p:pic>
        <p:nvPicPr>
          <p:cNvPr id="7" name="Image 1" descr="C:\Users\seub1\Desktop\[Paper] Diffusion virtual staining paper\analysis_output\paper_panels_depth\chart2_multi_vs_mod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4069080"/>
            <a:ext cx="658368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8600" y="72237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Normalized Metrics Summary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406640"/>
          <a:ext cx="6035040" cy="1386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GT (Multi)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228600" y="88239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i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 achieves closest match to GT across all multi-color metrics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296</Words>
  <Application>Microsoft Office PowerPoint</Application>
  <PresentationFormat>화면 슬라이드 쇼(4:3)</PresentationFormat>
  <Paragraphs>60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Figure: Multi-color Depth-aware Vessel Analysis Pipeline</dc:title>
  <dc:subject>PptxGenJS Presentation</dc:subject>
  <dc:creator>Depth-aware Vessel Analysis</dc:creator>
  <cp:lastModifiedBy>정섭 이</cp:lastModifiedBy>
  <cp:revision>2</cp:revision>
  <dcterms:created xsi:type="dcterms:W3CDTF">2026-03-24T02:02:42Z</dcterms:created>
  <dcterms:modified xsi:type="dcterms:W3CDTF">2026-03-24T11:25:21Z</dcterms:modified>
</cp:coreProperties>
</file>