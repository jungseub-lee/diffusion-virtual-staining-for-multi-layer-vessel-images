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2926080"/>
  <p:notesSz cx="292608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" y="457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74320" y="3200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Single-plane Brightfield</a:t>
            </a:r>
            <a:endParaRPr lang="en-US" sz="900" dirty="0"/>
          </a:p>
        </p:txBody>
      </p:sp>
      <p:pic>
        <p:nvPicPr>
          <p:cNvPr id="4" name="Image 0" descr="C:\Users\seub1\Desktop\[Paper] Diffusion virtual staining paper\analysis_output\paper_panels_depth\fig1e_b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22960"/>
            <a:ext cx="1371600" cy="1371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822960"/>
            <a:ext cx="1371600" cy="1371600"/>
          </a:xfrm>
          <a:prstGeom prst="rect">
            <a:avLst/>
          </a:prstGeom>
          <a:noFill/>
          <a:ln w="25400">
            <a:solidFill>
              <a:srgbClr val="7F8C8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719072" y="1508760"/>
            <a:ext cx="777240" cy="0"/>
          </a:xfrm>
          <a:prstGeom prst="line">
            <a:avLst/>
          </a:prstGeom>
          <a:noFill/>
          <a:ln w="31750">
            <a:solidFill>
              <a:srgbClr val="2C3E50"/>
            </a:solidFill>
            <a:prstDash val="solid"/>
            <a:tailEnd type="triangle"/>
          </a:ln>
        </p:spPr>
      </p:sp>
      <p:sp>
        <p:nvSpPr>
          <p:cNvPr id="7" name="Shape 4"/>
          <p:cNvSpPr/>
          <p:nvPr/>
        </p:nvSpPr>
        <p:spPr>
          <a:xfrm>
            <a:off x="1741932" y="1216152"/>
            <a:ext cx="731520" cy="228600"/>
          </a:xfrm>
          <a:prstGeom prst="roundRect">
            <a:avLst>
              <a:gd name="adj" fmla="val 20000"/>
            </a:avLst>
          </a:prstGeom>
          <a:solidFill>
            <a:srgbClr val="2C3E50"/>
          </a:solidFill>
          <a:ln/>
        </p:spPr>
      </p:sp>
      <p:sp>
        <p:nvSpPr>
          <p:cNvPr id="8" name="Text 5"/>
          <p:cNvSpPr/>
          <p:nvPr/>
        </p:nvSpPr>
        <p:spPr>
          <a:xfrm>
            <a:off x="1741932" y="121615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LBBDM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719072" y="1581912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Staining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2569464" y="3200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Depth-encoded Fluorescence</a:t>
            </a:r>
            <a:endParaRPr lang="en-US" sz="900" dirty="0"/>
          </a:p>
        </p:txBody>
      </p:sp>
      <p:pic>
        <p:nvPicPr>
          <p:cNvPr id="11" name="Image 1" descr="C:\Users\seub1\Desktop\[Paper] Diffusion virtual staining paper\analysis_output\paper_panels_depth\fig1e_g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9464" y="822960"/>
            <a:ext cx="1371600" cy="13716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569464" y="822960"/>
            <a:ext cx="1371600" cy="1371600"/>
          </a:xfrm>
          <a:prstGeom prst="rect">
            <a:avLst/>
          </a:prstGeom>
          <a:noFill/>
          <a:ln w="25400">
            <a:solidFill>
              <a:srgbClr val="8E44AD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014216" y="1508760"/>
            <a:ext cx="544068" cy="0"/>
          </a:xfrm>
          <a:prstGeom prst="line">
            <a:avLst/>
          </a:prstGeom>
          <a:noFill/>
          <a:ln w="31750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14" name="Text 10"/>
          <p:cNvSpPr/>
          <p:nvPr/>
        </p:nvSpPr>
        <p:spPr>
          <a:xfrm>
            <a:off x="4014216" y="1581912"/>
            <a:ext cx="5440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RGB</a:t>
            </a:r>
            <a:endParaRPr lang="en-US" sz="650" dirty="0"/>
          </a:p>
          <a:p>
            <a:pPr algn="ctr" indent="0" marL="0">
              <a:buNone/>
            </a:pPr>
            <a:r>
              <a:rPr lang="en-US" sz="65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Separation</a:t>
            </a:r>
            <a:endParaRPr lang="en-US" sz="650" dirty="0"/>
          </a:p>
        </p:txBody>
      </p:sp>
      <p:sp>
        <p:nvSpPr>
          <p:cNvPr id="15" name="Text 11"/>
          <p:cNvSpPr/>
          <p:nvPr/>
        </p:nvSpPr>
        <p:spPr>
          <a:xfrm>
            <a:off x="4631436" y="3200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Depth-separated Skeletonization &amp; Quantification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4631436" y="777240"/>
            <a:ext cx="3474720" cy="1463040"/>
          </a:xfrm>
          <a:prstGeom prst="roundRect">
            <a:avLst>
              <a:gd name="adj" fmla="val 5000"/>
            </a:avLst>
          </a:prstGeom>
          <a:solidFill>
            <a:srgbClr val="F7F8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860036" y="1051560"/>
            <a:ext cx="2057400" cy="182880"/>
          </a:xfrm>
          <a:prstGeom prst="line">
            <a:avLst/>
          </a:prstGeom>
          <a:noFill/>
          <a:ln w="63500">
            <a:solidFill>
              <a:srgbClr val="2980B9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591556" y="1143000"/>
            <a:ext cx="457200" cy="-274320"/>
          </a:xfrm>
          <a:prstGeom prst="line">
            <a:avLst/>
          </a:prstGeom>
          <a:noFill/>
          <a:ln w="50800">
            <a:solidFill>
              <a:srgbClr val="2980B9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003036" y="822960"/>
            <a:ext cx="91440" cy="91440"/>
          </a:xfrm>
          <a:prstGeom prst="ellipse">
            <a:avLst/>
          </a:prstGeom>
          <a:solidFill>
            <a:srgbClr val="F1C40F"/>
          </a:solidFill>
          <a:ln/>
        </p:spPr>
      </p:sp>
      <p:sp>
        <p:nvSpPr>
          <p:cNvPr id="20" name="Shape 16"/>
          <p:cNvSpPr/>
          <p:nvPr/>
        </p:nvSpPr>
        <p:spPr>
          <a:xfrm>
            <a:off x="5545836" y="1106424"/>
            <a:ext cx="109728" cy="109728"/>
          </a:xfrm>
          <a:prstGeom prst="ellipse">
            <a:avLst/>
          </a:prstGeom>
          <a:solidFill>
            <a:srgbClr val="E91E9C"/>
          </a:solidFill>
          <a:ln/>
        </p:spPr>
      </p:sp>
      <p:sp>
        <p:nvSpPr>
          <p:cNvPr id="21" name="Text 17"/>
          <p:cNvSpPr/>
          <p:nvPr/>
        </p:nvSpPr>
        <p:spPr>
          <a:xfrm>
            <a:off x="4722876" y="66751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layer (B&gt;R)</a:t>
            </a:r>
            <a:endParaRPr lang="en-US" sz="700" dirty="0"/>
          </a:p>
        </p:txBody>
      </p:sp>
      <p:sp>
        <p:nvSpPr>
          <p:cNvPr id="22" name="Shape 18"/>
          <p:cNvSpPr/>
          <p:nvPr/>
        </p:nvSpPr>
        <p:spPr>
          <a:xfrm>
            <a:off x="4997196" y="1783080"/>
            <a:ext cx="1920240" cy="137160"/>
          </a:xfrm>
          <a:prstGeom prst="line">
            <a:avLst/>
          </a:prstGeom>
          <a:noFill/>
          <a:ln w="63500">
            <a:solidFill>
              <a:srgbClr val="C0392B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5957316" y="1874520"/>
            <a:ext cx="365760" cy="320040"/>
          </a:xfrm>
          <a:prstGeom prst="line">
            <a:avLst/>
          </a:prstGeom>
          <a:noFill/>
          <a:ln w="50800">
            <a:solidFill>
              <a:srgbClr val="C0392B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277356" y="2148840"/>
            <a:ext cx="91440" cy="91440"/>
          </a:xfrm>
          <a:prstGeom prst="ellipse">
            <a:avLst/>
          </a:prstGeom>
          <a:solidFill>
            <a:srgbClr val="F1C40F"/>
          </a:solidFill>
          <a:ln/>
        </p:spPr>
      </p:sp>
      <p:sp>
        <p:nvSpPr>
          <p:cNvPr id="25" name="Shape 21"/>
          <p:cNvSpPr/>
          <p:nvPr/>
        </p:nvSpPr>
        <p:spPr>
          <a:xfrm>
            <a:off x="5911596" y="1837944"/>
            <a:ext cx="109728" cy="109728"/>
          </a:xfrm>
          <a:prstGeom prst="ellipse">
            <a:avLst/>
          </a:prstGeom>
          <a:solidFill>
            <a:srgbClr val="E91E9C"/>
          </a:solidFill>
          <a:ln/>
        </p:spPr>
      </p:sp>
      <p:sp>
        <p:nvSpPr>
          <p:cNvPr id="26" name="Text 22"/>
          <p:cNvSpPr/>
          <p:nvPr/>
        </p:nvSpPr>
        <p:spPr>
          <a:xfrm>
            <a:off x="4722876" y="210312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layer (R&gt;B)</a:t>
            </a:r>
            <a:endParaRPr lang="en-US" sz="700" dirty="0"/>
          </a:p>
        </p:txBody>
      </p:sp>
      <p:sp>
        <p:nvSpPr>
          <p:cNvPr id="27" name="Shape 23"/>
          <p:cNvSpPr/>
          <p:nvPr/>
        </p:nvSpPr>
        <p:spPr>
          <a:xfrm>
            <a:off x="5317236" y="1394460"/>
            <a:ext cx="548640" cy="365760"/>
          </a:xfrm>
          <a:prstGeom prst="ellipse">
            <a:avLst/>
          </a:prstGeom>
          <a:noFill/>
          <a:ln w="12700">
            <a:solidFill>
              <a:srgbClr val="999999"/>
            </a:solidFill>
            <a:prstDash val="dash"/>
          </a:ln>
        </p:spPr>
      </p:sp>
      <p:sp>
        <p:nvSpPr>
          <p:cNvPr id="28" name="Text 24"/>
          <p:cNvSpPr/>
          <p:nvPr/>
        </p:nvSpPr>
        <p:spPr>
          <a:xfrm>
            <a:off x="5271516" y="17602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crossing</a:t>
            </a:r>
            <a:endParaRPr lang="en-US" sz="550" dirty="0"/>
          </a:p>
          <a:p>
            <a:pPr algn="ctr" indent="0" marL="0">
              <a:buNone/>
            </a:pPr>
            <a:r>
              <a:rPr lang="en-US" sz="55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resolved</a:t>
            </a:r>
            <a:endParaRPr lang="en-US" sz="550" dirty="0"/>
          </a:p>
        </p:txBody>
      </p:sp>
      <p:sp>
        <p:nvSpPr>
          <p:cNvPr id="29" name="Shape 25"/>
          <p:cNvSpPr/>
          <p:nvPr/>
        </p:nvSpPr>
        <p:spPr>
          <a:xfrm>
            <a:off x="7054596" y="914400"/>
            <a:ext cx="91440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7054596" y="9326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Per-layer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7100316" y="120700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Vessel Area</a:t>
            </a:r>
            <a:endParaRPr lang="en-US" sz="700" dirty="0"/>
          </a:p>
        </p:txBody>
      </p:sp>
      <p:sp>
        <p:nvSpPr>
          <p:cNvPr id="32" name="Text 28"/>
          <p:cNvSpPr/>
          <p:nvPr/>
        </p:nvSpPr>
        <p:spPr>
          <a:xfrm>
            <a:off x="7100316" y="138988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Vessel Length</a:t>
            </a:r>
            <a:endParaRPr lang="en-US" sz="700" dirty="0"/>
          </a:p>
        </p:txBody>
      </p:sp>
      <p:sp>
        <p:nvSpPr>
          <p:cNvPr id="33" name="Text 29"/>
          <p:cNvSpPr/>
          <p:nvPr/>
        </p:nvSpPr>
        <p:spPr>
          <a:xfrm>
            <a:off x="7100316" y="157276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Junctions</a:t>
            </a:r>
            <a:endParaRPr lang="en-US" sz="700" dirty="0"/>
          </a:p>
        </p:txBody>
      </p:sp>
      <p:sp>
        <p:nvSpPr>
          <p:cNvPr id="34" name="Text 30"/>
          <p:cNvSpPr/>
          <p:nvPr/>
        </p:nvSpPr>
        <p:spPr>
          <a:xfrm>
            <a:off x="7100316" y="175564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Endpoints</a:t>
            </a:r>
            <a:endParaRPr lang="en-US" sz="700" dirty="0"/>
          </a:p>
        </p:txBody>
      </p:sp>
      <p:sp>
        <p:nvSpPr>
          <p:cNvPr id="35" name="Shape 31"/>
          <p:cNvSpPr/>
          <p:nvPr/>
        </p:nvSpPr>
        <p:spPr>
          <a:xfrm>
            <a:off x="6917436" y="1508760"/>
            <a:ext cx="137160" cy="0"/>
          </a:xfrm>
          <a:prstGeom prst="line">
            <a:avLst/>
          </a:prstGeom>
          <a:noFill/>
          <a:ln w="19050">
            <a:solidFill>
              <a:srgbClr val="27AE60"/>
            </a:solidFill>
            <a:prstDash val="solid"/>
            <a:tailEnd type="triangle"/>
          </a:ln>
        </p:spPr>
      </p:sp>
      <p:sp>
        <p:nvSpPr>
          <p:cNvPr id="36" name="Text 32"/>
          <p:cNvSpPr/>
          <p:nvPr/>
        </p:nvSpPr>
        <p:spPr>
          <a:xfrm>
            <a:off x="4631436" y="2304288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91E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algn="ctr" indent="0" marL="0">
              <a:buNone/>
            </a:pPr>
            <a:r>
              <a:rPr lang="en-US" sz="7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Junction   </a:t>
            </a:r>
            <a:pPr algn="ctr" indent="0" marL="0">
              <a:buNone/>
            </a:pPr>
            <a:r>
              <a:rPr lang="en-US" sz="800" dirty="0">
                <a:solidFill>
                  <a:srgbClr val="F1C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algn="ctr" indent="0" marL="0">
              <a:buNone/>
            </a:pPr>
            <a:r>
              <a:rPr lang="en-US" sz="7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   </a:t>
            </a:r>
            <a:pPr algn="ctr" indent="0" marL="0">
              <a:buNone/>
            </a:pPr>
            <a:r>
              <a:rPr lang="en-US" sz="800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── </a:t>
            </a:r>
            <a:pPr algn="ctr" indent="0" marL="0">
              <a:buNone/>
            </a:pPr>
            <a:r>
              <a:rPr lang="en-US" sz="7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skel   </a:t>
            </a:r>
            <a:pPr algn="ctr" indent="0" marL="0">
              <a:buNone/>
            </a:pPr>
            <a:r>
              <a:rPr lang="en-US" sz="8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── </a:t>
            </a:r>
            <a:pPr algn="ctr" indent="0" marL="0">
              <a:buNone/>
            </a:pPr>
            <a:r>
              <a:rPr lang="en-US" sz="7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skel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2026-03-25T02:49:32Z</dcterms:created>
  <dcterms:modified xsi:type="dcterms:W3CDTF">2026-03-25T02:49:32Z</dcterms:modified>
</cp:coreProperties>
</file>