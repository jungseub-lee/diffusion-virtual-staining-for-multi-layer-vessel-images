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" y="48463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" y="359359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Single-color Fluorescence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Multi-color Depth-encoded Fluorescence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0" y="137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Depth-separated Skeletonization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50292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3611880"/>
            <a:ext cx="4754880" cy="2743200"/>
          </a:xfrm>
          <a:prstGeom prst="roundRect">
            <a:avLst>
              <a:gd name="adj" fmla="val 3333"/>
            </a:avLst>
          </a:prstGeom>
          <a:solidFill>
            <a:srgbClr val="0A0A12"/>
          </a:solidFill>
          <a:ln w="12700">
            <a:solidFill>
              <a:srgbClr val="1A1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990088"/>
            <a:ext cx="4480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3749040" y="3017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baseline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11480" y="6099048"/>
            <a:ext cx="4480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3749040" y="6126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baseline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989320" y="2990088"/>
            <a:ext cx="4480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lgDash"/>
          </a:ln>
        </p:spPr>
      </p:sp>
      <p:sp>
        <p:nvSpPr>
          <p:cNvPr id="17" name="Text 15"/>
          <p:cNvSpPr/>
          <p:nvPr/>
        </p:nvSpPr>
        <p:spPr>
          <a:xfrm>
            <a:off x="9326880" y="3017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baseline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5989320" y="6099048"/>
            <a:ext cx="4480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lgDash"/>
          </a:ln>
        </p:spPr>
      </p:sp>
      <p:sp>
        <p:nvSpPr>
          <p:cNvPr id="19" name="Text 17"/>
          <p:cNvSpPr/>
          <p:nvPr/>
        </p:nvSpPr>
        <p:spPr>
          <a:xfrm>
            <a:off x="9326880" y="6126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baseline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 rot="-6134995">
            <a:off x="2103120" y="2971800"/>
            <a:ext cx="7966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6236689">
            <a:off x="2086218" y="2893954"/>
            <a:ext cx="8340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6325371">
            <a:off x="2066118" y="2813003"/>
            <a:ext cx="8690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6403387">
            <a:off x="2043007" y="2729230"/>
            <a:ext cx="9012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6472580">
            <a:off x="2017074" y="2642917"/>
            <a:ext cx="9306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6534413">
            <a:off x="1988506" y="2554346"/>
            <a:ext cx="9571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6590063">
            <a:off x="1957493" y="2463800"/>
            <a:ext cx="9805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6640484">
            <a:off x="1924222" y="2371560"/>
            <a:ext cx="10009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6686459">
            <a:off x="1888882" y="2277910"/>
            <a:ext cx="10182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6728638">
            <a:off x="1851660" y="2183130"/>
            <a:ext cx="10324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6767564">
            <a:off x="1812745" y="2087504"/>
            <a:ext cx="10433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6803698">
            <a:off x="1772324" y="1991313"/>
            <a:ext cx="10511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6837438">
            <a:off x="1730587" y="1894840"/>
            <a:ext cx="10556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6869127">
            <a:off x="1687720" y="1798367"/>
            <a:ext cx="10569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6899069">
            <a:off x="1643913" y="1702176"/>
            <a:ext cx="10549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6927536">
            <a:off x="1599353" y="1606550"/>
            <a:ext cx="10497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6954776">
            <a:off x="1554229" y="1511770"/>
            <a:ext cx="10411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6981023">
            <a:off x="1508729" y="1418120"/>
            <a:ext cx="10293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7114333">
            <a:off x="1463040" y="1325880"/>
            <a:ext cx="12025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7360359">
            <a:off x="1405524" y="1220267"/>
            <a:ext cx="11568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7611630">
            <a:off x="1343071" y="1122883"/>
            <a:ext cx="11142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7868128">
            <a:off x="1276228" y="1033729"/>
            <a:ext cx="10744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8130005">
            <a:off x="1205545" y="952805"/>
            <a:ext cx="10371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8397608">
            <a:off x="1131570" y="880110"/>
            <a:ext cx="10020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8671510">
            <a:off x="1054852" y="815645"/>
            <a:ext cx="9690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8952522">
            <a:off x="975939" y="759409"/>
            <a:ext cx="9377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9241696">
            <a:off x="895380" y="711403"/>
            <a:ext cx="9082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9540313">
            <a:off x="813725" y="671627"/>
            <a:ext cx="8805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2221845">
            <a:off x="1737360" y="1874520"/>
            <a:ext cx="11686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2234042">
            <a:off x="1830652" y="1804141"/>
            <a:ext cx="1215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2236811">
            <a:off x="1927437" y="1730587"/>
            <a:ext cx="12562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2231082">
            <a:off x="2027396" y="1654493"/>
            <a:ext cx="12905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2217437">
            <a:off x="2130213" y="1576493"/>
            <a:ext cx="13184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2196175">
            <a:off x="2235570" y="1497224"/>
            <a:ext cx="134008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2167366">
            <a:off x="2343150" y="1417320"/>
            <a:ext cx="13554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2130866">
            <a:off x="2452635" y="1337416"/>
            <a:ext cx="13645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2086336">
            <a:off x="2563707" y="1258147"/>
            <a:ext cx="13676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2033234">
            <a:off x="2676049" y="1180148"/>
            <a:ext cx="13647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1970803">
            <a:off x="2789343" y="1104053"/>
            <a:ext cx="13561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1898049">
            <a:off x="2903273" y="1030499"/>
            <a:ext cx="13418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1536131">
            <a:off x="3017520" y="960120"/>
            <a:ext cx="11407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1417763">
            <a:off x="3120390" y="910828"/>
            <a:ext cx="11228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-1295719">
            <a:off x="3223260" y="865823"/>
            <a:ext cx="11063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-1170147">
            <a:off x="3326130" y="825103"/>
            <a:ext cx="10913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1041241">
            <a:off x="3429000" y="788670"/>
            <a:ext cx="10777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-909244">
            <a:off x="3531870" y="756523"/>
            <a:ext cx="10657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-774445">
            <a:off x="3634740" y="728663"/>
            <a:ext cx="10553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637179">
            <a:off x="3737610" y="705088"/>
            <a:ext cx="10466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-8881824">
            <a:off x="1463040" y="1325880"/>
            <a:ext cx="121262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-9109616">
            <a:off x="1360170" y="1261676"/>
            <a:ext cx="11669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9369734">
            <a:off x="1257300" y="1206579"/>
            <a:ext cx="112464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-9664445">
            <a:off x="1154430" y="1161127"/>
            <a:ext cx="10874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-9994433">
            <a:off x="1051560" y="1125855"/>
            <a:ext cx="10576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10357816">
            <a:off x="948690" y="1101298"/>
            <a:ext cx="10372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-10749273">
            <a:off x="845820" y="1087993"/>
            <a:ext cx="10288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0440236">
            <a:off x="742950" y="1086475"/>
            <a:ext cx="10343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4250225">
            <a:off x="2560320" y="1234440"/>
            <a:ext cx="104461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4156627">
            <a:off x="2594610" y="1135767"/>
            <a:ext cx="96906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4055149">
            <a:off x="2628900" y="1045131"/>
            <a:ext cx="89929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3945833">
            <a:off x="2663190" y="961995"/>
            <a:ext cx="8353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3829062">
            <a:off x="2697480" y="885825"/>
            <a:ext cx="77715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3705684">
            <a:off x="2731770" y="816084"/>
            <a:ext cx="72473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3577118">
            <a:off x="2766060" y="752237"/>
            <a:ext cx="67800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3445444">
            <a:off x="2800350" y="693747"/>
            <a:ext cx="63687" cy="0"/>
          </a:xfrm>
          <a:prstGeom prst="line">
            <a:avLst/>
          </a:prstGeom>
          <a:noFill/>
          <a:ln w="228600">
            <a:solidFill>
              <a:srgbClr val="3DDC84">
                <a:alpha val="5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6800876">
            <a:off x="3474720" y="2971800"/>
            <a:ext cx="9446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6969878">
            <a:off x="3437282" y="2885070"/>
            <a:ext cx="9857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7119680">
            <a:off x="3393817" y="2796600"/>
            <a:ext cx="10235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7254092">
            <a:off x="3344726" y="2706789"/>
            <a:ext cx="10576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7376196">
            <a:off x="3290411" y="2616041"/>
            <a:ext cx="10876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-7488510">
            <a:off x="3231274" y="2524758"/>
            <a:ext cx="11134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-7593120">
            <a:off x="3167717" y="2433340"/>
            <a:ext cx="11346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7691792">
            <a:off x="3100142" y="2342190"/>
            <a:ext cx="11513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-7786053">
            <a:off x="3028950" y="2251710"/>
            <a:ext cx="11631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rot="-7877263">
            <a:off x="2954543" y="2162302"/>
            <a:ext cx="11702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7966670">
            <a:off x="2877324" y="2074366"/>
            <a:ext cx="11724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8055465">
            <a:off x="2797693" y="1988307"/>
            <a:ext cx="11698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8144825">
            <a:off x="2716054" y="1904524"/>
            <a:ext cx="11622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8235965">
            <a:off x="2632807" y="1823420"/>
            <a:ext cx="11497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8330183">
            <a:off x="2548354" y="1745397"/>
            <a:ext cx="11324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8428922">
            <a:off x="2463098" y="1670856"/>
            <a:ext cx="11103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8633454">
            <a:off x="2377440" y="1600200"/>
            <a:ext cx="11318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8724765">
            <a:off x="2286000" y="1533499"/>
            <a:ext cx="11107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8815353">
            <a:off x="2194560" y="1470448"/>
            <a:ext cx="10912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8904827">
            <a:off x="2103120" y="1410891"/>
            <a:ext cx="10734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8992789">
            <a:off x="2011680" y="1354667"/>
            <a:ext cx="10571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-9078846">
            <a:off x="1920240" y="1301618"/>
            <a:ext cx="10423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9162608">
            <a:off x="1828800" y="1251585"/>
            <a:ext cx="10289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-9243701">
            <a:off x="1737360" y="1204410"/>
            <a:ext cx="10168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-9321764">
            <a:off x="1645920" y="1159933"/>
            <a:ext cx="10059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9396456">
            <a:off x="1554480" y="1117997"/>
            <a:ext cx="9962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9467461">
            <a:off x="1463040" y="1078442"/>
            <a:ext cx="9876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-9534484">
            <a:off x="1371600" y="1041109"/>
            <a:ext cx="9800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9338724">
            <a:off x="2834640" y="1965960"/>
            <a:ext cx="12616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9581353">
            <a:off x="2719700" y="1913931"/>
            <a:ext cx="13250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9802200">
            <a:off x="2595433" y="1867936"/>
            <a:ext cx="13770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10010014">
            <a:off x="2463485" y="1828526"/>
            <a:ext cx="14170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10211873">
            <a:off x="2325502" y="1796247"/>
            <a:ext cx="14448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0413883">
            <a:off x="2183130" y="1771650"/>
            <a:ext cx="14603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10621715">
            <a:off x="2038015" y="1755282"/>
            <a:ext cx="14640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10758999">
            <a:off x="1891802" y="1747693"/>
            <a:ext cx="14567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rot="10522343">
            <a:off x="1746138" y="1749430"/>
            <a:ext cx="14393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10261874">
            <a:off x="1602669" y="1761043"/>
            <a:ext cx="14135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10228871">
            <a:off x="1463040" y="1783080"/>
            <a:ext cx="10421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10208432">
            <a:off x="1360259" y="1800314"/>
            <a:ext cx="10377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10167035">
            <a:off x="1258014" y="1818084"/>
            <a:ext cx="102913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10103635">
            <a:off x="1156841" y="1836926"/>
            <a:ext cx="10164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rot="10016642">
            <a:off x="1057275" y="1857375"/>
            <a:ext cx="10000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rot="9903913">
            <a:off x="959852" y="1879967"/>
            <a:ext cx="9805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9762770">
            <a:off x="865108" y="1905238"/>
            <a:ext cx="95860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9590075">
            <a:off x="773579" y="1933724"/>
            <a:ext cx="9351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-2117664">
            <a:off x="2377440" y="1600200"/>
            <a:ext cx="13768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-1935934">
            <a:off x="2489820" y="1520647"/>
            <a:ext cx="13874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-1764039">
            <a:off x="2607137" y="1446581"/>
            <a:ext cx="13969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1600907">
            <a:off x="2728844" y="1378001"/>
            <a:ext cx="14050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-1445439">
            <a:off x="2854391" y="1314907"/>
            <a:ext cx="14113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-1296536">
            <a:off x="2983230" y="1257300"/>
            <a:ext cx="14152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1153110">
            <a:off x="3114812" y="1205179"/>
            <a:ext cx="14167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1014080">
            <a:off x="3248589" y="1158545"/>
            <a:ext cx="14153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-878377">
            <a:off x="3384012" y="1117397"/>
            <a:ext cx="14110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744926">
            <a:off x="3520531" y="1081735"/>
            <a:ext cx="140351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567739">
            <a:off x="3657600" y="1051560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-567739">
            <a:off x="3760470" y="1034415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-567739">
            <a:off x="3863340" y="1017270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567739">
            <a:off x="3966210" y="1000125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567739">
            <a:off x="4069080" y="982980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-567739">
            <a:off x="4171950" y="965835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-567739">
            <a:off x="4274820" y="948690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567739">
            <a:off x="4377690" y="931545"/>
            <a:ext cx="10428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-1592757">
            <a:off x="3291840" y="2514600"/>
            <a:ext cx="122659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-1585872">
            <a:off x="3401568" y="2459782"/>
            <a:ext cx="122537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-1572062">
            <a:off x="3511296" y="2405238"/>
            <a:ext cx="12229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-1551243">
            <a:off x="3621024" y="2351242"/>
            <a:ext cx="12193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-1523294">
            <a:off x="3730752" y="2298070"/>
            <a:ext cx="121458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-1488052">
            <a:off x="3840480" y="2245995"/>
            <a:ext cx="120876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-1445317">
            <a:off x="3950208" y="2195292"/>
            <a:ext cx="12019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1394853">
            <a:off x="4059936" y="2146234"/>
            <a:ext cx="119424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-1336391">
            <a:off x="4169664" y="2099097"/>
            <a:ext cx="118575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-1269635">
            <a:off x="4279392" y="2054154"/>
            <a:ext cx="117662" cy="0"/>
          </a:xfrm>
          <a:prstGeom prst="line">
            <a:avLst/>
          </a:prstGeom>
          <a:noFill/>
          <a:ln w="19050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554480" y="1051560"/>
            <a:ext cx="822960" cy="73152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159" name="Text 157"/>
          <p:cNvSpPr/>
          <p:nvPr/>
        </p:nvSpPr>
        <p:spPr>
          <a:xfrm>
            <a:off x="1600200" y="180136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 rot="-7114333">
            <a:off x="7040880" y="1325880"/>
            <a:ext cx="1202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7360359">
            <a:off x="6983364" y="1220267"/>
            <a:ext cx="1156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7611630">
            <a:off x="6920911" y="1122883"/>
            <a:ext cx="1114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7868128">
            <a:off x="6854068" y="1033729"/>
            <a:ext cx="10744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-8130005">
            <a:off x="6783385" y="952805"/>
            <a:ext cx="1037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8397608">
            <a:off x="6709410" y="880110"/>
            <a:ext cx="10020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8671510">
            <a:off x="6632692" y="815645"/>
            <a:ext cx="969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8952522">
            <a:off x="6553779" y="759409"/>
            <a:ext cx="937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-9241696">
            <a:off x="6473220" y="711403"/>
            <a:ext cx="908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9540313">
            <a:off x="6391565" y="671627"/>
            <a:ext cx="8805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-6160474">
            <a:off x="7680960" y="2971800"/>
            <a:ext cx="12070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-6298685">
            <a:off x="7654475" y="2854034"/>
            <a:ext cx="1276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-6410568">
            <a:off x="7621482" y="2730712"/>
            <a:ext cx="1324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6504394">
            <a:off x="7583091" y="2603897"/>
            <a:ext cx="1351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-6585862">
            <a:off x="7540413" y="2475653"/>
            <a:ext cx="13559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-6659224">
            <a:off x="7494561" y="2348045"/>
            <a:ext cx="13378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-6728008">
            <a:off x="7446645" y="2223135"/>
            <a:ext cx="1297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6795595">
            <a:off x="7397776" y="2102988"/>
            <a:ext cx="12334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-6865850">
            <a:off x="7349067" y="1989667"/>
            <a:ext cx="1147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-6944118">
            <a:off x="7301627" y="1885236"/>
            <a:ext cx="1037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-7039270">
            <a:off x="7256568" y="1791758"/>
            <a:ext cx="905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7168920">
            <a:off x="7215002" y="1711299"/>
            <a:ext cx="7510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-9242089">
            <a:off x="7223760" y="1143000"/>
            <a:ext cx="7171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9326224">
            <a:off x="7159288" y="1111603"/>
            <a:ext cx="6264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9427483">
            <a:off x="7102316" y="1085564"/>
            <a:ext cx="548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9546134">
            <a:off x="7051774" y="1064240"/>
            <a:ext cx="4836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-9679512">
            <a:off x="7006590" y="1046988"/>
            <a:ext cx="4317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9820510">
            <a:off x="6965692" y="1033165"/>
            <a:ext cx="3926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9957012">
            <a:off x="6928009" y="1022128"/>
            <a:ext cx="366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10073585">
            <a:off x="6892469" y="1013234"/>
            <a:ext cx="3525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-6829592">
            <a:off x="9052560" y="2971800"/>
            <a:ext cx="1268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7042662">
            <a:off x="9001337" y="2855807"/>
            <a:ext cx="13348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7223683">
            <a:off x="8939953" y="2737273"/>
            <a:ext cx="13889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-7381859">
            <a:off x="8869680" y="2617470"/>
            <a:ext cx="1428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-7524117">
            <a:off x="8791787" y="2497667"/>
            <a:ext cx="14542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7655934">
            <a:off x="8707543" y="2379133"/>
            <a:ext cx="1464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7781944">
            <a:off x="8618220" y="2263140"/>
            <a:ext cx="14580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-7906428">
            <a:off x="8525087" y="2150957"/>
            <a:ext cx="14361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-8033756">
            <a:off x="8429413" y="2043853"/>
            <a:ext cx="13981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8168899">
            <a:off x="8332470" y="1943100"/>
            <a:ext cx="1344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-8318105">
            <a:off x="8235527" y="1849967"/>
            <a:ext cx="1274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-8489961">
            <a:off x="8139853" y="1765723"/>
            <a:ext cx="11900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8876181">
            <a:off x="8046720" y="1691640"/>
            <a:ext cx="100076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9092798">
            <a:off x="7961909" y="1638513"/>
            <a:ext cx="101143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-9352400">
            <a:off x="7872984" y="1590324"/>
            <a:ext cx="100443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9670139">
            <a:off x="7781315" y="1549268"/>
            <a:ext cx="98302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-10064745">
            <a:off x="7688275" y="1517538"/>
            <a:ext cx="95210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-10556935">
            <a:off x="7595235" y="1497330"/>
            <a:ext cx="91898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10437252">
            <a:off x="7503566" y="1490838"/>
            <a:ext cx="89423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9721217">
            <a:off x="7414641" y="1500256"/>
            <a:ext cx="89165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8934899">
            <a:off x="7329830" y="1527780"/>
            <a:ext cx="92625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8151733">
            <a:off x="7250506" y="1575603"/>
            <a:ext cx="100975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-8635528">
            <a:off x="7406640" y="1371600"/>
            <a:ext cx="79768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-8806097">
            <a:off x="7342168" y="1324630"/>
            <a:ext cx="68110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-9133987">
            <a:off x="7285196" y="1287304"/>
            <a:ext cx="57119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9710234">
            <a:off x="7234654" y="1260693"/>
            <a:ext cx="47554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-10634995">
            <a:off x="7189470" y="1245870"/>
            <a:ext cx="40945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9743010">
            <a:off x="7148572" y="1243905"/>
            <a:ext cx="39537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8568540">
            <a:off x="7110889" y="1255871"/>
            <a:ext cx="44613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7721327">
            <a:off x="7075349" y="1282839"/>
            <a:ext cx="55142" cy="0"/>
          </a:xfrm>
          <a:prstGeom prst="line">
            <a:avLst/>
          </a:prstGeom>
          <a:noFill/>
          <a:ln w="57150">
            <a:solidFill>
              <a:srgbClr val="3DDC84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-2221845">
            <a:off x="7315200" y="1874520"/>
            <a:ext cx="1168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-2234042">
            <a:off x="7408492" y="1804141"/>
            <a:ext cx="1215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-2236811">
            <a:off x="7505277" y="1730587"/>
            <a:ext cx="12562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-2231082">
            <a:off x="7605236" y="1654493"/>
            <a:ext cx="12905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-2217437">
            <a:off x="7708053" y="1576493"/>
            <a:ext cx="13184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-2196175">
            <a:off x="7813410" y="1497224"/>
            <a:ext cx="1340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-2167366">
            <a:off x="7920990" y="1417320"/>
            <a:ext cx="13554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-2130866">
            <a:off x="8030475" y="1337416"/>
            <a:ext cx="1364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-2086336">
            <a:off x="8141547" y="1258147"/>
            <a:ext cx="13676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-2033234">
            <a:off x="8253889" y="1180148"/>
            <a:ext cx="13647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-1970803">
            <a:off x="8367183" y="1104053"/>
            <a:ext cx="13561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-1898049">
            <a:off x="8481113" y="1030499"/>
            <a:ext cx="13418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-1536131">
            <a:off x="8595360" y="960120"/>
            <a:ext cx="11407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-1417763">
            <a:off x="8698230" y="910828"/>
            <a:ext cx="11228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-1295719">
            <a:off x="8801100" y="865823"/>
            <a:ext cx="1106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-1170147">
            <a:off x="8903970" y="825103"/>
            <a:ext cx="1091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-1041241">
            <a:off x="9006840" y="788670"/>
            <a:ext cx="1077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-909244">
            <a:off x="9109710" y="756523"/>
            <a:ext cx="1065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-774445">
            <a:off x="9212580" y="728663"/>
            <a:ext cx="1055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-637179">
            <a:off x="9315450" y="705088"/>
            <a:ext cx="10466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-8881824">
            <a:off x="7040880" y="1325880"/>
            <a:ext cx="1212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-9109616">
            <a:off x="6938010" y="1261676"/>
            <a:ext cx="11669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9369734">
            <a:off x="6835140" y="1206579"/>
            <a:ext cx="11246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-9664445">
            <a:off x="6732270" y="1161127"/>
            <a:ext cx="10874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9994433">
            <a:off x="6629400" y="1125855"/>
            <a:ext cx="1057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-10357816">
            <a:off x="6526530" y="1101298"/>
            <a:ext cx="10372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-10749273">
            <a:off x="6423660" y="1087993"/>
            <a:ext cx="10288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10440236">
            <a:off x="6320790" y="1086475"/>
            <a:ext cx="1034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-4250225">
            <a:off x="8138160" y="1234440"/>
            <a:ext cx="10446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-4156627">
            <a:off x="8172450" y="1135767"/>
            <a:ext cx="9690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4055149">
            <a:off x="8206740" y="1045131"/>
            <a:ext cx="899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-3945833">
            <a:off x="8241030" y="961995"/>
            <a:ext cx="8353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-3829062">
            <a:off x="8275320" y="885825"/>
            <a:ext cx="7771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-3705684">
            <a:off x="8309610" y="816084"/>
            <a:ext cx="7247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-3577118">
            <a:off x="8343900" y="752237"/>
            <a:ext cx="6780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-3445444">
            <a:off x="8378190" y="693747"/>
            <a:ext cx="6368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-9338724">
            <a:off x="8412480" y="1965960"/>
            <a:ext cx="12616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-9581353">
            <a:off x="8297540" y="1913931"/>
            <a:ext cx="13250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-9802200">
            <a:off x="8173273" y="1867936"/>
            <a:ext cx="1377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rot="-10010014">
            <a:off x="8041325" y="1828526"/>
            <a:ext cx="1417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rot="-10211873">
            <a:off x="7903342" y="1796247"/>
            <a:ext cx="14448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rot="-10413883">
            <a:off x="7760970" y="1771650"/>
            <a:ext cx="14603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rot="-10621715">
            <a:off x="7615855" y="1755282"/>
            <a:ext cx="1464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10758999">
            <a:off x="7469642" y="1747693"/>
            <a:ext cx="14567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10522343">
            <a:off x="7323978" y="1749430"/>
            <a:ext cx="14393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rot="10261874">
            <a:off x="7180509" y="1761043"/>
            <a:ext cx="14135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10228871">
            <a:off x="7040880" y="1783080"/>
            <a:ext cx="10421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10208432">
            <a:off x="6938099" y="1800314"/>
            <a:ext cx="10377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10167035">
            <a:off x="6835854" y="1818084"/>
            <a:ext cx="102913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10103635">
            <a:off x="6734681" y="1836926"/>
            <a:ext cx="10164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rot="10016642">
            <a:off x="6635115" y="1857375"/>
            <a:ext cx="10000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 rot="9903913">
            <a:off x="6537692" y="1879967"/>
            <a:ext cx="9805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rot="9762770">
            <a:off x="6442948" y="1905238"/>
            <a:ext cx="95860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 rot="9590075">
            <a:off x="6351419" y="1933724"/>
            <a:ext cx="9351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rot="-2117664">
            <a:off x="7955280" y="1600200"/>
            <a:ext cx="13768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 rot="-1935934">
            <a:off x="8067660" y="1520647"/>
            <a:ext cx="13874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rot="-1764039">
            <a:off x="8184977" y="1446581"/>
            <a:ext cx="13969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 rot="-1600907">
            <a:off x="8306684" y="1378001"/>
            <a:ext cx="14050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rot="-1445439">
            <a:off x="8432231" y="1314907"/>
            <a:ext cx="14113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1296536">
            <a:off x="8561070" y="1257300"/>
            <a:ext cx="14152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1153110">
            <a:off x="8692652" y="1205179"/>
            <a:ext cx="14167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1014080">
            <a:off x="8826429" y="1158545"/>
            <a:ext cx="14153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878377">
            <a:off x="8961852" y="1117397"/>
            <a:ext cx="14110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-744926">
            <a:off x="9098371" y="1081735"/>
            <a:ext cx="140351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-567739">
            <a:off x="9235440" y="1051560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-567739">
            <a:off x="9338310" y="1034415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rot="-567739">
            <a:off x="9441180" y="1017270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-567739">
            <a:off x="9544050" y="1000125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-567739">
            <a:off x="9646920" y="982980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-567739">
            <a:off x="9749790" y="965835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-567739">
            <a:off x="9852660" y="948690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-567739">
            <a:off x="9955530" y="931545"/>
            <a:ext cx="10428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-1592757">
            <a:off x="8869680" y="2514600"/>
            <a:ext cx="122659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rot="-1585872">
            <a:off x="8979408" y="2459782"/>
            <a:ext cx="122537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rot="-1572062">
            <a:off x="9089136" y="2405238"/>
            <a:ext cx="12229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 rot="-1551243">
            <a:off x="9198864" y="2351242"/>
            <a:ext cx="12193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 rot="-1523294">
            <a:off x="9308592" y="2298070"/>
            <a:ext cx="121458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 rot="-1488052">
            <a:off x="9418320" y="2245995"/>
            <a:ext cx="120876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 rot="-1445317">
            <a:off x="9528048" y="2195292"/>
            <a:ext cx="12019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 rot="-1394853">
            <a:off x="9637776" y="2146234"/>
            <a:ext cx="119424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 rot="-1336391">
            <a:off x="9747504" y="2099097"/>
            <a:ext cx="118575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 rot="-1269635">
            <a:off x="9857232" y="2054154"/>
            <a:ext cx="117662" cy="0"/>
          </a:xfrm>
          <a:prstGeom prst="line">
            <a:avLst/>
          </a:prstGeom>
          <a:noFill/>
          <a:ln w="44450">
            <a:solidFill>
              <a:srgbClr val="3DDC84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040880" y="1508760"/>
            <a:ext cx="274320" cy="274320"/>
          </a:xfrm>
          <a:prstGeom prst="ellipse">
            <a:avLst/>
          </a:prstGeom>
          <a:solidFill>
            <a:srgbClr val="330000"/>
          </a:solidFill>
          <a:ln w="31750">
            <a:solidFill>
              <a:srgbClr val="FF4444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7095744" y="15453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04" name="Shape 302"/>
          <p:cNvSpPr/>
          <p:nvPr/>
        </p:nvSpPr>
        <p:spPr>
          <a:xfrm>
            <a:off x="7269480" y="1234440"/>
            <a:ext cx="274320" cy="274320"/>
          </a:xfrm>
          <a:prstGeom prst="ellipse">
            <a:avLst/>
          </a:prstGeom>
          <a:solidFill>
            <a:srgbClr val="330000"/>
          </a:solidFill>
          <a:ln w="31750">
            <a:solidFill>
              <a:srgbClr val="FF4444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7324344" y="12710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06" name="Text 304"/>
          <p:cNvSpPr/>
          <p:nvPr/>
        </p:nvSpPr>
        <p:spPr>
          <a:xfrm>
            <a:off x="8412480" y="1005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444"/>
                </a:solidFill>
              </a:rPr>
              <a:t>False junctions
</a:t>
            </a:r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Overlapping vessels at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different z-depths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CC6666"/>
                </a:solidFill>
              </a:rPr>
              <a:t>→ false intersections</a:t>
            </a:r>
            <a:endParaRPr lang="en-US" sz="850" dirty="0"/>
          </a:p>
        </p:txBody>
      </p:sp>
      <p:sp>
        <p:nvSpPr>
          <p:cNvPr id="307" name="Shape 305"/>
          <p:cNvSpPr/>
          <p:nvPr/>
        </p:nvSpPr>
        <p:spPr>
          <a:xfrm rot="10261642">
            <a:off x="8412480" y="1280160"/>
            <a:ext cx="879442" cy="0"/>
          </a:xfrm>
          <a:prstGeom prst="line">
            <a:avLst/>
          </a:prstGeom>
          <a:noFill/>
          <a:ln w="15240">
            <a:solidFill>
              <a:srgbClr val="FF4444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858000" y="192024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0000">
              <a:alpha val="50000"/>
            </a:srgbClr>
          </a:solidFill>
          <a:ln w="10160">
            <a:solidFill>
              <a:srgbClr val="F5C542"/>
            </a:solidFill>
            <a:prstDash val="dash"/>
          </a:ln>
        </p:spPr>
      </p:sp>
      <p:sp>
        <p:nvSpPr>
          <p:cNvPr id="309" name="Text 307"/>
          <p:cNvSpPr/>
          <p:nvPr/>
        </p:nvSpPr>
        <p:spPr>
          <a:xfrm>
            <a:off x="68580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= 1 skeleton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length lost</a:t>
            </a:r>
            <a:endParaRPr lang="en-US" sz="700" dirty="0"/>
          </a:p>
        </p:txBody>
      </p:sp>
      <p:sp>
        <p:nvSpPr>
          <p:cNvPr id="310" name="Shape 308"/>
          <p:cNvSpPr/>
          <p:nvPr/>
        </p:nvSpPr>
        <p:spPr>
          <a:xfrm rot="-6242175">
            <a:off x="7543800" y="1920240"/>
            <a:ext cx="377017" cy="0"/>
          </a:xfrm>
          <a:prstGeom prst="line">
            <a:avLst/>
          </a:prstGeom>
          <a:noFill/>
          <a:ln w="12700">
            <a:solidFill>
              <a:srgbClr val="F5C542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251192" y="181051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976872" y="126187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074152" y="117043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8348472" y="190195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891272" y="153619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8805672" y="2450592"/>
            <a:ext cx="128016" cy="128016"/>
          </a:xfrm>
          <a:prstGeom prst="ellipse">
            <a:avLst/>
          </a:prstGeom>
          <a:solidFill>
            <a:srgbClr val="1A6B3A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6259068" y="5897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368028" y="635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6167628" y="10469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8362188" y="5897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807708" y="9555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213348" y="19156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008108" y="8641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916668" y="196138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630668" y="2921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9002268" y="2921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 rot="-6134995">
            <a:off x="2103120" y="6080760"/>
            <a:ext cx="7966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 rot="-6236689">
            <a:off x="2086218" y="6002914"/>
            <a:ext cx="8340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 rot="-6325371">
            <a:off x="2066118" y="5921963"/>
            <a:ext cx="8690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 rot="-6403387">
            <a:off x="2043007" y="5838190"/>
            <a:ext cx="9012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 rot="-6472580">
            <a:off x="2017074" y="5751877"/>
            <a:ext cx="9306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 rot="-6534413">
            <a:off x="1988506" y="5663306"/>
            <a:ext cx="9571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 rot="-6590063">
            <a:off x="1957493" y="5572760"/>
            <a:ext cx="9805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 rot="-6640484">
            <a:off x="1924222" y="5480520"/>
            <a:ext cx="10009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 rot="-6686459">
            <a:off x="1888882" y="5386870"/>
            <a:ext cx="10182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 rot="-6728638">
            <a:off x="1851660" y="5292090"/>
            <a:ext cx="10324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 rot="-6767564">
            <a:off x="1812745" y="5196464"/>
            <a:ext cx="10433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 rot="-6803698">
            <a:off x="1772324" y="5100273"/>
            <a:ext cx="10511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 rot="-6837438">
            <a:off x="1730587" y="5003800"/>
            <a:ext cx="10556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 rot="-6869127">
            <a:off x="1687720" y="4907327"/>
            <a:ext cx="10569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 rot="-6899069">
            <a:off x="1643913" y="4811136"/>
            <a:ext cx="10549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 rot="-6927536">
            <a:off x="1599353" y="4715510"/>
            <a:ext cx="10497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 rot="-6954776">
            <a:off x="1554229" y="4620730"/>
            <a:ext cx="10411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 rot="-6981023">
            <a:off x="1508729" y="4527080"/>
            <a:ext cx="10293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 rot="-7114333">
            <a:off x="1463040" y="4434840"/>
            <a:ext cx="12025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 rot="-7360359">
            <a:off x="1405524" y="4329227"/>
            <a:ext cx="11568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 rot="-7611630">
            <a:off x="1343071" y="4231843"/>
            <a:ext cx="11142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 rot="-7868128">
            <a:off x="1276228" y="4142689"/>
            <a:ext cx="10744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 rot="-8130005">
            <a:off x="1205545" y="4061765"/>
            <a:ext cx="10371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 rot="-8397608">
            <a:off x="1131570" y="3989070"/>
            <a:ext cx="10020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 rot="-8671510">
            <a:off x="1054852" y="3924605"/>
            <a:ext cx="9690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 rot="-8952522">
            <a:off x="975939" y="3868369"/>
            <a:ext cx="9377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 rot="-9241696">
            <a:off x="895380" y="3820363"/>
            <a:ext cx="9082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 rot="-9540313">
            <a:off x="813725" y="3780587"/>
            <a:ext cx="8805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 rot="-2221845">
            <a:off x="1737360" y="4983480"/>
            <a:ext cx="11686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 rot="-2234042">
            <a:off x="1830652" y="4913101"/>
            <a:ext cx="1215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 rot="-2236811">
            <a:off x="1927437" y="4839547"/>
            <a:ext cx="12562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 rot="-2231082">
            <a:off x="2027396" y="4763453"/>
            <a:ext cx="12905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 rot="-2217437">
            <a:off x="2130213" y="4685453"/>
            <a:ext cx="13184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 rot="-2196175">
            <a:off x="2235570" y="4606184"/>
            <a:ext cx="134008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 rot="-2167366">
            <a:off x="2343150" y="4526280"/>
            <a:ext cx="13554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 rot="-2130866">
            <a:off x="2452635" y="4446376"/>
            <a:ext cx="13645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 rot="-2086336">
            <a:off x="2563707" y="4367107"/>
            <a:ext cx="13676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 rot="-2033234">
            <a:off x="2676049" y="4289108"/>
            <a:ext cx="13647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 rot="-1970803">
            <a:off x="2789343" y="4213013"/>
            <a:ext cx="13561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 rot="-1898049">
            <a:off x="2903273" y="4139459"/>
            <a:ext cx="13418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 rot="-1536131">
            <a:off x="3017520" y="4069080"/>
            <a:ext cx="11407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 rot="-1417763">
            <a:off x="3120390" y="4019788"/>
            <a:ext cx="11228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 rot="-1295719">
            <a:off x="3223260" y="3974783"/>
            <a:ext cx="11063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 rot="-1170147">
            <a:off x="3326130" y="3934063"/>
            <a:ext cx="10913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 rot="-1041241">
            <a:off x="3429000" y="3897630"/>
            <a:ext cx="10777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 rot="-909244">
            <a:off x="3531870" y="3865483"/>
            <a:ext cx="10657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 rot="-774445">
            <a:off x="3634740" y="3837623"/>
            <a:ext cx="10553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 rot="-637179">
            <a:off x="3737610" y="3814048"/>
            <a:ext cx="10466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 rot="-8881824">
            <a:off x="1463040" y="4434840"/>
            <a:ext cx="121262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 rot="-9109616">
            <a:off x="1360170" y="4370636"/>
            <a:ext cx="11669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 rot="-9369734">
            <a:off x="1257300" y="4315539"/>
            <a:ext cx="112464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 rot="-9664445">
            <a:off x="1154430" y="4270087"/>
            <a:ext cx="10874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rot="-9994433">
            <a:off x="1051560" y="4234815"/>
            <a:ext cx="10576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rot="-10357816">
            <a:off x="948690" y="4210258"/>
            <a:ext cx="10372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rot="-10749273">
            <a:off x="845820" y="4196953"/>
            <a:ext cx="10288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rot="10440236">
            <a:off x="742950" y="4195435"/>
            <a:ext cx="10343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rot="-4250225">
            <a:off x="2560320" y="4343400"/>
            <a:ext cx="104461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rot="-4156627">
            <a:off x="2594610" y="4244727"/>
            <a:ext cx="96906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rot="-4055149">
            <a:off x="2628900" y="4154091"/>
            <a:ext cx="89929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rot="-3945833">
            <a:off x="2663190" y="4070955"/>
            <a:ext cx="8353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rot="-3829062">
            <a:off x="2697480" y="3994785"/>
            <a:ext cx="77715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rot="-3705684">
            <a:off x="2731770" y="3925044"/>
            <a:ext cx="72473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rot="-3577118">
            <a:off x="2766060" y="3861197"/>
            <a:ext cx="67800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rot="-3445444">
            <a:off x="2800350" y="3802707"/>
            <a:ext cx="63687" cy="0"/>
          </a:xfrm>
          <a:prstGeom prst="line">
            <a:avLst/>
          </a:prstGeom>
          <a:noFill/>
          <a:ln w="228600">
            <a:solidFill>
              <a:srgbClr val="4DA8DA">
                <a:alpha val="5500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rot="-6800876">
            <a:off x="3474720" y="6080760"/>
            <a:ext cx="9446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rot="-6969878">
            <a:off x="3437282" y="5994030"/>
            <a:ext cx="9857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rot="-7119680">
            <a:off x="3393817" y="5905560"/>
            <a:ext cx="10235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rot="-7254092">
            <a:off x="3344726" y="5815749"/>
            <a:ext cx="10576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rot="-7376196">
            <a:off x="3290411" y="5725001"/>
            <a:ext cx="10876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rot="-7488510">
            <a:off x="3231274" y="5633718"/>
            <a:ext cx="11134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rot="-7593120">
            <a:off x="3167717" y="5542300"/>
            <a:ext cx="11346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rot="-7691792">
            <a:off x="3100142" y="5451150"/>
            <a:ext cx="11513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rot="-7786053">
            <a:off x="3028950" y="5360670"/>
            <a:ext cx="11631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rot="-7877263">
            <a:off x="2954543" y="5271262"/>
            <a:ext cx="11702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rot="-7966670">
            <a:off x="2877324" y="5183326"/>
            <a:ext cx="11724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rot="-8055465">
            <a:off x="2797693" y="5097267"/>
            <a:ext cx="11698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rot="-8144825">
            <a:off x="2716054" y="5013484"/>
            <a:ext cx="11622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rot="-8235965">
            <a:off x="2632807" y="4932380"/>
            <a:ext cx="11497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rot="-8330183">
            <a:off x="2548354" y="4854357"/>
            <a:ext cx="11324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rot="-8428922">
            <a:off x="2463098" y="4779816"/>
            <a:ext cx="11103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rot="-8633454">
            <a:off x="2377440" y="4709160"/>
            <a:ext cx="11318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rot="-8724765">
            <a:off x="2286000" y="4642459"/>
            <a:ext cx="11107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rot="-8815353">
            <a:off x="2194560" y="4579408"/>
            <a:ext cx="10912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rot="-8904827">
            <a:off x="2103120" y="4519851"/>
            <a:ext cx="10734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rot="-8992789">
            <a:off x="2011680" y="4463627"/>
            <a:ext cx="10571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rot="-9078846">
            <a:off x="1920240" y="4410578"/>
            <a:ext cx="10423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rot="-9162608">
            <a:off x="1828800" y="4360545"/>
            <a:ext cx="10289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rot="-9243701">
            <a:off x="1737360" y="4313370"/>
            <a:ext cx="10168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rot="-9321764">
            <a:off x="1645920" y="4268893"/>
            <a:ext cx="10059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rot="-9396456">
            <a:off x="1554480" y="4226957"/>
            <a:ext cx="9962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rot="-9467461">
            <a:off x="1463040" y="4187402"/>
            <a:ext cx="9876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rot="-9534484">
            <a:off x="1371600" y="4150069"/>
            <a:ext cx="9800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rot="-9338724">
            <a:off x="2834640" y="5074920"/>
            <a:ext cx="12616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rot="-9581353">
            <a:off x="2719700" y="5022891"/>
            <a:ext cx="13250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rot="-9802200">
            <a:off x="2595433" y="4976896"/>
            <a:ext cx="13770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rot="-10010014">
            <a:off x="2463485" y="4937486"/>
            <a:ext cx="14170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rot="-10211873">
            <a:off x="2325502" y="4905207"/>
            <a:ext cx="14448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rot="-10413883">
            <a:off x="2183130" y="4880610"/>
            <a:ext cx="14603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rot="-10621715">
            <a:off x="2038015" y="4864242"/>
            <a:ext cx="14640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rot="10758999">
            <a:off x="1891802" y="4856653"/>
            <a:ext cx="14567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rot="10522343">
            <a:off x="1746138" y="4858390"/>
            <a:ext cx="14393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rot="10261874">
            <a:off x="1602669" y="4870003"/>
            <a:ext cx="14135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rot="10228871">
            <a:off x="1463040" y="4892040"/>
            <a:ext cx="10421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rot="10208432">
            <a:off x="1360259" y="4909274"/>
            <a:ext cx="10377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rot="10167035">
            <a:off x="1258014" y="4927044"/>
            <a:ext cx="102913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rot="10103635">
            <a:off x="1156841" y="4945886"/>
            <a:ext cx="10164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rot="10016642">
            <a:off x="1057275" y="4966335"/>
            <a:ext cx="10000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rot="9903913">
            <a:off x="959852" y="4988927"/>
            <a:ext cx="9805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rot="9762770">
            <a:off x="865108" y="5014198"/>
            <a:ext cx="95860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rot="9590075">
            <a:off x="773579" y="5042684"/>
            <a:ext cx="9351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rot="-2117664">
            <a:off x="2377440" y="4709160"/>
            <a:ext cx="13768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rot="-1935934">
            <a:off x="2489820" y="4629607"/>
            <a:ext cx="13874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rot="-1764039">
            <a:off x="2607137" y="4555541"/>
            <a:ext cx="13969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rot="-1600907">
            <a:off x="2728844" y="4486961"/>
            <a:ext cx="14050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rot="-1445439">
            <a:off x="2854391" y="4423867"/>
            <a:ext cx="14113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rot="-1296536">
            <a:off x="2983230" y="4366260"/>
            <a:ext cx="14152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rot="-1153110">
            <a:off x="3114812" y="4314139"/>
            <a:ext cx="14167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 rot="-1014080">
            <a:off x="3248589" y="4267505"/>
            <a:ext cx="14153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 rot="-878377">
            <a:off x="3384012" y="4226357"/>
            <a:ext cx="14110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 rot="-744926">
            <a:off x="3520531" y="4190695"/>
            <a:ext cx="140351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rot="-567739">
            <a:off x="3657600" y="4160520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 rot="-567739">
            <a:off x="3760470" y="4143375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rot="-567739">
            <a:off x="3863340" y="4126230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 rot="-567739">
            <a:off x="3966210" y="4109085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 rot="-567739">
            <a:off x="4069080" y="4091940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 rot="-567739">
            <a:off x="4171950" y="4074795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 rot="-567739">
            <a:off x="4274820" y="4057650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 rot="-567739">
            <a:off x="4377690" y="4040505"/>
            <a:ext cx="10428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 rot="-1592757">
            <a:off x="3291840" y="5623560"/>
            <a:ext cx="122659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 rot="-1585872">
            <a:off x="3401568" y="5568742"/>
            <a:ext cx="122537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 rot="-1572062">
            <a:off x="3511296" y="5514198"/>
            <a:ext cx="12229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 rot="-1551243">
            <a:off x="3621024" y="5460202"/>
            <a:ext cx="12193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 rot="-1523294">
            <a:off x="3730752" y="5407030"/>
            <a:ext cx="121458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rot="-1488052">
            <a:off x="3840480" y="5354955"/>
            <a:ext cx="120876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 rot="-1445317">
            <a:off x="3950208" y="5304252"/>
            <a:ext cx="12019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rot="-1394853">
            <a:off x="4059936" y="5255194"/>
            <a:ext cx="119424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 rot="-1336391">
            <a:off x="4169664" y="5208057"/>
            <a:ext cx="118575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rot="-1269635">
            <a:off x="4279392" y="5163114"/>
            <a:ext cx="117662" cy="0"/>
          </a:xfrm>
          <a:prstGeom prst="line">
            <a:avLst/>
          </a:prstGeom>
          <a:noFill/>
          <a:ln w="190500">
            <a:solidFill>
              <a:srgbClr val="E94560">
                <a:alpha val="5000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 rot="-8704977">
            <a:off x="2194560" y="4663440"/>
            <a:ext cx="79506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rot="-8619004">
            <a:off x="2129367" y="4617932"/>
            <a:ext cx="74637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 rot="-8645131">
            <a:off x="2069253" y="4573693"/>
            <a:ext cx="71088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rot="-8799093">
            <a:off x="2011680" y="4531995"/>
            <a:ext cx="68922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 rot="-9082524">
            <a:off x="1954107" y="4494107"/>
            <a:ext cx="68484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rot="-9474631">
            <a:off x="1893993" y="4461298"/>
            <a:ext cx="70358" cy="0"/>
          </a:xfrm>
          <a:prstGeom prst="line">
            <a:avLst/>
          </a:prstGeom>
          <a:noFill/>
          <a:ln w="127000">
            <a:solidFill>
              <a:srgbClr val="F5C542">
                <a:alpha val="4500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1554480" y="4160520"/>
            <a:ext cx="822960" cy="731520"/>
          </a:xfrm>
          <a:prstGeom prst="ellipse">
            <a:avLst/>
          </a:prstGeom>
          <a:solidFill>
            <a:srgbClr val="000000">
              <a:alpha val="12000"/>
            </a:srgbClr>
          </a:solidFill>
          <a:ln w="12700">
            <a:solidFill>
              <a:srgbClr val="F5C542"/>
            </a:solidFill>
            <a:prstDash val="dash"/>
          </a:ln>
        </p:spPr>
      </p:sp>
      <p:sp>
        <p:nvSpPr>
          <p:cNvPr id="472" name="Text 470"/>
          <p:cNvSpPr/>
          <p:nvPr/>
        </p:nvSpPr>
        <p:spPr>
          <a:xfrm>
            <a:off x="155448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z-depths</a:t>
            </a:r>
            <a:endParaRPr lang="en-US" sz="700" dirty="0"/>
          </a:p>
        </p:txBody>
      </p:sp>
      <p:sp>
        <p:nvSpPr>
          <p:cNvPr id="473" name="Shape 471"/>
          <p:cNvSpPr/>
          <p:nvPr/>
        </p:nvSpPr>
        <p:spPr>
          <a:xfrm>
            <a:off x="822960" y="589788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74" name="Shape 472"/>
          <p:cNvSpPr/>
          <p:nvPr/>
        </p:nvSpPr>
        <p:spPr>
          <a:xfrm>
            <a:off x="1005840" y="6035040"/>
            <a:ext cx="274320" cy="0"/>
          </a:xfrm>
          <a:prstGeom prst="line">
            <a:avLst/>
          </a:prstGeom>
          <a:noFill/>
          <a:ln w="63500">
            <a:solidFill>
              <a:srgbClr val="E94560"/>
            </a:solidFill>
            <a:prstDash val="solid"/>
          </a:ln>
        </p:spPr>
      </p:sp>
      <p:sp>
        <p:nvSpPr>
          <p:cNvPr id="475" name="Text 473"/>
          <p:cNvSpPr/>
          <p:nvPr/>
        </p:nvSpPr>
        <p:spPr>
          <a:xfrm>
            <a:off x="1325880" y="5925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endParaRPr lang="en-US" sz="800" dirty="0"/>
          </a:p>
        </p:txBody>
      </p:sp>
      <p:sp>
        <p:nvSpPr>
          <p:cNvPr id="476" name="Shape 474"/>
          <p:cNvSpPr/>
          <p:nvPr/>
        </p:nvSpPr>
        <p:spPr>
          <a:xfrm>
            <a:off x="1874520" y="6035040"/>
            <a:ext cx="274320" cy="0"/>
          </a:xfrm>
          <a:prstGeom prst="line">
            <a:avLst/>
          </a:prstGeom>
          <a:noFill/>
          <a:ln w="63500">
            <a:solidFill>
              <a:srgbClr val="F5C542"/>
            </a:solidFill>
            <a:prstDash val="solid"/>
          </a:ln>
        </p:spPr>
      </p:sp>
      <p:sp>
        <p:nvSpPr>
          <p:cNvPr id="477" name="Text 475"/>
          <p:cNvSpPr/>
          <p:nvPr/>
        </p:nvSpPr>
        <p:spPr>
          <a:xfrm>
            <a:off x="2194560" y="59253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800" dirty="0"/>
          </a:p>
        </p:txBody>
      </p:sp>
      <p:sp>
        <p:nvSpPr>
          <p:cNvPr id="478" name="Shape 476"/>
          <p:cNvSpPr/>
          <p:nvPr/>
        </p:nvSpPr>
        <p:spPr>
          <a:xfrm>
            <a:off x="2743200" y="6035040"/>
            <a:ext cx="274320" cy="0"/>
          </a:xfrm>
          <a:prstGeom prst="line">
            <a:avLst/>
          </a:prstGeom>
          <a:noFill/>
          <a:ln w="63500">
            <a:solidFill>
              <a:srgbClr val="4DA8DA"/>
            </a:solidFill>
            <a:prstDash val="solid"/>
          </a:ln>
        </p:spPr>
      </p:sp>
      <p:sp>
        <p:nvSpPr>
          <p:cNvPr id="479" name="Text 477"/>
          <p:cNvSpPr/>
          <p:nvPr/>
        </p:nvSpPr>
        <p:spPr>
          <a:xfrm>
            <a:off x="3063240" y="59253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480" name="Text 478"/>
          <p:cNvSpPr/>
          <p:nvPr/>
        </p:nvSpPr>
        <p:spPr>
          <a:xfrm>
            <a:off x="3383280" y="592531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Deep    Shallow →</a:t>
            </a:r>
            <a:endParaRPr lang="en-US" sz="650" dirty="0"/>
          </a:p>
        </p:txBody>
      </p:sp>
      <p:sp>
        <p:nvSpPr>
          <p:cNvPr id="481" name="Shape 479"/>
          <p:cNvSpPr/>
          <p:nvPr/>
        </p:nvSpPr>
        <p:spPr>
          <a:xfrm rot="-6134995">
            <a:off x="7680960" y="6080760"/>
            <a:ext cx="796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rot="-6236689">
            <a:off x="7664058" y="6002914"/>
            <a:ext cx="8340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 rot="-6325371">
            <a:off x="7643958" y="5921963"/>
            <a:ext cx="8690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rot="-6403387">
            <a:off x="7620847" y="5838190"/>
            <a:ext cx="9012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 rot="-6472580">
            <a:off x="7594914" y="5751877"/>
            <a:ext cx="9306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rot="-6534413">
            <a:off x="7566346" y="5663306"/>
            <a:ext cx="9571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 rot="-6590063">
            <a:off x="7535333" y="5572760"/>
            <a:ext cx="980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rot="-6640484">
            <a:off x="7502062" y="5480520"/>
            <a:ext cx="10009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 rot="-6686459">
            <a:off x="7466722" y="5386870"/>
            <a:ext cx="10182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rot="-6728638">
            <a:off x="7429500" y="5292090"/>
            <a:ext cx="10324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 rot="-6767564">
            <a:off x="7390585" y="5196464"/>
            <a:ext cx="10433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rot="-6803698">
            <a:off x="7350164" y="5100273"/>
            <a:ext cx="10511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 rot="-6837438">
            <a:off x="7308427" y="5003800"/>
            <a:ext cx="10556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rot="-6869127">
            <a:off x="7265560" y="4907327"/>
            <a:ext cx="10569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 rot="-6899069">
            <a:off x="7221753" y="4811136"/>
            <a:ext cx="10549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rot="-6927536">
            <a:off x="7177193" y="4715510"/>
            <a:ext cx="10497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 rot="-6954776">
            <a:off x="7132069" y="4620730"/>
            <a:ext cx="10411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rot="-6981023">
            <a:off x="7086569" y="4527080"/>
            <a:ext cx="10293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 rot="-7114333">
            <a:off x="7040880" y="4434840"/>
            <a:ext cx="12025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rot="-7360359">
            <a:off x="6983364" y="4329227"/>
            <a:ext cx="11568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 rot="-7611630">
            <a:off x="6920911" y="4231843"/>
            <a:ext cx="11142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 rot="-7868128">
            <a:off x="6854068" y="4142689"/>
            <a:ext cx="10744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 rot="-8130005">
            <a:off x="6783385" y="4061765"/>
            <a:ext cx="10371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 rot="-8397608">
            <a:off x="6709410" y="3989070"/>
            <a:ext cx="10020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 rot="-8671510">
            <a:off x="6632692" y="3924605"/>
            <a:ext cx="9690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 rot="-8952522">
            <a:off x="6553779" y="3868369"/>
            <a:ext cx="9377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 rot="-9241696">
            <a:off x="6473220" y="3820363"/>
            <a:ext cx="9082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 rot="-9540313">
            <a:off x="6391565" y="3780587"/>
            <a:ext cx="8805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 rot="-2221845">
            <a:off x="7315200" y="4983480"/>
            <a:ext cx="11686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 rot="-2234042">
            <a:off x="7408492" y="4913101"/>
            <a:ext cx="1215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 rot="-2236811">
            <a:off x="7505277" y="4839547"/>
            <a:ext cx="12562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 rot="-2231082">
            <a:off x="7605236" y="4763453"/>
            <a:ext cx="12905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 rot="-2217437">
            <a:off x="7708053" y="4685453"/>
            <a:ext cx="13184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 rot="-2196175">
            <a:off x="7813410" y="4606184"/>
            <a:ext cx="134008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 rot="-2167366">
            <a:off x="7920990" y="4526280"/>
            <a:ext cx="13554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 rot="-2130866">
            <a:off x="8030475" y="4446376"/>
            <a:ext cx="13645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 rot="-2086336">
            <a:off x="8141547" y="4367107"/>
            <a:ext cx="13676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 rot="-2033234">
            <a:off x="8253889" y="4289108"/>
            <a:ext cx="13647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 rot="-1970803">
            <a:off x="8367183" y="4213013"/>
            <a:ext cx="13561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 rot="-1898049">
            <a:off x="8481113" y="4139459"/>
            <a:ext cx="13418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 rot="-1536131">
            <a:off x="8595360" y="4069080"/>
            <a:ext cx="11407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 rot="-1417763">
            <a:off x="8698230" y="4019788"/>
            <a:ext cx="11228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 rot="-1295719">
            <a:off x="8801100" y="3974783"/>
            <a:ext cx="11063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 rot="-1170147">
            <a:off x="8903970" y="3934063"/>
            <a:ext cx="10913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 rot="-1041241">
            <a:off x="9006840" y="3897630"/>
            <a:ext cx="1077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 rot="-909244">
            <a:off x="9109710" y="3865483"/>
            <a:ext cx="10657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 rot="-774445">
            <a:off x="9212580" y="3837623"/>
            <a:ext cx="10553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 rot="-637179">
            <a:off x="9315450" y="3814048"/>
            <a:ext cx="10466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 rot="-8881824">
            <a:off x="7040880" y="4434840"/>
            <a:ext cx="121262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 rot="-9109616">
            <a:off x="6938010" y="4370636"/>
            <a:ext cx="11669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 rot="-9369734">
            <a:off x="6835140" y="4315539"/>
            <a:ext cx="112464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rot="-9664445">
            <a:off x="6732270" y="4270087"/>
            <a:ext cx="10874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rot="-9994433">
            <a:off x="6629400" y="4234815"/>
            <a:ext cx="10576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rot="-10357816">
            <a:off x="6526530" y="4210258"/>
            <a:ext cx="10372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rot="-10749273">
            <a:off x="6423660" y="4196953"/>
            <a:ext cx="10288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rot="10440236">
            <a:off x="6320790" y="4195435"/>
            <a:ext cx="10343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rot="-4250225">
            <a:off x="8138160" y="4343400"/>
            <a:ext cx="104461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rot="-4156627">
            <a:off x="8172450" y="4244727"/>
            <a:ext cx="96906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rot="-4055149">
            <a:off x="8206740" y="4154091"/>
            <a:ext cx="89929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rot="-3945833">
            <a:off x="8241030" y="4070955"/>
            <a:ext cx="8353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rot="-3829062">
            <a:off x="8275320" y="3994785"/>
            <a:ext cx="77715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rot="-3705684">
            <a:off x="8309610" y="3925044"/>
            <a:ext cx="72473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rot="-3577118">
            <a:off x="8343900" y="3861197"/>
            <a:ext cx="67800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rot="-3445444">
            <a:off x="8378190" y="3802707"/>
            <a:ext cx="63687" cy="0"/>
          </a:xfrm>
          <a:prstGeom prst="line">
            <a:avLst/>
          </a:prstGeom>
          <a:noFill/>
          <a:ln w="44450">
            <a:solidFill>
              <a:srgbClr val="4DA8DA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 rot="-6800876">
            <a:off x="9052560" y="6080760"/>
            <a:ext cx="9446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 rot="-6969878">
            <a:off x="9015122" y="5994030"/>
            <a:ext cx="9857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 rot="-7119680">
            <a:off x="8971657" y="5905560"/>
            <a:ext cx="10235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 rot="-7254092">
            <a:off x="8922566" y="5815749"/>
            <a:ext cx="10576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 rot="-7376196">
            <a:off x="8868251" y="5725001"/>
            <a:ext cx="10876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 rot="-7488510">
            <a:off x="8809114" y="5633718"/>
            <a:ext cx="11134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 rot="-7593120">
            <a:off x="8745557" y="5542300"/>
            <a:ext cx="11346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 rot="-7691792">
            <a:off x="8677982" y="5451150"/>
            <a:ext cx="11513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 rot="-7786053">
            <a:off x="8606790" y="5360670"/>
            <a:ext cx="11631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 rot="-7877263">
            <a:off x="8532383" y="5271262"/>
            <a:ext cx="11702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 rot="-7966670">
            <a:off x="8455164" y="5183326"/>
            <a:ext cx="11724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 rot="-8055465">
            <a:off x="8375533" y="5097267"/>
            <a:ext cx="11698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 rot="-8144825">
            <a:off x="8293894" y="5013484"/>
            <a:ext cx="11622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 rot="-8235965">
            <a:off x="8210647" y="4932380"/>
            <a:ext cx="1149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 rot="-8330183">
            <a:off x="8126194" y="4854357"/>
            <a:ext cx="11324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 rot="-8428922">
            <a:off x="8040938" y="4779816"/>
            <a:ext cx="11103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 rot="-8633454">
            <a:off x="7955280" y="4709160"/>
            <a:ext cx="11318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rot="-8724765">
            <a:off x="7863840" y="4642459"/>
            <a:ext cx="11107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rot="-8815353">
            <a:off x="7772400" y="4579408"/>
            <a:ext cx="10912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rot="-8904827">
            <a:off x="7680960" y="4519851"/>
            <a:ext cx="10734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rot="-8992789">
            <a:off x="7589520" y="4463627"/>
            <a:ext cx="10571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rot="-9078846">
            <a:off x="7498080" y="4410578"/>
            <a:ext cx="10423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rot="-9162608">
            <a:off x="7406640" y="4360545"/>
            <a:ext cx="10289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rot="-9243701">
            <a:off x="7315200" y="4313370"/>
            <a:ext cx="10168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rot="-9321764">
            <a:off x="7223760" y="4268893"/>
            <a:ext cx="10059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rot="-9396456">
            <a:off x="7132320" y="4226957"/>
            <a:ext cx="9962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rot="-9467461">
            <a:off x="7040880" y="4187402"/>
            <a:ext cx="9876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rot="-9534484">
            <a:off x="6949440" y="4150069"/>
            <a:ext cx="9800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rot="-9338724">
            <a:off x="8412480" y="5074920"/>
            <a:ext cx="12616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rot="-9581353">
            <a:off x="8297540" y="5022891"/>
            <a:ext cx="13250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rot="-9802200">
            <a:off x="8173273" y="4976896"/>
            <a:ext cx="13770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 rot="-10010014">
            <a:off x="8041325" y="4937486"/>
            <a:ext cx="14170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 rot="-10211873">
            <a:off x="7903342" y="4905207"/>
            <a:ext cx="14448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 rot="-10413883">
            <a:off x="7760970" y="4880610"/>
            <a:ext cx="14603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 rot="-10621715">
            <a:off x="7615855" y="4864242"/>
            <a:ext cx="14640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 rot="10758999">
            <a:off x="7469642" y="4856653"/>
            <a:ext cx="14567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 rot="10522343">
            <a:off x="7323978" y="4858390"/>
            <a:ext cx="14393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 rot="10261874">
            <a:off x="7180509" y="4870003"/>
            <a:ext cx="14135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 rot="10228871">
            <a:off x="7040880" y="4892040"/>
            <a:ext cx="10421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 rot="10208432">
            <a:off x="6938099" y="4909274"/>
            <a:ext cx="10377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 rot="10167035">
            <a:off x="6835854" y="4927044"/>
            <a:ext cx="102913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 rot="10103635">
            <a:off x="6734681" y="4945886"/>
            <a:ext cx="10164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 rot="10016642">
            <a:off x="6635115" y="4966335"/>
            <a:ext cx="10000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 rot="9903913">
            <a:off x="6537692" y="4988927"/>
            <a:ext cx="9805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 rot="9762770">
            <a:off x="6442948" y="5014198"/>
            <a:ext cx="9586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 rot="9590075">
            <a:off x="6351419" y="5042684"/>
            <a:ext cx="9351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 rot="-2117664">
            <a:off x="7955280" y="4709160"/>
            <a:ext cx="13768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 rot="-1935934">
            <a:off x="8067660" y="4629607"/>
            <a:ext cx="13874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rot="-1764039">
            <a:off x="8184977" y="4555541"/>
            <a:ext cx="13969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rot="-1600907">
            <a:off x="8306684" y="4486961"/>
            <a:ext cx="14050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rot="-1445439">
            <a:off x="8432231" y="4423867"/>
            <a:ext cx="14113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rot="-1296536">
            <a:off x="8561070" y="4366260"/>
            <a:ext cx="14152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rot="-1153110">
            <a:off x="8692652" y="4314139"/>
            <a:ext cx="14167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rot="-1014080">
            <a:off x="8826429" y="4267505"/>
            <a:ext cx="14153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rot="-878377">
            <a:off x="8961852" y="4226357"/>
            <a:ext cx="14110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rot="-744926">
            <a:off x="9098371" y="4190695"/>
            <a:ext cx="140351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 rot="-567739">
            <a:off x="9235440" y="4160520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 rot="-567739">
            <a:off x="9338310" y="4143375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 rot="-567739">
            <a:off x="9441180" y="4126230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 rot="-567739">
            <a:off x="9544050" y="4109085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 rot="-567739">
            <a:off x="9646920" y="4091940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 rot="-567739">
            <a:off x="9749790" y="4074795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 rot="-567739">
            <a:off x="9852660" y="4057650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 rot="-567739">
            <a:off x="9955530" y="4040505"/>
            <a:ext cx="10428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 rot="-1592757">
            <a:off x="8869680" y="5623560"/>
            <a:ext cx="122659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 rot="-1585872">
            <a:off x="8979408" y="5568742"/>
            <a:ext cx="122537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 rot="-1572062">
            <a:off x="9089136" y="5514198"/>
            <a:ext cx="12229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 rot="-1551243">
            <a:off x="9198864" y="5460202"/>
            <a:ext cx="12193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 rot="-1523294">
            <a:off x="9308592" y="5407030"/>
            <a:ext cx="121458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 rot="-1488052">
            <a:off x="9418320" y="5354955"/>
            <a:ext cx="120876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 rot="-1445317">
            <a:off x="9528048" y="5304252"/>
            <a:ext cx="12019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 rot="-1394853">
            <a:off x="9637776" y="5255194"/>
            <a:ext cx="119424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 rot="-1336391">
            <a:off x="9747504" y="5208057"/>
            <a:ext cx="118575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 rot="-1269635">
            <a:off x="9857232" y="5163114"/>
            <a:ext cx="117662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 rot="-8704977">
            <a:off x="7772400" y="4663440"/>
            <a:ext cx="79506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 rot="-8619004">
            <a:off x="7707207" y="4617932"/>
            <a:ext cx="74637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 rot="-8645131">
            <a:off x="7647093" y="4573693"/>
            <a:ext cx="71088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 rot="-8799093">
            <a:off x="7589520" y="4531995"/>
            <a:ext cx="68922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rot="-9082524">
            <a:off x="7531947" y="4494107"/>
            <a:ext cx="68484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rot="-9474631">
            <a:off x="7471833" y="4461298"/>
            <a:ext cx="70358" cy="0"/>
          </a:xfrm>
          <a:prstGeom prst="line">
            <a:avLst/>
          </a:prstGeom>
          <a:noFill/>
          <a:ln w="31750">
            <a:solidFill>
              <a:srgbClr val="F5C542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7040880" y="4617720"/>
            <a:ext cx="274320" cy="274320"/>
          </a:xfrm>
          <a:prstGeom prst="ellipse">
            <a:avLst/>
          </a:prstGeom>
          <a:solidFill>
            <a:srgbClr val="002200"/>
          </a:solidFill>
          <a:ln w="31750">
            <a:solidFill>
              <a:srgbClr val="44FF88"/>
            </a:solidFill>
            <a:prstDash val="solid"/>
          </a:ln>
        </p:spPr>
      </p:sp>
      <p:sp>
        <p:nvSpPr>
          <p:cNvPr id="626" name="Text 624"/>
          <p:cNvSpPr/>
          <p:nvPr/>
        </p:nvSpPr>
        <p:spPr>
          <a:xfrm>
            <a:off x="7104888" y="466344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7" name="Shape 625"/>
          <p:cNvSpPr/>
          <p:nvPr/>
        </p:nvSpPr>
        <p:spPr>
          <a:xfrm>
            <a:off x="7269480" y="4343400"/>
            <a:ext cx="274320" cy="274320"/>
          </a:xfrm>
          <a:prstGeom prst="ellipse">
            <a:avLst/>
          </a:prstGeom>
          <a:solidFill>
            <a:srgbClr val="002200"/>
          </a:solidFill>
          <a:ln w="31750">
            <a:solidFill>
              <a:srgbClr val="44FF88"/>
            </a:solidFill>
            <a:prstDash val="solid"/>
          </a:ln>
        </p:spPr>
      </p:sp>
      <p:sp>
        <p:nvSpPr>
          <p:cNvPr id="628" name="Text 626"/>
          <p:cNvSpPr/>
          <p:nvPr/>
        </p:nvSpPr>
        <p:spPr>
          <a:xfrm>
            <a:off x="7333488" y="438912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9" name="Text 627"/>
          <p:cNvSpPr/>
          <p:nvPr/>
        </p:nvSpPr>
        <p:spPr>
          <a:xfrm>
            <a:off x="841248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4FF88"/>
                </a:solidFill>
              </a:rPr>
              <a:t>No false junctions
</a:t>
            </a:r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Different layers pass</a:t>
            </a:r>
            <a:endParaRPr lang="en-US" sz="850" dirty="0"/>
          </a:p>
          <a:p>
            <a:pPr indent="0" marL="0">
              <a:buNone/>
            </a:pPr>
            <a:r>
              <a:rPr lang="en-US" sz="700" dirty="0">
                <a:solidFill>
                  <a:srgbClr val="66CC88"/>
                </a:solidFill>
              </a:rPr>
              <a:t>through independently</a:t>
            </a:r>
            <a:endParaRPr lang="en-US" sz="850" dirty="0"/>
          </a:p>
        </p:txBody>
      </p:sp>
      <p:sp>
        <p:nvSpPr>
          <p:cNvPr id="630" name="Shape 628"/>
          <p:cNvSpPr/>
          <p:nvPr/>
        </p:nvSpPr>
        <p:spPr>
          <a:xfrm rot="10086681">
            <a:off x="8412480" y="4343400"/>
            <a:ext cx="887722" cy="0"/>
          </a:xfrm>
          <a:prstGeom prst="line">
            <a:avLst/>
          </a:prstGeom>
          <a:noFill/>
          <a:ln w="15240">
            <a:solidFill>
              <a:srgbClr val="44FF88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6858000" y="502920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00000">
              <a:alpha val="50000"/>
            </a:srgbClr>
          </a:solidFill>
          <a:ln w="10160">
            <a:solidFill>
              <a:srgbClr val="44FF88"/>
            </a:solidFill>
            <a:prstDash val="dash"/>
          </a:ln>
        </p:spPr>
      </p:sp>
      <p:sp>
        <p:nvSpPr>
          <p:cNvPr id="632" name="Text 630"/>
          <p:cNvSpPr/>
          <p:nvPr/>
        </p:nvSpPr>
        <p:spPr>
          <a:xfrm>
            <a:off x="6858000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independent skeletons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i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length recovered</a:t>
            </a:r>
            <a:endParaRPr lang="en-US" sz="700" dirty="0"/>
          </a:p>
        </p:txBody>
      </p:sp>
      <p:sp>
        <p:nvSpPr>
          <p:cNvPr id="633" name="Shape 631"/>
          <p:cNvSpPr/>
          <p:nvPr/>
        </p:nvSpPr>
        <p:spPr>
          <a:xfrm rot="-6242175">
            <a:off x="7543800" y="5029200"/>
            <a:ext cx="377017" cy="0"/>
          </a:xfrm>
          <a:prstGeom prst="line">
            <a:avLst/>
          </a:prstGeom>
          <a:noFill/>
          <a:ln w="12700">
            <a:solidFill>
              <a:srgbClr val="44FF88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7251192" y="491947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6976872" y="437083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8074152" y="4279392"/>
            <a:ext cx="128016" cy="128016"/>
          </a:xfrm>
          <a:prstGeom prst="ellipse">
            <a:avLst/>
          </a:prstGeom>
          <a:solidFill>
            <a:srgbClr val="2E6685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8348472" y="501091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7891272" y="464515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8805672" y="5559552"/>
            <a:ext cx="128016" cy="128016"/>
          </a:xfrm>
          <a:prstGeom prst="ellipse">
            <a:avLst/>
          </a:prstGeom>
          <a:solidFill>
            <a:srgbClr val="8B2A3A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6259068" y="36987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9368028" y="37444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6167628" y="41559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8362188" y="36987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6807708" y="406450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6213348" y="502462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0008108" y="39730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9916668" y="507034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7630668" y="60304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4DA8DA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9002268" y="6030468"/>
            <a:ext cx="100584" cy="100584"/>
          </a:xfrm>
          <a:prstGeom prst="ellipse">
            <a:avLst/>
          </a:prstGeom>
          <a:solidFill>
            <a:srgbClr val="222222"/>
          </a:solidFill>
          <a:ln w="19050">
            <a:solidFill>
              <a:srgbClr val="E94560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5166360" y="187452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51" name="Shape 649"/>
          <p:cNvSpPr/>
          <p:nvPr/>
        </p:nvSpPr>
        <p:spPr>
          <a:xfrm>
            <a:off x="5166360" y="4983480"/>
            <a:ext cx="54864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652" name="Shape 650"/>
          <p:cNvSpPr/>
          <p:nvPr/>
        </p:nvSpPr>
        <p:spPr>
          <a:xfrm>
            <a:off x="10789920" y="64008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D0404"/>
          </a:solidFill>
          <a:ln w="12700">
            <a:solidFill>
              <a:srgbClr val="2A1010"/>
            </a:solidFill>
            <a:prstDash val="solid"/>
          </a:ln>
        </p:spPr>
      </p:sp>
      <p:sp>
        <p:nvSpPr>
          <p:cNvPr id="653" name="Text 651"/>
          <p:cNvSpPr/>
          <p:nvPr/>
        </p:nvSpPr>
        <p:spPr>
          <a:xfrm>
            <a:off x="10789920" y="685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50" dirty="0"/>
          </a:p>
        </p:txBody>
      </p:sp>
      <p:sp>
        <p:nvSpPr>
          <p:cNvPr id="654" name="Text 652"/>
          <p:cNvSpPr/>
          <p:nvPr/>
        </p:nvSpPr>
        <p:spPr>
          <a:xfrm>
            <a:off x="10863072" y="96012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Over-counted
(false positives)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Under-estimated
(merged vessels)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Same
(tips preserved)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AA7777"/>
                </a:solidFill>
              </a:rPr>
              <a:t>Lost</a:t>
            </a:r>
            <a:endParaRPr lang="en-US" sz="850" dirty="0"/>
          </a:p>
        </p:txBody>
      </p:sp>
      <p:sp>
        <p:nvSpPr>
          <p:cNvPr id="655" name="Shape 653"/>
          <p:cNvSpPr/>
          <p:nvPr/>
        </p:nvSpPr>
        <p:spPr>
          <a:xfrm>
            <a:off x="10789920" y="3749040"/>
            <a:ext cx="1234440" cy="2468880"/>
          </a:xfrm>
          <a:prstGeom prst="roundRect">
            <a:avLst>
              <a:gd name="adj" fmla="val 5926"/>
            </a:avLst>
          </a:prstGeom>
          <a:solidFill>
            <a:srgbClr val="040D04"/>
          </a:solidFill>
          <a:ln w="12700">
            <a:solidFill>
              <a:srgbClr val="102A10"/>
            </a:solidFill>
            <a:prstDash val="solid"/>
          </a:ln>
        </p:spPr>
      </p:sp>
      <p:sp>
        <p:nvSpPr>
          <p:cNvPr id="656" name="Text 654"/>
          <p:cNvSpPr/>
          <p:nvPr/>
        </p:nvSpPr>
        <p:spPr>
          <a:xfrm>
            <a:off x="1078992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50" dirty="0"/>
          </a:p>
        </p:txBody>
      </p:sp>
      <p:sp>
        <p:nvSpPr>
          <p:cNvPr id="657" name="Text 655"/>
          <p:cNvSpPr/>
          <p:nvPr/>
        </p:nvSpPr>
        <p:spPr>
          <a:xfrm>
            <a:off x="10863072" y="4069080"/>
            <a:ext cx="1088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Junctions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Accurate
(per-layer)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Length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Recovered
(separated)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Endpoints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Same
(tips preserved)
</a:t>
            </a:r>
            <a:pPr indent="0" marL="0"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FFFF"/>
                </a:solidFill>
              </a:rPr>
              <a:t>Depth
</a:t>
            </a:r>
            <a:pPr indent="0" marL="0">
              <a:spcAft>
                <a:spcPts val="100"/>
              </a:spcAft>
              <a:buNone/>
            </a:pPr>
            <a:r>
              <a:rPr lang="en-US" sz="700" dirty="0">
                <a:solidFill>
                  <a:srgbClr val="77AA77"/>
                </a:solidFill>
              </a:rPr>
              <a:t>Preserved</a:t>
            </a:r>
            <a:endParaRPr lang="en-US" sz="850" dirty="0"/>
          </a:p>
        </p:txBody>
      </p:sp>
      <p:sp>
        <p:nvSpPr>
          <p:cNvPr id="658" name="Shape 656"/>
          <p:cNvSpPr/>
          <p:nvPr/>
        </p:nvSpPr>
        <p:spPr>
          <a:xfrm>
            <a:off x="274320" y="3246120"/>
            <a:ext cx="11612880" cy="0"/>
          </a:xfrm>
          <a:prstGeom prst="line">
            <a:avLst/>
          </a:prstGeom>
          <a:noFill/>
          <a:ln w="8890">
            <a:solidFill>
              <a:srgbClr val="333333"/>
            </a:solidFill>
            <a:prstDash val="lgDash"/>
          </a:ln>
        </p:spPr>
      </p:sp>
      <p:sp>
        <p:nvSpPr>
          <p:cNvPr id="659" name="Shape 657"/>
          <p:cNvSpPr/>
          <p:nvPr/>
        </p:nvSpPr>
        <p:spPr>
          <a:xfrm>
            <a:off x="6245352" y="6473952"/>
            <a:ext cx="128016" cy="128016"/>
          </a:xfrm>
          <a:prstGeom prst="ellipse">
            <a:avLst/>
          </a:prstGeom>
          <a:solidFill>
            <a:srgbClr val="333333"/>
          </a:solidFill>
          <a:ln w="19050">
            <a:solidFill>
              <a:srgbClr val="BBBBBB"/>
            </a:solidFill>
            <a:prstDash val="solid"/>
          </a:ln>
        </p:spPr>
      </p:sp>
      <p:sp>
        <p:nvSpPr>
          <p:cNvPr id="660" name="Text 658"/>
          <p:cNvSpPr/>
          <p:nvPr/>
        </p:nvSpPr>
        <p:spPr>
          <a:xfrm>
            <a:off x="6419088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</a:t>
            </a:r>
            <a:endParaRPr lang="en-US" sz="750" dirty="0"/>
          </a:p>
        </p:txBody>
      </p:sp>
      <p:sp>
        <p:nvSpPr>
          <p:cNvPr id="661" name="Shape 659"/>
          <p:cNvSpPr/>
          <p:nvPr/>
        </p:nvSpPr>
        <p:spPr>
          <a:xfrm>
            <a:off x="6995160" y="6492240"/>
            <a:ext cx="91440" cy="91440"/>
          </a:xfrm>
          <a:prstGeom prst="ellipse">
            <a:avLst/>
          </a:prstGeom>
          <a:solidFill>
            <a:srgbClr val="2222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713232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750" dirty="0"/>
          </a:p>
        </p:txBody>
      </p:sp>
      <p:sp>
        <p:nvSpPr>
          <p:cNvPr id="663" name="Shape 661"/>
          <p:cNvSpPr/>
          <p:nvPr/>
        </p:nvSpPr>
        <p:spPr>
          <a:xfrm>
            <a:off x="7772400" y="6537960"/>
            <a:ext cx="274320" cy="0"/>
          </a:xfrm>
          <a:prstGeom prst="line">
            <a:avLst/>
          </a:prstGeom>
          <a:noFill/>
          <a:ln w="38100">
            <a:solidFill>
              <a:srgbClr val="BBBBBB"/>
            </a:solidFill>
            <a:prstDash val="solid"/>
          </a:ln>
        </p:spPr>
      </p:sp>
      <p:sp>
        <p:nvSpPr>
          <p:cNvPr id="664" name="Text 662"/>
          <p:cNvSpPr/>
          <p:nvPr/>
        </p:nvSpPr>
        <p:spPr>
          <a:xfrm>
            <a:off x="8092440" y="646480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750" dirty="0"/>
          </a:p>
        </p:txBody>
      </p:sp>
      <p:sp>
        <p:nvSpPr>
          <p:cNvPr id="665" name="Shape 663"/>
          <p:cNvSpPr/>
          <p:nvPr/>
        </p:nvSpPr>
        <p:spPr>
          <a:xfrm>
            <a:off x="8641080" y="6446520"/>
            <a:ext cx="182880" cy="182880"/>
          </a:xfrm>
          <a:prstGeom prst="ellipse">
            <a:avLst/>
          </a:prstGeom>
          <a:solidFill>
            <a:srgbClr val="330000"/>
          </a:solidFill>
          <a:ln w="25400">
            <a:solidFill>
              <a:srgbClr val="FF4444"/>
            </a:solidFill>
            <a:prstDash val="solid"/>
          </a:ln>
        </p:spPr>
      </p:sp>
      <p:sp>
        <p:nvSpPr>
          <p:cNvPr id="666" name="Text 664"/>
          <p:cNvSpPr/>
          <p:nvPr/>
        </p:nvSpPr>
        <p:spPr>
          <a:xfrm>
            <a:off x="8659368" y="6464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67" name="Text 665"/>
          <p:cNvSpPr/>
          <p:nvPr/>
        </p:nvSpPr>
        <p:spPr>
          <a:xfrm>
            <a:off x="8869680" y="6464808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junction</a:t>
            </a:r>
            <a:endParaRPr lang="en-US" sz="750" dirty="0"/>
          </a:p>
        </p:txBody>
      </p:sp>
      <p:sp>
        <p:nvSpPr>
          <p:cNvPr id="668" name="Shape 666"/>
          <p:cNvSpPr/>
          <p:nvPr/>
        </p:nvSpPr>
        <p:spPr>
          <a:xfrm>
            <a:off x="9692640" y="6446520"/>
            <a:ext cx="182880" cy="182880"/>
          </a:xfrm>
          <a:prstGeom prst="ellipse">
            <a:avLst/>
          </a:prstGeom>
          <a:solidFill>
            <a:srgbClr val="002200"/>
          </a:solidFill>
          <a:ln w="25400">
            <a:solidFill>
              <a:srgbClr val="44FF88"/>
            </a:solidFill>
            <a:prstDash val="solid"/>
          </a:ln>
        </p:spPr>
      </p:sp>
      <p:sp>
        <p:nvSpPr>
          <p:cNvPr id="669" name="Text 667"/>
          <p:cNvSpPr/>
          <p:nvPr/>
        </p:nvSpPr>
        <p:spPr>
          <a:xfrm>
            <a:off x="9710928" y="64648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70" name="Text 668"/>
          <p:cNvSpPr/>
          <p:nvPr/>
        </p:nvSpPr>
        <p:spPr>
          <a:xfrm>
            <a:off x="9921240" y="64648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separated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2026-03-22T14:17:51Z</dcterms:created>
  <dcterms:modified xsi:type="dcterms:W3CDTF">2026-03-22T14:17:51Z</dcterms:modified>
</cp:coreProperties>
</file>