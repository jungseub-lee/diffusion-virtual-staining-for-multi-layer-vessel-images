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Depth-Aware Vascular Morphometry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vs. Multi-color Depth-encoded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566160" cy="530352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Vascular Network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(MPS cross-section, ~80 µm height)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2743200" cy="914400"/>
          </a:xfrm>
          <a:prstGeom prst="rect">
            <a:avLst/>
          </a:prstGeom>
          <a:solidFill>
            <a:srgbClr val="E94560">
              <a:alpha val="12000"/>
            </a:srgbClr>
          </a:solidFill>
          <a:ln w="6350">
            <a:solidFill>
              <a:srgbClr val="E9456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" y="5230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layer (~0-25 µm)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2743200" cy="914400"/>
          </a:xfrm>
          <a:prstGeom prst="rect">
            <a:avLst/>
          </a:prstGeom>
          <a:solidFill>
            <a:srgbClr val="F5C542">
              <a:alpha val="12000"/>
            </a:srgbClr>
          </a:solidFill>
          <a:ln w="6350">
            <a:solidFill>
              <a:srgbClr val="F5C54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4041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 (~25-55 µm)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743200" cy="914400"/>
          </a:xfrm>
          <a:prstGeom prst="rect">
            <a:avLst/>
          </a:prstGeom>
          <a:solidFill>
            <a:srgbClr val="4DA8DA">
              <a:alpha val="12000"/>
            </a:srgbClr>
          </a:solidFill>
          <a:ln w="6350">
            <a:solidFill>
              <a:srgbClr val="4DA8D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" y="2852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 (~55-80 µm)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5532120"/>
            <a:ext cx="1645920" cy="411480"/>
          </a:xfrm>
          <a:prstGeom prst="roundRect">
            <a:avLst>
              <a:gd name="adj" fmla="val 40000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4297680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F5C542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20240" y="3108960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4DA8DA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37560"/>
            <a:ext cx="2286000" cy="320040"/>
          </a:xfrm>
          <a:prstGeom prst="roundRect">
            <a:avLst>
              <a:gd name="adj" fmla="val 40000"/>
            </a:avLst>
          </a:prstGeom>
          <a:solidFill>
            <a:srgbClr val="4DA8DA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5715000"/>
            <a:ext cx="1554480" cy="320040"/>
          </a:xfrm>
          <a:prstGeom prst="roundRect">
            <a:avLst>
              <a:gd name="adj" fmla="val 40000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4480560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5C542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5760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cross 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depths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20440" y="2926080"/>
            <a:ext cx="0" cy="31089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 rot="5400000">
            <a:off x="3291840" y="4160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µm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0" y="1005840"/>
            <a:ext cx="3566160" cy="530352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Projection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(Conventional approach)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1783080"/>
            <a:ext cx="3017520" cy="1463040"/>
          </a:xfrm>
          <a:prstGeom prst="rect">
            <a:avLst/>
          </a:prstGeom>
          <a:solidFill>
            <a:srgbClr val="0D0D0D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965960"/>
            <a:ext cx="1645920" cy="320040"/>
          </a:xfrm>
          <a:prstGeom prst="roundRect">
            <a:avLst>
              <a:gd name="adj" fmla="val 40000"/>
            </a:avLst>
          </a:prstGeom>
          <a:solidFill>
            <a:srgbClr val="2ECC71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224028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2ECC71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0" y="2514600"/>
            <a:ext cx="1371600" cy="274320"/>
          </a:xfrm>
          <a:prstGeom prst="roundRect">
            <a:avLst>
              <a:gd name="adj" fmla="val 40000"/>
            </a:avLst>
          </a:prstGeom>
          <a:solidFill>
            <a:srgbClr val="2ECC71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2651760"/>
            <a:ext cx="2286000" cy="274320"/>
          </a:xfrm>
          <a:prstGeom prst="roundRect">
            <a:avLst>
              <a:gd name="adj" fmla="val 40000"/>
            </a:avLst>
          </a:prstGeom>
          <a:solidFill>
            <a:srgbClr val="2ECC71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0" y="2011680"/>
            <a:ext cx="1371600" cy="274320"/>
          </a:xfrm>
          <a:prstGeom prst="roundRect">
            <a:avLst>
              <a:gd name="adj" fmla="val 40000"/>
            </a:avLst>
          </a:prstGeom>
          <a:solidFill>
            <a:srgbClr val="2ECC71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897880" y="3337560"/>
            <a:ext cx="0" cy="27432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0" y="3355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20" y="3703320"/>
            <a:ext cx="3017520" cy="1463040"/>
          </a:xfrm>
          <a:prstGeom prst="rect">
            <a:avLst/>
          </a:prstGeom>
          <a:solidFill>
            <a:srgbClr val="0D0D0D"/>
          </a:solidFill>
          <a:ln w="12700">
            <a:solidFill>
              <a:srgbClr val="2ECC71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0" y="4160520"/>
            <a:ext cx="256032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4892040"/>
            <a:ext cx="1828800" cy="-91440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4160520"/>
            <a:ext cx="1097280" cy="73152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4023360"/>
            <a:ext cx="274320" cy="274320"/>
          </a:xfrm>
          <a:prstGeom prst="ellipse">
            <a:avLst/>
          </a:prstGeom>
          <a:solidFill>
            <a:srgbClr val="E94560">
              <a:alpha val="70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389120" y="53492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111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53949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Results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26280" y="5605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CCCCC"/>
                </a:solidFill>
              </a:rPr>
              <a:t>Junctions: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</a:rPr>
              <a:t>Over-counted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A0A0A0"/>
                </a:solidFill>
              </a:rPr>
              <a:t>(overlapping vessels = false junctions)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CCCCC"/>
                </a:solidFill>
              </a:rPr>
              <a:t>Length: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5C542"/>
                </a:solidFill>
              </a:rPr>
              <a:t>Under-counted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A0A0A0"/>
                </a:solidFill>
              </a:rPr>
              <a:t>(merged overlapping segments)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CCCCC"/>
                </a:solidFill>
              </a:rPr>
              <a:t>Depth info: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</a:rPr>
              <a:t>Lost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A0A0A0"/>
                </a:solidFill>
              </a:rPr>
              <a:t>(no height discrimination)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55280" y="1005840"/>
            <a:ext cx="3566160" cy="530352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552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Multi-color Depth-encoded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5528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(Proposed approach)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1783080"/>
            <a:ext cx="3017520" cy="1463040"/>
          </a:xfrm>
          <a:prstGeom prst="rect">
            <a:avLst/>
          </a:prstGeom>
          <a:solidFill>
            <a:srgbClr val="0D0D0D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1965960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326880" y="2011680"/>
            <a:ext cx="1371600" cy="228600"/>
          </a:xfrm>
          <a:prstGeom prst="roundRect">
            <a:avLst>
              <a:gd name="adj" fmla="val 40000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144000" y="2240280"/>
            <a:ext cx="914400" cy="228600"/>
          </a:xfrm>
          <a:prstGeom prst="roundRect">
            <a:avLst>
              <a:gd name="adj" fmla="val 40000"/>
            </a:avLst>
          </a:prstGeom>
          <a:solidFill>
            <a:srgbClr val="F5C542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509760" y="2514600"/>
            <a:ext cx="1371600" cy="274320"/>
          </a:xfrm>
          <a:prstGeom prst="roundRect">
            <a:avLst>
              <a:gd name="adj" fmla="val 40000"/>
            </a:avLst>
          </a:prstGeom>
          <a:solidFill>
            <a:srgbClr val="4DA8DA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12480" y="2651760"/>
            <a:ext cx="2286000" cy="274320"/>
          </a:xfrm>
          <a:prstGeom prst="roundRect">
            <a:avLst>
              <a:gd name="adj" fmla="val 40000"/>
            </a:avLst>
          </a:prstGeom>
          <a:solidFill>
            <a:srgbClr val="4DA8DA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738360" y="3337560"/>
            <a:ext cx="0" cy="274320"/>
          </a:xfrm>
          <a:prstGeom prst="line">
            <a:avLst/>
          </a:prstGeom>
          <a:noFill/>
          <a:ln w="25400">
            <a:solidFill>
              <a:srgbClr val="00D2FF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8229600" y="3319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separation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Skeletonize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229600" y="3703320"/>
            <a:ext cx="3017520" cy="1463040"/>
          </a:xfrm>
          <a:prstGeom prst="rect">
            <a:avLst/>
          </a:prstGeom>
          <a:solidFill>
            <a:srgbClr val="0D0D0D"/>
          </a:solidFill>
          <a:ln w="12700">
            <a:solidFill>
              <a:srgbClr val="00D2FF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412480" y="4160520"/>
            <a:ext cx="256032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0" y="4160520"/>
            <a:ext cx="1097280" cy="7315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86800" y="4892040"/>
            <a:ext cx="1828800" cy="-91440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5440" y="4480560"/>
            <a:ext cx="457200" cy="-182880"/>
          </a:xfrm>
          <a:prstGeom prst="line">
            <a:avLst/>
          </a:prstGeom>
          <a:noFill/>
          <a:ln w="31750">
            <a:solidFill>
              <a:srgbClr val="F5C54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9601200" y="4023360"/>
            <a:ext cx="274320" cy="274320"/>
          </a:xfrm>
          <a:prstGeom prst="ellipse">
            <a:avLst/>
          </a:prstGeom>
          <a:solidFill>
            <a:srgbClr val="000000">
              <a:alpha val="4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02952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321040" y="4937760"/>
            <a:ext cx="27432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22792" y="48737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9144000" y="4937760"/>
            <a:ext cx="27432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45752" y="487375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9829800" y="4937760"/>
            <a:ext cx="27432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31552" y="487375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8229600" y="53492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111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0" y="53949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Results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366760" y="5605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CCCCC"/>
                </a:solidFill>
              </a:rPr>
              <a:t>Junctions: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</a:rPr>
              <a:t>Accurate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A0A0A0"/>
                </a:solidFill>
              </a:rPr>
              <a:t>(cross-layer crossings excluded)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CCCCC"/>
                </a:solidFill>
              </a:rPr>
              <a:t>Length: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</a:rPr>
              <a:t>Recovered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A0A0A0"/>
                </a:solidFill>
              </a:rPr>
              <a:t>(per-layer independent sum)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CCCCC"/>
                </a:solidFill>
              </a:rPr>
              <a:t>Depth info: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</a:rPr>
              <a:t>Preserved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A0A0A0"/>
                </a:solidFill>
              </a:rPr>
              <a:t>(3D morphology from 2D image)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886200" y="3291840"/>
            <a:ext cx="45720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3886200" y="30358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886200" y="4480560"/>
            <a:ext cx="4297680" cy="0"/>
          </a:xfrm>
          <a:prstGeom prst="line">
            <a:avLst/>
          </a:prstGeom>
          <a:noFill/>
          <a:ln w="31750">
            <a:solidFill>
              <a:srgbClr val="00D2FF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3886200" y="422452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Depth-encoded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886200" y="3017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Intensity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886200" y="4206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Z-depth Color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274320" y="6446520"/>
            <a:ext cx="11612880" cy="320040"/>
          </a:xfrm>
          <a:prstGeom prst="roundRect">
            <a:avLst>
              <a:gd name="adj" fmla="val 22857"/>
            </a:avLst>
          </a:prstGeom>
          <a:solidFill>
            <a:srgbClr val="0F3460"/>
          </a:solidFill>
          <a:ln/>
        </p:spPr>
      </p:sp>
      <p:sp>
        <p:nvSpPr>
          <p:cNvPr id="76" name="Text 7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Multi-color depth encoding enables layer-independent skeletonization, eliminating false junctions from overlapping vessels and recovering hidden vessel length — </a:t>
            </a:r>
            <a:pPr indent="0" marL="0">
              <a:buNone/>
            </a:pPr>
            <a:r>
              <a:rPr lang="en-US" sz="1000" b="1" dirty="0">
                <a:solidFill>
                  <a:srgbClr val="F5C542"/>
                </a:solidFill>
              </a:rPr>
              <a:t>extracting 3D morphological information from a single 2D brightfield image.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818120" y="3474720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181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Depth-Aware Vascular Morphometry Schematic</dc:title>
  <dc:subject>PptxGenJS Presentation</dc:subject>
  <dc:creator>Diffusion Virtual Staining</dc:creator>
  <cp:lastModifiedBy>Diffusion Virtual Staining</cp:lastModifiedBy>
  <cp:revision>1</cp:revision>
  <dcterms:created xsi:type="dcterms:W3CDTF">2026-03-22T13:37:31Z</dcterms:created>
  <dcterms:modified xsi:type="dcterms:W3CDTF">2026-03-22T13:37:31Z</dcterms:modified>
</cp:coreProperties>
</file>